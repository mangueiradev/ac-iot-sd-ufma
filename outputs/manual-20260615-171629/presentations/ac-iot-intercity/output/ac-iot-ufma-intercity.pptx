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b10f49ceed49c4" /><Relationship Type="http://schemas.openxmlformats.org/officeDocument/2006/relationships/extended-properties" Target="/docProps/app.xml" Id="R9d39102b45464057" /><Relationship Type="http://schemas.openxmlformats.org/officeDocument/2006/relationships/officeDocument" Target="/ppt/presentation.xml" Id="R83f28ac9d3a9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d996b458344997"/>
  </p:sldMasterIdLst>
  <p:notesMasterIdLst>
    <p:notesMasterId xmlns:r="http://schemas.openxmlformats.org/officeDocument/2006/relationships" r:id="Rc44bea12cc384f7b"/>
  </p:notesMasterIdLst>
  <p:sldIdLst>
    <p:sldId xmlns:r="http://schemas.openxmlformats.org/officeDocument/2006/relationships" id="256" r:id="R6b8d144830a84b74"/>
    <p:sldId xmlns:r="http://schemas.openxmlformats.org/officeDocument/2006/relationships" id="257" r:id="Rd7c8c4f2e6df4a35"/>
    <p:sldId xmlns:r="http://schemas.openxmlformats.org/officeDocument/2006/relationships" id="258" r:id="Rfb999b815b0f478c"/>
    <p:sldId xmlns:r="http://schemas.openxmlformats.org/officeDocument/2006/relationships" id="259" r:id="R9249ca54a3a8430c"/>
    <p:sldId xmlns:r="http://schemas.openxmlformats.org/officeDocument/2006/relationships" id="260" r:id="R2cb777c927de4f76"/>
    <p:sldId xmlns:r="http://schemas.openxmlformats.org/officeDocument/2006/relationships" id="261" r:id="Rb998aec5e2774c4f"/>
    <p:sldId xmlns:r="http://schemas.openxmlformats.org/officeDocument/2006/relationships" id="262" r:id="R61ee38e132ae4e3d"/>
    <p:sldId xmlns:r="http://schemas.openxmlformats.org/officeDocument/2006/relationships" id="263" r:id="R982dbd95e7994063"/>
    <p:sldId xmlns:r="http://schemas.openxmlformats.org/officeDocument/2006/relationships" id="264" r:id="R54184cf3873b44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29cde597044ca2" /><Relationship Type="http://schemas.openxmlformats.org/officeDocument/2006/relationships/slideMaster" Target="/ppt/slideMasters/slideMaster1.xml" Id="R46d996b458344997" /><Relationship Type="http://schemas.openxmlformats.org/officeDocument/2006/relationships/notesMaster" Target="/ppt/notesMasters/notesMaster1.xml" Id="Rc44bea12cc384f7b" /><Relationship Type="http://schemas.openxmlformats.org/officeDocument/2006/relationships/presProps" Target="/ppt/presProps.xml" Id="Rfe8ecaa1a44b4f9f" /><Relationship Type="http://schemas.openxmlformats.org/officeDocument/2006/relationships/viewProps" Target="/ppt/viewProps.xml" Id="Rc23303acc0434f3b" /><Relationship Type="http://schemas.openxmlformats.org/officeDocument/2006/relationships/tableStyles" Target="/ppt/tableStyles.xml" Id="R56f478cfdb7f4ec6" /><Relationship Type="http://schemas.openxmlformats.org/officeDocument/2006/relationships/slide" Target="/ppt/slides/slide1.xml" Id="R6b8d144830a84b74" /><Relationship Type="http://schemas.openxmlformats.org/officeDocument/2006/relationships/slide" Target="/ppt/slides/slide2.xml" Id="Rd7c8c4f2e6df4a35" /><Relationship Type="http://schemas.openxmlformats.org/officeDocument/2006/relationships/slide" Target="/ppt/slides/slide3.xml" Id="Rfb999b815b0f478c" /><Relationship Type="http://schemas.openxmlformats.org/officeDocument/2006/relationships/slide" Target="/ppt/slides/slide4.xml" Id="R9249ca54a3a8430c" /><Relationship Type="http://schemas.openxmlformats.org/officeDocument/2006/relationships/slide" Target="/ppt/slides/slide5.xml" Id="R2cb777c927de4f76" /><Relationship Type="http://schemas.openxmlformats.org/officeDocument/2006/relationships/slide" Target="/ppt/slides/slide6.xml" Id="Rb998aec5e2774c4f" /><Relationship Type="http://schemas.openxmlformats.org/officeDocument/2006/relationships/slide" Target="/ppt/slides/slide7.xml" Id="R61ee38e132ae4e3d" /><Relationship Type="http://schemas.openxmlformats.org/officeDocument/2006/relationships/slide" Target="/ppt/slides/slide8.xml" Id="R982dbd95e7994063" /><Relationship Type="http://schemas.openxmlformats.org/officeDocument/2006/relationships/slide" Target="/ppt/slides/slide9.xml" Id="R54184cf3873b44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b3363882894e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c81d1be8a84f8c" /><Relationship Type="http://schemas.openxmlformats.org/officeDocument/2006/relationships/notesMaster" Target="/ppt/notesMasters/notesMaster1.xml" Id="Rf7b83239bff740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87cae3194143be" /><Relationship Type="http://schemas.openxmlformats.org/officeDocument/2006/relationships/notesMaster" Target="/ppt/notesMasters/notesMaster1.xml" Id="R65416ae506d2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46ab9808f429c" /><Relationship Type="http://schemas.openxmlformats.org/officeDocument/2006/relationships/notesMaster" Target="/ppt/notesMasters/notesMaster1.xml" Id="R99ddbe427cd64b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b33598c7f3427a" /><Relationship Type="http://schemas.openxmlformats.org/officeDocument/2006/relationships/notesMaster" Target="/ppt/notesMasters/notesMaster1.xml" Id="Ra4dc8d206173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735dabe2d54f55" /><Relationship Type="http://schemas.openxmlformats.org/officeDocument/2006/relationships/notesMaster" Target="/ppt/notesMasters/notesMaster1.xml" Id="R9e9e2696791a4c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180a49f6bb4af5" /><Relationship Type="http://schemas.openxmlformats.org/officeDocument/2006/relationships/notesMaster" Target="/ppt/notesMasters/notesMaster1.xml" Id="Rf52e2bcfb213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80124c4e56483c" /><Relationship Type="http://schemas.openxmlformats.org/officeDocument/2006/relationships/notesMaster" Target="/ppt/notesMasters/notesMaster1.xml" Id="R20d796fe90464d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38b0cf9f244360" /><Relationship Type="http://schemas.openxmlformats.org/officeDocument/2006/relationships/notesMaster" Target="/ppt/notesMasters/notesMaster1.xml" Id="Rc3abd73020c442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9b5bfb8db746cb" /><Relationship Type="http://schemas.openxmlformats.org/officeDocument/2006/relationships/notesMaster" Target="/ppt/notesMasters/notesMaster1.xml" Id="R85bfc5d87ef1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475b1c55f42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ff0d0fb8f94d36" /><Relationship Type="http://schemas.openxmlformats.org/officeDocument/2006/relationships/slideLayout" Target="/ppt/slideLayouts/slideLayout1.xml" Id="R77520467b79d43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520467b79d43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0058448264f1e" /><Relationship Type="http://schemas.openxmlformats.org/officeDocument/2006/relationships/notesSlide" Target="/ppt/notesSlides/notesSlide1.xml" Id="Rca0b0ec2232244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ea71b8b584228" /><Relationship Type="http://schemas.openxmlformats.org/officeDocument/2006/relationships/notesSlide" Target="/ppt/notesSlides/notesSlide2.xml" Id="Rd379ae575f1e4a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46f95f0184f52" /><Relationship Type="http://schemas.openxmlformats.org/officeDocument/2006/relationships/notesSlide" Target="/ppt/notesSlides/notesSlide3.xml" Id="R7738a725b4bd4e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a17c7c8234c53" /><Relationship Type="http://schemas.openxmlformats.org/officeDocument/2006/relationships/notesSlide" Target="/ppt/notesSlides/notesSlide4.xml" Id="R318bf75834a048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9f96c81c54176" /><Relationship Type="http://schemas.openxmlformats.org/officeDocument/2006/relationships/notesSlide" Target="/ppt/notesSlides/notesSlide5.xml" Id="Recbc6ad665ef49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6ab06a4ee4391" /><Relationship Type="http://schemas.openxmlformats.org/officeDocument/2006/relationships/notesSlide" Target="/ppt/notesSlides/notesSlide6.xml" Id="Rac895334b5b14f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0a765fa3a4f7f" /><Relationship Type="http://schemas.openxmlformats.org/officeDocument/2006/relationships/notesSlide" Target="/ppt/notesSlides/notesSlide7.xml" Id="Ref6daa07c8a44d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62860adb84e7a" /><Relationship Type="http://schemas.openxmlformats.org/officeDocument/2006/relationships/notesSlide" Target="/ppt/notesSlides/notesSlide8.xml" Id="R28fa6279f2364b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2aa793a4c45c2" /><Relationship Type="http://schemas.openxmlformats.org/officeDocument/2006/relationships/notesSlide" Target="/ppt/notesSlides/notesSlide9.xml" Id="R917eb14bae2547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7C799-D177-4182-B3D4-4EA3821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F5767-0F53-4DE0-BCBB-910823F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158FD-71AB-46E4-80DB-DF7F8D57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03A1E-5197-4C30-9BC3-EE1EB1CC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8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</a:t>
            </a:r>
          </a:p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5C3CD-DBAB-43BD-AD2B-78E8BAC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52500"/>
            <a:ext cx="561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AC-IoT UFMA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91FA6-2499-44BC-AAA6-9CE1A09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62100"/>
            <a:ext cx="619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Operacao distribuida para 1.000 salas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883CB-19D3-4C18-AF73-EB42D933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Monitoramento, automacao e controle de ar-condicionado com MQTT, dashboard web e integracao InterSCity.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70ED2-D2F5-4895-9F7F-7D61C566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435D9-6CF9-4F3C-9528-DB6423A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576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CC4F8-0A06-4B25-9A11-97C8805D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005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 simuladas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B1EAD-780C-4F98-AE95-A4E51066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522C7-7DD3-4398-9290-DDB9373A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99D01-ECE2-4F59-8261-EA49C7BC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005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blocos operacionais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5D189-BEDF-4F50-91DD-54E12D45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14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7E282-14BE-49AA-BACD-94A3CCFC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576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C9407-8076-4871-A08B-F86D092B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005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5827A-B587-42B1-8B16-85A20A84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71475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C770B-C3A5-462E-95D9-5F02065B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57625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20/s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DE190-ACBF-4AB2-A129-2CA7FCDC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005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limite 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21952-7CCD-4C98-BBCD-B72A55C5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99694-5394-4B89-A9C7-AA9E7B07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Sensores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718900-BF85-4ED6-AD17-9B00EC53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5175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telemetria por sala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E78AF-F466-44D9-87A0-4E71FD38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C82597-3312-4DB7-81DA-F92AE73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MQTT + Bridge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1607A-7E4D-4DB9-8647-F4B18B9C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fluxo assíncrono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83EAB-E936-489E-A1AA-92C2DA2A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71FA9-0C61-411F-8E03-9CC9A0D4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InterSCity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D1D94-AF5E-4175-831C-CDAB7E1B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catalog/adaptor/collector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0AD7B-0253-4F88-826A-9FD0054D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6766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18E75E-B768-4214-A960-3511A0E1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433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61E7DF-68D6-4920-8CC4-A0109A0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857750"/>
            <a:ext cx="3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55EC2C-E1F6-42C4-BBCE-E330A331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24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A2694C-E38F-4808-975F-D1E8DACD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581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Deck atualizado em 15/06/2026</a:t>
            </a:r>
          </a:p>
        </p:txBody>
      </p:sp>
    </p:spTree>
    <p:extLst>
      <p:ext uri="{BB962C8B-B14F-4D97-AF65-F5344CB8AC3E}">
        <p14:creationId xmlns:p14="http://schemas.microsoft.com/office/powerpoint/2010/main" val="4713878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D25E42-C6A5-4ED4-B892-8B239902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FE551-CD98-4F29-8553-5706D7E2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3357C-F055-40A1-B9B8-F449F23D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 |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845C6-277E-4500-9B73-DA5866BC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 sistema transforma telemetria de salas em operacao acionavel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56ACE-C965-4E41-A452-329CA5CC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visao executiva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03DA8-80DE-4E44-9ED8-DD76AD65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E8FD3-D2CD-4770-B204-97027C3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30EB1-A873-4FB1-9997-1D1CA3E3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260A5-73FB-4D46-A3E2-4492D3EA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Problema operacional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00B76-77FC-4DB4-B3D3-DC7AFFC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91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Ar-condicionado e iluminacao precisam responder a presenca, conforto termico e setpoints sem depender de acao manual sala a sala.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B448C-7186-4375-A7B5-2FF6ED35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620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97565-E084-4384-8362-6DAD61F8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62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D3E11-9577-4DC7-A2EC-C866AF26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335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Resposta do AC-IoT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BB8B1-1BEF-4567-A183-6FAEC7E3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1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Um cockpit monitora 1.000 salas, agrupa blocos, mostra alertas e envia comandos por MQTT para salas, blocos ou filtros.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48BF2-5E14-4D9A-B4AD-6DAB7593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620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DA3D5-9CE8-407F-9F72-CBE42DE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620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D596F-0C43-42CB-9F02-BCBBA94D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335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Valor da integracao 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AB619-69F4-4541-A5CB-2EF7A976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57350"/>
            <a:ext cx="2914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 bridge publica dados no InterSCity para interoperabilidade urbana e consulta externa do historico de telemetria.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3EB0C-662B-48C8-A442-C30878B3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Principios do desenho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07C8C5-4372-4EAC-B270-34880313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75D48-7A35-440B-BC7F-61FF0B46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Tempo real local via MQTT e WebSocket.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D2B77-03B6-4F6B-BA15-EF14806E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66AE3-8720-40E1-9AE6-640EA921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Automacao por presenca, temperatura, setpoint e sala vazia.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9A41B-1160-4FF1-92D2-2634D23A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B5233-42A6-4722-94E8-A42ABC9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Comandos em massa com escopo controlado.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02148B-EFE9-411F-893C-BDF824F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2650F-C174-4817-BBE6-F0356B25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510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Transparencia do estado InterSCity: OK, instavel ou sem resposta.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8134F6-432A-4999-AB97-8AD6367F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95700"/>
            <a:ext cx="4095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BBC26-2D94-47FF-AB89-12AA6EF3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00500"/>
            <a:ext cx="3524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Tese do sistema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66FB9D-FF27-4DD3-ACC6-84259F87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76750"/>
            <a:ext cx="3295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 AC-IoT UFMA ja opera como plataforma distribuida local; a integracao externa depende da disponibilidade atual do InterSCity.</a:t>
            </a:r>
          </a:p>
        </p:txBody>
      </p:sp>
    </p:spTree>
    <p:extLst>
      <p:ext uri="{BB962C8B-B14F-4D97-AF65-F5344CB8AC3E}">
        <p14:creationId xmlns:p14="http://schemas.microsoft.com/office/powerpoint/2010/main" val="11695964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D188C-E6EF-4FCA-AAAC-56A514B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4C14-CAC7-4A56-96B9-4EC267D8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E4904-2C25-484D-B7CF-0FB6E14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 | 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F4BB8-0B6A-464C-AA0A-B8179742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Fluxo distribuido: sensores, broker, cockpit, bridge e InterSCity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D4B56-DC45-459E-8DE0-4867871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1.000 salas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3969C-DA6C-492E-9023-5E9C081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0A23A-1C8F-4E99-AB05-D649517C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7621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67A3F-6856-4A8F-8D17-2878D3D7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Simulador C++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6CC1D-3C2C-4A34-A4D7-704A5B4B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495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1.000 salas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publicacao a cada 30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0D8C3-A142-4837-850E-35E4237B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28750"/>
            <a:ext cx="17621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524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C804B-43D9-428A-BAA1-3EB82DE7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5621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1E8F5-EABF-4D43-B8C0-630F1552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1838325"/>
            <a:ext cx="1495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broker MQTT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TCP 1883 / WS 9001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2A7FE-0ABA-4833-B17E-0B51EC01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7621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5240">
            <a:solidFill>
              <a:srgbClr val="1580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5E5FB-FFD7-44C3-B9F7-619D2A20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0395E-2986-4B8C-8F67-00297130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38325"/>
            <a:ext cx="14954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Nginx + WebSocket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operacao ao vivo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0DD5B-135B-49FA-BB54-7D7A9368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9950"/>
            <a:ext cx="1762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31BC0-391E-49E3-865D-5B632AA2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433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C++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0BC80-2486-4499-99B4-75C3D5E3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19525"/>
            <a:ext cx="1495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8 workers HTTP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fila 20.000 itens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777DC-A1AE-434B-A1B1-79131E62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9950"/>
            <a:ext cx="1762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C669F-6CDF-43B5-847E-0025D073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1495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InterSCity UFMA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EF7AC-903F-4F1F-9208-C41A0CC1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9525"/>
            <a:ext cx="1495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catalog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adaptor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collector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D4E0-96ED-4232-B924-B86DFFAA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CB79D-EB82-454B-901A-8CD7AA3B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2410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Operador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AB17F-EC7C-4DD0-B6E5-DB3186AB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00325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consulta sala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aplica comandos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analisa metricas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7FEE9-186C-4094-980E-6723F089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954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BCBD98-616E-451A-8F95-CB7248D2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90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A9627-63AD-49A2-BAC7-BE79D31E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954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3130B5-F261-467F-9E85-AE605ED0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27443-C5BD-4F9F-AF60-44F5E334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38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891246-4E08-459E-A0E5-71AB6696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766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196D74-11D8-418C-B3A5-BE67EC0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D997FC-B998-4EA2-AE0D-C43791FD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8004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76134E-535E-4CC7-BCEC-C9609114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9557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62D3A-054A-449D-936E-E25010A6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590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E64A3F-A22F-4F12-909F-8EB599A3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765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0CDB70-BBE0-49B3-B997-1A596DC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7717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279BA5-593C-406E-8E71-6DE42EF0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E8286-8C2F-4A28-8D4A-C452CFB0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ac-iot/+/sensores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1A6F73-1718-4840-9A3A-B50CCD72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6E1B1B-77C1-4057-BB5C-AF6660EB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9557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MQTT WebSocket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50D301-7B60-4D6F-AE32-91F5631A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67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63AA11-616D-451E-A3DC-1884ED5D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33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$share bridge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B1892B-82FB-4A82-AADB-68448E35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667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1CB041-3ADA-4B73-A5B0-20CACF32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33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HTTPS REST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DD423E-EF3C-469C-8D25-152FBD4B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 separacao em processos independentes permite evoluir simulacao, broker, bridge, painel e automacao sem acoplamento direto.</a:t>
            </a:r>
          </a:p>
        </p:txBody>
      </p:sp>
    </p:spTree>
    <p:extLst>
      <p:ext uri="{BB962C8B-B14F-4D97-AF65-F5344CB8AC3E}">
        <p14:creationId xmlns:p14="http://schemas.microsoft.com/office/powerpoint/2010/main" val="964717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F93C61-F69B-4434-8312-0E248E1E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4BD8B-3217-4C80-8D03-A2C1E972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809BA-3379-400C-BCD6-73E6FF0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 | Comunicacao InterSCity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8FBD6-C0FB-4941-8DE9-E8B9CD34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 bridge traduz MQTT em chamadas REST para catalog, adaptor e collector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A05D5-B04C-4AF6-87B7-2E63E661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ponto de integracao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371EA-B77B-41C0-81FA-2E620D61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B5B2C-A938-46D1-B652-E9779A26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0ACA5B-0742-44F7-B054-F42AD12C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MQTT sensores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1D398D-0407-4329-BA71-B6BDF691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1543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payload por sala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ac-iot/+/sensores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489EB-DE2A-407A-9960-4263D804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5240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62659-C40E-44F0-9F08-6CCFAB4D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C++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F8DBB-CBC0-4B2C-BF94-2F11FE84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33575"/>
            <a:ext cx="1733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normaliza dados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UUID deterministico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1F383-7FC3-4FA4-A20F-665B158F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430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0C5B8-885A-4484-AB1D-37749D0E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763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DC061-FBE3-47B2-947D-0C3DE616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525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capabilities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230C7-DBA4-4FC8-AE3A-8C94B81D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955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7B4A8C-1DB0-4489-ADA4-EFFE1167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Adaptor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78C95-05B5-46A0-836D-F38AC4F6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0512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POST data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telemetria atual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B51212-6C70-440E-AFA6-501A54A3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9C24B7-1AF0-426F-A495-359A1AD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Collector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FE3A8-555A-46CE-AE0E-022FF861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576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GET data/last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consulta do operador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C50AB9-C72F-4B70-90F2-E4E61C5B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EDF32-3DBB-4DB2-AAF7-BC92EB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573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2C056-BBD7-4242-B09F-B8FF568C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697C0-A005-4041-9250-5EFF6C9E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52575"/>
            <a:ext cx="38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C66DB-33FD-464F-8889-421E57AF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335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C4F90C-35FE-4B2B-A43A-5A838F13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9E6622-E7F2-431B-B7CF-7FDBA8B6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860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EF11CB-4F1E-4198-9230-01CD78A6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BE38E7-1F80-47C6-85CB-8B248A16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3862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1CCE7A-BD88-474B-9D8A-B2BB5FF5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33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E09305-4F2B-4DF6-8A73-174D2C8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33500"/>
            <a:ext cx="260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1AC55-A982-4B2C-A336-46B108EF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3335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D87537-BE83-4D77-939F-381D0E5D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049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Controle de carga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5D9B3A-379F-487A-B121-9DCB3C91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2880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8 workers HTTP</a:t>
            </a:r>
          </a:p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rate limit 20 req/s</a:t>
            </a:r>
          </a:p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retry em falhas 5xx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AAD93E-C76C-4557-9FBF-5ADEC27F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60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EB698D-86DF-4FEF-99F7-5D5D375D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706B95-F9C6-4061-B771-CB62E65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670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Observabilidade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2ABDAF-1385-4B82-815B-D7DF006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metricas no topico</a:t>
            </a:r>
          </a:p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ac-iot/system/bridge_metrics</a:t>
            </a:r>
          </a:p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consumidas pelo dashboard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12CB39-1EF4-41D6-8C80-354D137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ADB3F9-3BC7-4233-BFC2-0AE171B0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A94C4F-4DD1-49C8-8BFB-14AFED8D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291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Estado visual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DC6FC-DC46-4B56-AE8D-3EC15C68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53000"/>
            <a:ext cx="226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verde = sucesso atual</a:t>
            </a:r>
          </a:p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amarelo = instavel</a:t>
            </a:r>
          </a:p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cinza = sem metrica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098084-BAD6-44F7-9E75-0700183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 integracao nao bloqueia o MQTT: quando o InterSCity oscila, o sistema local continua operando e a bridge tenta retomar.</a:t>
            </a:r>
          </a:p>
        </p:txBody>
      </p:sp>
    </p:spTree>
    <p:extLst>
      <p:ext uri="{BB962C8B-B14F-4D97-AF65-F5344CB8AC3E}">
        <p14:creationId xmlns:p14="http://schemas.microsoft.com/office/powerpoint/2010/main" val="5375891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666D2-5165-4803-8CA8-CC4A1551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65A65-56D1-4194-99C8-39BB2542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52E6C-C756-4C9D-B00E-310A1C36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 | Painel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110B-FC36-4EC7-A349-13432EE4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Cockpit para operar salas, blocos e comandos em massa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8DB0A-0D1D-44C2-B3D2-BAA0297C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web em tempo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8146-6864-469F-8ECA-8BD9B012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CF6F3-168F-41B9-BB4E-9A836B1F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3C93A-0231-4458-922C-992F3FB7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049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1A91E-12EF-4FE8-A56B-447225FD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 online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E9360-64D2-4F2F-8763-FF3FF88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1620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695C7-7059-4B9F-BBF4-E55D1641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049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BCD287-1C28-4698-AD89-5A925C7D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478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blocos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58008-3D01-4E13-88C0-5D69895E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1620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E8E1A-2844-471A-8207-B0A50ECE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049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921BC-70A4-4D21-839E-B75F342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478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salas/bloco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68155-1F3C-4F94-BF07-CAD7A04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16205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83C0A-919B-4137-B48A-E538B0F0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304925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3-5%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AE4B8-D3C5-4CCD-8384-258FBE7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47825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temp critica alvo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749A9-A276-4CB2-B6DC-B5CCB684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61341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24364-C702-4242-9B9A-CA6C8A37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Blocos Operacionais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46909-8E4C-47C0-9A32-103B75ED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FCE5D4-A8ED-4BDF-AE46-98EC719C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674D72-C3A1-4677-AE69-6BECD62B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7E284-DCB2-4D22-9619-9AF691B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385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27C8CF-12F5-41D5-93E7-B0778776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14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1ED83-84CB-4A81-968B-C04788F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861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153F7B-AA02-4BB0-93DA-CA3DE462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385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9CD398-B0C2-4142-91EF-D58470E6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14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8A8C4D-312E-4D5D-895E-7B1A693E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861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 crit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812C8-1615-4D07-B2B1-38E07719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385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F63A8F-1277-407A-BC15-F0FE5C9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147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A3191A-8279-4DD2-8324-63C3C21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861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D399C-C925-4E41-AE0C-99A1F33A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10360-58A3-4580-B78E-F4F03C96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9F8D9-D758-444E-90E3-958A126D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7AE40B-E1D2-4331-B2BC-F49C765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29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B8D05A-88A1-47AC-B7BB-1BE59137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2AFEAA-C03E-419B-A0AC-C67B7FB7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618DA8-9A7D-4B52-9B4D-DBA36A38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29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F80505-FDBF-4CDE-A5D4-A7F58B40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D8F9B-2BD6-4102-8485-C92DF724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7670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ACF19C-3989-45C4-B4B5-8CFA1DE6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29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4288">
            <a:solidFill>
              <a:srgbClr val="DC262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48FCEB-B2E4-4D08-B6F8-9365C767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63E417-767A-4DAF-AE16-971A8EB1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7670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 crit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BA3881-6522-4B2C-BC96-F076ED9A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9ECE86-2843-4927-B0C6-148CF3EC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8A6BA5-EF53-4EFE-96DF-4D2F39B4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C648F-B6E2-4D39-9438-28692E0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196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8AEAED-E625-417E-A3C2-FC19112B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4958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F6C8FA-8333-429A-95A2-F8A0ED0A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EFD59A-0B6C-4D5F-8B4E-52198C38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196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B95F7E-1E94-49BE-B8BE-1A98A6DF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4958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B11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D7DFF0-7952-44CE-A6BF-08C070C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672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6BC906-4354-40BF-BDD8-72122224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196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57746C-7446-47A7-94EA-E55949EB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958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B12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73A0B9-DFFA-4FE0-BF27-8F6DBEA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667250"/>
            <a:ext cx="1009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654A94-1986-4E87-A31D-667F8FC1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84036E-48DD-4145-A1C6-9C302360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001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8AC8E7-5C4B-4EFC-9789-81FA8E0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716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Telemetria ao vivo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E02498-7D2D-418D-8304-2542F4C3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95450"/>
            <a:ext cx="3371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Busca por sala/bloco, filtros por estado, heartbeat, presenca, AC, luz e temperatura critica.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BD64E2-EF7D-482E-9925-62A1B461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2153D5-ACDB-4435-B7D7-DA272C6E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29A71C-07C6-4163-9A1B-E4FB825F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Comando em massa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40188C-AB10-48CB-930F-2F27F0A1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371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Escopos: todas as salas, bloco selecionado, filtro atual, temperatura critica ou sala selecionada.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DB8666-AFF4-4F9A-AD93-F4F48631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714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C1B2F7C-5B35-4378-9804-52BECD3F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895E08-C958-4AC1-9AD2-3F23A882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67200"/>
            <a:ext cx="337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Sala selecionada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240EAB5-FC40-409C-9C15-248AD48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91050"/>
            <a:ext cx="3371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Detalhe operacional e consulta da ultima leitura no InterSCity sem confundir com o status global.</a:t>
            </a:r>
          </a:p>
        </p:txBody>
      </p:sp>
    </p:spTree>
    <p:extLst>
      <p:ext uri="{BB962C8B-B14F-4D97-AF65-F5344CB8AC3E}">
        <p14:creationId xmlns:p14="http://schemas.microsoft.com/office/powerpoint/2010/main" val="14304137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64872-F358-44EF-BABC-55A2747C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EE484-CB72-4901-B749-CEF34B30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1A753F-9CF1-40D1-AA5B-4B2023A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 | Metricas do sistema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C7234-A463-49FE-84ED-ABCD2FCF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Indicadores amarram operacao local e estado do InterSCity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74B3-8003-4482-8B4D-7AC9B94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amostra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38686-2053-4FDD-8A8C-44949DBC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73A9E-B4C1-41BE-9B11-137E3532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CCA5B-7A94-40FC-94D3-3692B56C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668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728D93-6B30-4095-B296-84F7EC53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97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 simuladas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6C7B9-09A2-4FF0-A750-52AC1DBE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publicacao MQTT ativa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B5E81-74DD-4FD5-AF87-D7DA50D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1239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99839-2D0C-4CA7-8676-3F61D69D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2668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61.330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E1F97-7E81-40DD-86BC-CE1B89DE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6097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envios IC historicos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9308D-CE1C-438C-A3A4-4A9A2D2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478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sent acumulado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94D64-ED43-4B27-AEE4-290A1007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1239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6ECAC-3A95-4728-890E-DAAE432F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2668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2.966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3DDD3-30A6-411C-BEC2-4ECBE2D6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97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falhas 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35CDF-1AD1-4945-A30F-4D4B7DA0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478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failed acumulado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04332-F3EB-4952-BCCC-A48072C7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1239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8E214-2938-4546-9FD4-7634F74A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2668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79EC7-8CB5-4A4E-9926-F53AAFC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97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fila bridge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D0B4C-5384-4092-9F40-A942A0C0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478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queue_size atual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5A6B6B-3BCE-454A-9E98-CB0C1F8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123950"/>
            <a:ext cx="1695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44D04-097B-4B52-93B1-CAB152D5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66825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3DEE40-B594-4587-8624-D3A8733F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097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A1EFA5-82A7-4E67-974E-3AB698B1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47850"/>
            <a:ext cx="1390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paralelismo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1DFEC-1963-4F91-9441-83C1634F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123950"/>
            <a:ext cx="1409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7C0FF-E40A-42C3-82EE-2F2B54AE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266825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20/s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6FEA17-ED70-4A5D-9524-B094ECB1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09725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rate limit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6D4125-1689-46FE-B591-D57EC6E9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47850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MAX_RPS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B5F68-175A-4F9E-95EB-A701AF66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953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180E78-D2A8-42FD-B8B8-BB603A1C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Saude atual da integracao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B064D-2998-4C05-87DF-93071667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5E8F22-0E3A-471D-AABF-3874F2A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MQTT local OK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003FE1-612C-4FD4-9C3C-D88CEF49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04782E-9618-4810-A602-9B239A58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90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IC instavel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AA275F-9496-41AF-BFE6-32E3C56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24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99E8B4-8CFD-482D-9DFE-4B843AB9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90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last_ok=false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B5FB6D-63C3-4913-AC10-F28CB052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Leitura correta: o sistema distribuido local segue em tempo real; o InterSCity tem historico de sucesso, mas a API remota nao respondeu na verificacao atual.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C20FF6-699F-41EF-A6E1-4505F80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36E872-E17D-4C2E-9E91-CD7AFF72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Fila e capacidade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37B74F-3BD1-4AF7-8B1F-9BBBCA68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9100B1-7317-4F1F-9301-DCC0F254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38550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41D9CB-818F-4E0C-A8A7-A012B4C8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09975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548B4D-072D-480A-815F-7968E3B5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57650"/>
            <a:ext cx="352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queue_size=1.000 de queue_max=20.000. Ha margem de fila, mas a taxa atual ao IC e 0/s enquanto a API remota nao responde.</a:t>
            </a:r>
          </a:p>
        </p:txBody>
      </p:sp>
    </p:spTree>
    <p:extLst>
      <p:ext uri="{BB962C8B-B14F-4D97-AF65-F5344CB8AC3E}">
        <p14:creationId xmlns:p14="http://schemas.microsoft.com/office/powerpoint/2010/main" val="6818421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6EADDD-E41D-4E4C-83F8-6E16D50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59B055-10A0-4C5A-91DB-7E2FBF3B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1C3F9-402F-4449-8194-1C9D80F9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 | Logica operacional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F5C2A-AD38-4C92-A6E3-1B10421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Automacao por presenca e conforto termico reduz acao manual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40708-47F1-4DCC-B774-5013F9C0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 a sala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E6930-048A-47F7-948F-7635184D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3DADB-C8D7-4119-A61D-7825E51D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1BCF3-47FA-41E3-AA54-1919D658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F033C-79CA-44B6-8C4F-551EEEE9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28825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presenca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temperatura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umidade/lux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659A0-E29F-4B1E-BC86-93139C62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43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5240">
            <a:solidFill>
              <a:srgbClr val="1580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CD1F6-302B-45AC-864F-7F06B5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2763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Sala ocupada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D3134-C60B-44D3-84AF-779CDB44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52575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liga luz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apos segundos avalia AC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2C8A60-FC0C-4F3B-84B3-F51EE5CC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5240">
            <a:solidFill>
              <a:srgbClr val="DC262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C7733-8C2B-489D-89FF-19E47C30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527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Sala vazia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F966E-88A0-45EB-B5EA-42921384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28975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apos segundos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apaga luz e 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4C300-3AA1-47BA-941E-0D4652CA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8528A-BCC2-4EC4-BDB9-D9B32B8B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2763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Temperatura critica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7E5E1-E88D-4DFB-8CEB-1DA1F0A4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5257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&gt;= 30% acima do setpoint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com presenca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C0E24-1F3A-4D8D-9BFA-1969133E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194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500B1-F9A8-4FC2-A6BD-4D06187A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1924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Comando operador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52DEAF-DDF1-4882-B4E0-84F872AD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corrige setpoint</a:t>
            </a:r>
          </a:p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para escopo escolhido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FB622C-8581-4D25-B411-6E341207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193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F59D1-AC6D-4341-B3F4-F5C4A727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145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14A123-C48D-48EE-AA89-6DA12570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38350"/>
            <a:ext cx="381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C31ED-4BEB-42E9-8547-56A5D889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765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507B4-5A33-4EBB-808D-DAD9E359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144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197F70-70C6-45F7-8C5A-B643D2E9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09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D63F88-B470-4711-AEE4-D2428F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D441C-3B7C-4EF5-B991-C07742A6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4DAD5-6871-45CD-91B1-A9822DED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202DF-CE1B-4F54-BA6D-CBB96A0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2192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D670E-7368-415D-AD52-AE394606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906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Criterio critico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60604F-A59C-4661-BF21-7D434E3F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Somente conta quando ha pessoas presentes e o AC esta desligado ou com setpoint alto.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39EC8B-92D5-423E-937D-616C872A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CA7666-B78D-4862-8ABE-C2F2D96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666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D82393-7912-4E94-9551-35DC251B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Atualizacao dinamica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BDB30A-0830-4A52-92C7-24854AB9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 lista de salas criticas muda conforme novas medicoes dos sensores chegam pelo MQTT.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5DC5C5-FDBD-4AD1-9189-5CAC9C63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O objetivo e operar automaticamente o normal e deixar para o operador apenas as excecoes relevantes.</a:t>
            </a:r>
          </a:p>
        </p:txBody>
      </p:sp>
    </p:spTree>
    <p:extLst>
      <p:ext uri="{BB962C8B-B14F-4D97-AF65-F5344CB8AC3E}">
        <p14:creationId xmlns:p14="http://schemas.microsoft.com/office/powerpoint/2010/main" val="5456342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EA787-451A-460E-9C76-08C9D1F8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D9FC1-32F2-4004-A30F-FF270D1F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19C1F-91AE-4D13-B51B-FBF37C9A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 | Sistemas distribuidos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D9F36-3DD5-4100-BC81-62D8767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 solucao ja separa responsabilidades e permite escalar por componentes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639C3-F370-4B92-95F8-F25EA283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Docker e Kubernetes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1D655-4FB0-4BEA-996E-511E3ECC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E7573-21E7-43C5-80AC-0C58F0E9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7B57C7-8350-4D75-9416-859A5E4F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054C5-408E-4277-8228-32FA61B7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Servicos independentes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5E278-B8BF-4563-B6AD-13CA64F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simulator, mosquitto, bridge, web e Node-RED sobem separadamente e se comunicam por rede.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9A05A-0A4B-4EC1-91D8-577AADE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31521-7F63-4289-A7D7-F56A3534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1049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86610-16FB-4C9F-82BA-6AAAF7D4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76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Acoplamento por mensageria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221B4-DA16-4202-B8D2-63D334A1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0020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MQTT desacopla produtores, consumidores, dashboard e bridge InterSCity.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AD769-1E3F-4DD9-9C68-10AA62B5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049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2B98B-E34F-477C-8721-634CE25E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049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B08D8-7091-4171-9422-5EA6767A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763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Escala controlada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153F3-E8DD-45F0-8091-2D36097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Bridge usa fila, workers e rate limit; Kubernetes inclui HPA para o bridge.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6AE25-B9E0-4FDB-89B5-1FB47306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9305D-8065-4C1C-B92A-16647704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Pod simulador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950C62-88B7-446B-BCB2-A2F9599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861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shard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640CEE-A4DA-4A94-9333-659ABDCF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1524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FD170-BF30-4762-B1EE-7604FE25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Pod simulador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184A6-A0E6-4C09-9E53-9F90D73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339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shard 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4D17C-43AA-4202-A263-7F9925EF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909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15240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7A784-51B2-46B7-B687-337E3377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24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EMQX/MQTT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401C86-B3B4-40B9-BC6E-D59779BF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005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6822F-961C-4E3A-B395-C29BE2DC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064025-31F4-4AB0-9238-01332E1B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replica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0C89F-EE3D-40D2-80A8-E8400E3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8617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7A96D-0829-48FF-A180-F4AD49F1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15240">
            <a:solidFill>
              <a:srgbClr val="7C3AE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6E95E-E75D-4DA5-A403-D26A43B9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replica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CEA542-168B-4052-B612-C7BD3EB3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339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ADB8F-FFBF-434F-9A7B-0A6F372C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5240">
            <a:solidFill>
              <a:srgbClr val="D9770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A39BAC-72C0-48AD-96A1-0FFA538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24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InterSCity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1BB37D-5222-4E91-AD35-635656F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00525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API remota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1F14E1-AB02-4352-8023-1FD7656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004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560DB1-3E83-4C23-A6B8-90F1746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802B45-2B3C-45AF-8C71-23FEE9B3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840162-374D-49E1-871D-F6CB748A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43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CD1A5A-EB00-435E-8E15-439E37B9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F8CB16-8DAB-45D2-9F7E-985E0CF0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0649CF-0537-463E-AF32-D7F147FB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1148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3568E4-3EB1-40D2-8DC3-08DCE989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41DE01-B4C9-4E5B-9851-6DCA0718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004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74FDC9-1274-499D-89A6-0B69F113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956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2E2E3A-D449-4D4C-ADA3-84E0A08E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482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F773B2-C920-41E5-B27E-60277642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432623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C970C-A088-4945-B249-5BA3F020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DDBE6A-A038-4CF2-844C-9CD12A7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20E49-63B4-44E6-89B4-D95ACF4C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 | Status e proximos passos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4D9C3-5A09-48D9-84DB-D88E054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 sistema local esta operacional; a disponibilidade remota do InterSCity deve ser monitorada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8305A-7925-443C-BFAC-56575AE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846CC-8768-438A-8BB2-06B8794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90B5C-4BFE-4FB6-8758-F11155A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4C3A8-D39E-43A0-810B-A0DB7C08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LOCAL 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9C602-29B0-4D5C-948C-F8FE39E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238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2BA89-880F-41EE-AD8F-EEDB6E20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04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MQTT AO VIVO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415FB-67AE-4F15-924F-9DB26458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38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DD940-48D3-4ECB-B55D-703CEAD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04925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IC INSTAVEL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3EEC8-506B-45C2-81E6-C9C0AE0F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88D6D-3926-4D44-B2BA-B28513A2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E49C1-30C1-4C44-93F2-3B064BE6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Concluido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CA8B2-66B2-40F5-ADCE-045B758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Painel para 1.000 salas, filtros, blocos, temperatura critica, dashboard de metricas e link externo para o InterSCity.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28A5C-D1B5-46FC-87A9-427DF275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EA221A-6364-46D6-909B-417442D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D06F9-9BB8-447E-868E-79EE1C5F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002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Evidencia atual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84E6C-3CF7-4E6A-AC8E-B266D6CC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2410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Containers ativos, sensores MQTT chegando, bridge publicando metricas e historico de 61.330 envios ao InterSCity.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8A6D3-969D-4E69-8CF5-A3FC0E64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64915-CB82-4091-99BF-BE4B6D49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01522-911D-461D-BD59-30D18F9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Risco operacional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1FDC6-1746-48AC-96F5-DB99B016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No momento da verificacao, a API remota InterSCity retornou timeout/last_ok=false. O sistema local segue operando.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CE248C-676A-4AAC-A269-892B1332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Proximos passos sugeridos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534A21-5E3D-427E-934C-22EE69F8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D4BE9-E4DE-40DB-87BB-18BE0039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701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Registrar janela de evidencias quando o InterSCity remoto voltar a responder.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0AC19-CE84-4E7B-853D-9C294592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D148C-B92F-4982-BE4F-F66B2882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701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Adicionar alarme visual para fila alta ou sent_per_sec zerado por periodo prolongado.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8507F4-C944-49D5-A93B-7504DFE3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80BCAD-C584-40F5-AF68-469D237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701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Executar teste de carga com multiplas replicas do simulador e bridge.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82D3CD-4197-49D8-8039-0AC599DD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36B916-D7C8-4EBD-B138-71CD175F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7010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Anexar prints do dashboard e logs ao relatorio final.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3E9AE6-CA2A-4291-8705-4B99E381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0050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4C9EE6-E913-4A49-A4AA-925058D2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Mensagem-chave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06980-0121-4655-8099-C571E376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Sistema distribuido local pronto; integracao externa observavel e resiliente.</a:t>
            </a:r>
          </a:p>
        </p:txBody>
      </p:sp>
    </p:spTree>
    <p:extLst>
      <p:ext uri="{BB962C8B-B14F-4D97-AF65-F5344CB8AC3E}">
        <p14:creationId xmlns:p14="http://schemas.microsoft.com/office/powerpoint/2010/main" val="349451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2026-06-15T20:23:00.5890000Z</dcterms:created>
  <dcterms:modified xsi:type="dcterms:W3CDTF">2026-06-15T20:23:00.5890000Z</dcterms:modified>
</coreProperties>
</file>