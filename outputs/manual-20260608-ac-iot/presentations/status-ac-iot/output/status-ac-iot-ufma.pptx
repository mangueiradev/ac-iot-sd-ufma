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151cc2b7b4dfa" /><Relationship Type="http://schemas.openxmlformats.org/officeDocument/2006/relationships/extended-properties" Target="/docProps/app.xml" Id="R90f951189a374849" /><Relationship Type="http://schemas.openxmlformats.org/officeDocument/2006/relationships/officeDocument" Target="/ppt/presentation.xml" Id="R1c30a85fa19045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f0662747b4c81"/>
  </p:sldMasterIdLst>
  <p:notesMasterIdLst>
    <p:notesMasterId xmlns:r="http://schemas.openxmlformats.org/officeDocument/2006/relationships" r:id="R42fce8c7fdf14cd6"/>
  </p:notesMasterIdLst>
  <p:sldIdLst>
    <p:sldId xmlns:r="http://schemas.openxmlformats.org/officeDocument/2006/relationships" id="256" r:id="R6da470d6f2d94362"/>
    <p:sldId xmlns:r="http://schemas.openxmlformats.org/officeDocument/2006/relationships" id="257" r:id="R6a1ab503fc0b48b4"/>
    <p:sldId xmlns:r="http://schemas.openxmlformats.org/officeDocument/2006/relationships" id="258" r:id="R1d6256d14f08475b"/>
    <p:sldId xmlns:r="http://schemas.openxmlformats.org/officeDocument/2006/relationships" id="259" r:id="Ree338f1f62ec40c2"/>
    <p:sldId xmlns:r="http://schemas.openxmlformats.org/officeDocument/2006/relationships" id="260" r:id="R2f6c08a455ab4f59"/>
    <p:sldId xmlns:r="http://schemas.openxmlformats.org/officeDocument/2006/relationships" id="261" r:id="Reac0beac3b974753"/>
    <p:sldId xmlns:r="http://schemas.openxmlformats.org/officeDocument/2006/relationships" id="262" r:id="R879fe7617da6406a"/>
    <p:sldId xmlns:r="http://schemas.openxmlformats.org/officeDocument/2006/relationships" id="263" r:id="R3b69adb2047b4435"/>
    <p:sldId xmlns:r="http://schemas.openxmlformats.org/officeDocument/2006/relationships" id="264" r:id="R9c228ea7903a4368"/>
    <p:sldId xmlns:r="http://schemas.openxmlformats.org/officeDocument/2006/relationships" id="265" r:id="R6fc6df34a3dd4f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984f95e0da47fe" /><Relationship Type="http://schemas.openxmlformats.org/officeDocument/2006/relationships/slideMaster" Target="/ppt/slideMasters/slideMaster1.xml" Id="R9f9f0662747b4c81" /><Relationship Type="http://schemas.openxmlformats.org/officeDocument/2006/relationships/notesMaster" Target="/ppt/notesMasters/notesMaster1.xml" Id="R42fce8c7fdf14cd6" /><Relationship Type="http://schemas.openxmlformats.org/officeDocument/2006/relationships/presProps" Target="/ppt/presProps.xml" Id="Rac11e78e8ae84f54" /><Relationship Type="http://schemas.openxmlformats.org/officeDocument/2006/relationships/viewProps" Target="/ppt/viewProps.xml" Id="Rf934194b28d346bd" /><Relationship Type="http://schemas.openxmlformats.org/officeDocument/2006/relationships/tableStyles" Target="/ppt/tableStyles.xml" Id="R132e02a40fd3454c" /><Relationship Type="http://schemas.openxmlformats.org/officeDocument/2006/relationships/slide" Target="/ppt/slides/slide1.xml" Id="R6da470d6f2d94362" /><Relationship Type="http://schemas.openxmlformats.org/officeDocument/2006/relationships/slide" Target="/ppt/slides/slide2.xml" Id="R6a1ab503fc0b48b4" /><Relationship Type="http://schemas.openxmlformats.org/officeDocument/2006/relationships/slide" Target="/ppt/slides/slide3.xml" Id="R1d6256d14f08475b" /><Relationship Type="http://schemas.openxmlformats.org/officeDocument/2006/relationships/slide" Target="/ppt/slides/slide4.xml" Id="Ree338f1f62ec40c2" /><Relationship Type="http://schemas.openxmlformats.org/officeDocument/2006/relationships/slide" Target="/ppt/slides/slide5.xml" Id="R2f6c08a455ab4f59" /><Relationship Type="http://schemas.openxmlformats.org/officeDocument/2006/relationships/slide" Target="/ppt/slides/slide6.xml" Id="Reac0beac3b974753" /><Relationship Type="http://schemas.openxmlformats.org/officeDocument/2006/relationships/slide" Target="/ppt/slides/slide7.xml" Id="R879fe7617da6406a" /><Relationship Type="http://schemas.openxmlformats.org/officeDocument/2006/relationships/slide" Target="/ppt/slides/slide8.xml" Id="R3b69adb2047b4435" /><Relationship Type="http://schemas.openxmlformats.org/officeDocument/2006/relationships/slide" Target="/ppt/slides/slide9.xml" Id="R9c228ea7903a4368" /><Relationship Type="http://schemas.openxmlformats.org/officeDocument/2006/relationships/slide" Target="/ppt/slides/slide10.xml" Id="R6fc6df34a3dd4f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5b25c99d4d44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e81faf0b74cf6" /><Relationship Type="http://schemas.openxmlformats.org/officeDocument/2006/relationships/notesMaster" Target="/ppt/notesMasters/notesMaster1.xml" Id="Rbbade2a39e5546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be3145ecb2434c" /><Relationship Type="http://schemas.openxmlformats.org/officeDocument/2006/relationships/notesMaster" Target="/ppt/notesMasters/notesMaster1.xml" Id="R6daad4d53d7841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0563bb7f744c70" /><Relationship Type="http://schemas.openxmlformats.org/officeDocument/2006/relationships/notesMaster" Target="/ppt/notesMasters/notesMaster1.xml" Id="R46e08e715d4443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fd5171f29461a" /><Relationship Type="http://schemas.openxmlformats.org/officeDocument/2006/relationships/notesMaster" Target="/ppt/notesMasters/notesMaster1.xml" Id="R7745b7374a0c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85d7f5b92d4da1" /><Relationship Type="http://schemas.openxmlformats.org/officeDocument/2006/relationships/notesMaster" Target="/ppt/notesMasters/notesMaster1.xml" Id="R0ac59109618f40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dd0e2cc58b4765" /><Relationship Type="http://schemas.openxmlformats.org/officeDocument/2006/relationships/notesMaster" Target="/ppt/notesMasters/notesMaster1.xml" Id="R4b8adc56ea7946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7316f331bb4a7c" /><Relationship Type="http://schemas.openxmlformats.org/officeDocument/2006/relationships/notesMaster" Target="/ppt/notesMasters/notesMaster1.xml" Id="R30013cd99f5f41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e8f458fcbe44ec" /><Relationship Type="http://schemas.openxmlformats.org/officeDocument/2006/relationships/notesMaster" Target="/ppt/notesMasters/notesMaster1.xml" Id="Rfc8ffd4057b54b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88f81133114b67" /><Relationship Type="http://schemas.openxmlformats.org/officeDocument/2006/relationships/notesMaster" Target="/ppt/notesMasters/notesMaster1.xml" Id="R1dee5ce17bc54e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625480e8494249" /><Relationship Type="http://schemas.openxmlformats.org/officeDocument/2006/relationships/notesMaster" Target="/ppt/notesMasters/notesMaster1.xml" Id="Ra4071be22b9345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f756681c74c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d5282130f14a70" /><Relationship Type="http://schemas.openxmlformats.org/officeDocument/2006/relationships/slideLayout" Target="/ppt/slideLayouts/slideLayout1.xml" Id="R42f7b18aab8148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7b18aab8148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fbc5a9d004fbe" /><Relationship Type="http://schemas.openxmlformats.org/officeDocument/2006/relationships/notesSlide" Target="/ppt/notesSlides/notesSlide1.xml" Id="R4c03df798bac45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834ab0b3347fc" /><Relationship Type="http://schemas.openxmlformats.org/officeDocument/2006/relationships/notesSlide" Target="/ppt/notesSlides/notesSlide2.xml" Id="R8370be27c70c44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49126dba64686" /><Relationship Type="http://schemas.openxmlformats.org/officeDocument/2006/relationships/notesSlide" Target="/ppt/notesSlides/notesSlide3.xml" Id="R38979682210e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434ffc406420e" /><Relationship Type="http://schemas.openxmlformats.org/officeDocument/2006/relationships/notesSlide" Target="/ppt/notesSlides/notesSlide4.xml" Id="R49a5d58825be49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001779a641fa" /><Relationship Type="http://schemas.openxmlformats.org/officeDocument/2006/relationships/image" Target="/ppt/media/image.png" Id="R1fbbcaafbe234973" /><Relationship Type="http://schemas.openxmlformats.org/officeDocument/2006/relationships/notesSlide" Target="/ppt/notesSlides/notesSlide5.xml" Id="R21ec7aa8fde746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1d10483a14356" /><Relationship Type="http://schemas.openxmlformats.org/officeDocument/2006/relationships/image" Target="/ppt/media/image2.png" Id="Rb8758dd934cc41c8" /><Relationship Type="http://schemas.openxmlformats.org/officeDocument/2006/relationships/notesSlide" Target="/ppt/notesSlides/notesSlide6.xml" Id="R607b2b6b3aeb49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9b90e03ff43d3" /><Relationship Type="http://schemas.openxmlformats.org/officeDocument/2006/relationships/notesSlide" Target="/ppt/notesSlides/notesSlide7.xml" Id="Rb068789134a841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1f37301ef4093" /><Relationship Type="http://schemas.openxmlformats.org/officeDocument/2006/relationships/notesSlide" Target="/ppt/notesSlides/notesSlide8.xml" Id="Rd3636810f89540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8256dc8f948c1" /><Relationship Type="http://schemas.openxmlformats.org/officeDocument/2006/relationships/notesSlide" Target="/ppt/notesSlides/notesSlide9.xml" Id="Re19dc76a95ce40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0d9a492dd4cf2" /><Relationship Type="http://schemas.openxmlformats.org/officeDocument/2006/relationships/notesSlide" Target="/ppt/notesSlides/notesSlide10.xml" Id="Rf9cf7e63723c4e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7166A4-6981-451F-8C1E-C795D51B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90C33-3EE2-40EF-894E-D5448BA0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91821-4B1F-404F-9D44-0AAAC506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F4C69-E18F-4BB7-8435-E9016006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AC-IoT UFMA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C86CD-A5BD-4BB9-9E2A-527C69E3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Monitoramento e controle inteligente de ar-condicionado em salas de aula com IoT, MQTT, automação e painel web.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C2452-6706-46E9-AB9D-A59869B1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3E96B-1352-4153-A101-6EECEAC6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31256-BFF5-47AC-86DD-185FB0B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Cleila; Guilherme; Nilton; Rniere; Tereza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DF61A-D1EA-40E9-AAE2-8DE7B19E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98FCF-0135-44B5-9778-09FDA481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6351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5FEF3-E989-4DAD-BD9F-9A2141DF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3B0B3-C551-4336-AE41-50BA01A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94B37-D991-4C29-9E9D-E1709244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81139-C46D-4AC4-8790-05307565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 fluxo atual conecta simulação, automação, painel e InterSCity.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B1BF1-B65D-411F-B973-600E498F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8D5EE-735E-4C4B-BFF3-FA6F6AD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6409D-1410-451F-B135-927218E6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Simulador C++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D151B-B448-43C8-B2D4-390211B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gera sensores e recebe comandos para sala01, sala02 e sala03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0C398-6996-4397-8252-44BEEFE9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B9C74-7E7A-4C1F-B048-6AD559D9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563F3-6768-4FDF-BFE2-66A3D595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9082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Mosquitto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8B10F-C2B4-4303-954E-8267590B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95625"/>
            <a:ext cx="140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broker MQTT TCP 1883 e WebSocket 9001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EE03B-9CDC-4CC3-9D09-AE41955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0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A8CF6-2CB8-408A-AF9D-FB98EDB9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0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B9206-4C54-440F-8CB3-D7A400E5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Node-RED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8A810-7D6B-4BF0-BAF6-4E4D4863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regras de presença, setpoints e temporizadores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F9145-4246-4290-AFD7-D3704BB1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6237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76AC7-2D07-4BCB-A6E3-D3F93220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623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96CC5-FA23-4A34-A01E-82ED20B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338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Web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2F2B2-D317-4A42-BF35-12ED4F1C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38625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monitoramento, controle direto e eventos MQTT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DD1BC-34AA-491B-9D7D-EAABDE7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FACEF-BD7E-4224-B6C0-B6A4BB54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9AB44-9625-4334-BD66-1B913A9A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9082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B7B59-8A79-4897-88B3-BF0F378B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95625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encaminha telemetria MQTT para REST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E2987-9989-48C7-BA94-BE813AEA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19375"/>
            <a:ext cx="1752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63C248-3A3C-4656-9A06-CF3668D1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19375"/>
            <a:ext cx="1752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6CF71-64BE-4851-900B-E4980A17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90825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InterSCity UFMA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5AD415-EDDE-413E-B596-65DCA99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95625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catálogo de recursos e última leitura por UUID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0136C0-3B5E-421E-8256-DD8444E7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908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0CF930-09D1-462D-BA4D-91942A73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90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0A9B8-79C2-4B0C-9D5D-F7EFD33D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85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5FF2EA-FFB6-4D55-A33F-F37E2230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400CC6-61AC-4DAB-A974-91F35756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44BE05-DAFA-48FB-B58A-6E1C768F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EC9224-87B8-4175-90B4-8051C59F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28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29557E-A66B-4A66-8D15-0EDE9D7C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908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FD89FD-9661-47B2-884D-27B86D1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90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C3311E-FFBC-41D5-89AD-A260EB6B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Tópicos principais: ac-iot/+/sensores | ac-iot/{sala}/comando | ac-iot/all/comando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B92066-723A-4DF5-BDDC-E289AE30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863A51-3B7C-4F28-B189-B85744F4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89291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38137-11CE-4378-A6CD-55F75F2C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69E1C-5F88-4C3A-BD61-87B8CA6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6B452-D061-44A5-9C7D-1E3D8AB1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ATUALIZACOES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3622D-7B02-43C5-8518-E8190B91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As atualizações consolidam a base funcional do protótipo.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FDD7C-D41C-4D6A-BF5F-CF941983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E119B-E612-4160-A307-FC582D6C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Concluído para protótipo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81668-3E3B-4C54-B339-7E5AB62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BAC6D-E1A6-41B9-AFE7-32E3814E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Compose integrando Mosquitto, Node-RED, simulador e bridge.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B18E8-D45C-496D-A72A-D45AC723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F270-B9AF-4410-8507-FF2D5BE9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Simulador C++ com tres salas e estados independentes.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97333-AC96-4E3A-960C-0E94B3D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81E59-66EE-433F-A288-C9F7D183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MQTT separado entre sensores, comandos por sala e comando global.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EAB58-4545-4447-9074-398E5C53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390CA-0C22-41E9-9A8F-EBF2486F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web reorganizado para operação e testes.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64C90-11FC-494C-AF34-873B33EA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28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1CD64-4EAE-4F31-A0D7-21E2623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764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Concluído para protótipo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8A308-6543-497D-B2B4-CC8CDB1C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95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2BE19-681E-4D7F-811E-ADFBBCAA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194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Node-RED com temporizadores estáveis para presença e ausência.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2ACD2-80EF-43C6-A55D-EB8CD9B0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5D96A-715E-4BEC-BD39-B35BB543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Bridge InterSCity implementada para envio de telemetria.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68309-FFDA-48D0-9BF3-9BA2FC38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6EB7B-83C4-44F0-B71E-D65F10A0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005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consulta catálogo, UUID e última leitura InterSCity.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95A70-933C-43E7-A2E5-88AEAD84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05E5D-E8A2-43A5-B398-9A336EF3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910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Geração automática de dados mantém o fluxo ativo sem hardware físico.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CB104-8DC3-405F-87D7-FF73A00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1D5A23-AF59-4629-990D-5D34A05D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75946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09CFF5-C7DA-4E5D-81B7-0176719F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1522B-9CFB-4D0B-878E-E3CC9D7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70F42-4FD5-4377-A992-2A36FCEC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FUNCIONAMENTO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FF5E5-45B8-4DB1-B2E4-AB734627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automação já aplica regras de conforto e economia.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25A63-1865-40FF-AEDF-FACC646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48031-C8AE-49D7-8028-879FF81C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4AD85-CD28-46CA-95DF-60FF79A3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60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1. Presença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F0FD5-8830-4DA0-B570-13847647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presença detectada liga a luz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8372E-3981-4A62-B019-407D4E64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6A671-ADC4-47AC-A697-C155A3D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90E52-4A50-4BAA-9F7E-75872BA7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860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2. Espera 20s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6B455-3160-41C3-95DF-3947131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90875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presença contínua libera avaliação do 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27BCC-B7E7-4345-B9A7-B251EE95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ED5DB-5979-41D1-9319-7D36EB5D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2BB17-A180-4943-B0EB-25CBD1D5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860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3. Setpoints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FEEC4-EB3E-470F-AF69-FE4F2DA2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90875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temperatura/umidade acima do limite acionam AC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4BD95-BA86-4253-9346-1F8C88EE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304C9-C0CD-49F6-965A-4944AFD3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46A1F-B8F8-4173-BA63-F6EFA43F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860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Ausência 10s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9E366-A16E-4040-BC65-5A0FC27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90875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desliga AC e luz automaticamente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2190E-EEE6-43EE-AA5D-EB697455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2CBF2-9951-4B21-8693-B6C96478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385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8668F-2BA8-4046-8A95-A18AF092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79302-55DF-45F6-AB97-01EFBE42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9639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E37D70-C1C9-43D1-9500-944F4F37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Modo manual preserva os comandos do usuário quando modo_ac = desativado.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8499A-610E-430E-B844-07F972FB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E669A-BC7C-41F4-88F8-89033662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75581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FC1F3-CE9F-4881-A0C0-BFFCD733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E879F-E458-41F3-80BB-A963CDC7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686C6-B9A0-42D9-916F-CC952CA8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EVIDÊNCIA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6E79A-B1C7-4734-9E6D-5542441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Painel web mostra o sistema operando em tempo real.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bcaafbe234973"/>
          <a:srcRect xmlns:a="http://schemas.openxmlformats.org/drawingml/2006/main" l="0" t="10033" r="0" b="100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7000875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F5C91-C7FD-4DF7-BD0C-5691BBD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 que comprova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4A8CC-46EC-4C17-852A-8ED8BC22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47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F65EC-D175-4AE1-872D-B838FEB4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MQTT conectado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B8483-1DDE-4E6B-804D-DD0FD3F4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painel recebe eventos em ac-iot/+/sensores via WebSocket 9001.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AD9FA-15D8-4BC5-A5E3-E50E45D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90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2935F-5173-4FC5-869B-3B845DD6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Três salas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39D51-4387-46E6-AE37-70D84490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sala01, sala02 e sala03 aparecem com temperatura, umidade, luz, presença e estado.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4389E-AD42-4485-BC76-4847EE74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3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76B2E-3650-48B4-921B-B92764DE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Controle operacional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22F0C-387A-42C7-B608-D5EBB80D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permite aplicar sensores, controle direto e modo de automação.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4A79C-6776-431D-9D79-58388120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76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7FF76-9B49-4B8B-92B6-51F7E62E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InterSCity visível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30B96-6DD7-432C-AAB9-EA7B6D09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387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área lateral exibe status, UUID e última leitura consultada.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43823-DD8E-4FAF-9B45-B0A1A94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A1163-6394-492C-8C32-439B3FA7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66416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D0AD6-CD61-4490-BE6F-224E9DA9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20C26-6D9A-4648-B551-6650BF99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935C3-8F9E-4922-ACB5-232F410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EVIDÊNCIA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9EAF1-7310-498C-8C5A-10F69B4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Node-RED executa a automação a partir dos sensores MQTT.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58dd934cc41c8"/>
          <a:srcRect xmlns:a="http://schemas.openxmlformats.org/drawingml/2006/main" l="0" t="2585" r="0" b="2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66950"/>
            <a:ext cx="390525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E8C0C-1800-4419-975A-0EE2EC8C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390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162CF-C33C-4A46-AACB-B8A3BE25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Fluxo configurado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7A4A0-1659-4394-B639-9287AA0C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tela mostra Sensores -&gt; Automação AC/Luz -&gt; Enviar Comando, com debug ativo.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CCA78-1ACD-4DA8-92C5-EFE6EC0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381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EDD17-ADD8-4D0D-90D3-69554ED7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E9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E9FF"/>
                </a:solidFill>
                <a:latin typeface="Aptos"/>
                <a:ea typeface="Aptos"/>
                <a:cs typeface="Aptos"/>
              </a:rPr>
              <a:t>Trechos essenciais do fluxo Node-RED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C94C9-0518-4BCB-89A0-342C9457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5810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// node-red/flows.json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"type": "mqtt in",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"name": "Sensores ac-iot/+/sensores",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"topic": "ac-iot/+/sensores",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"datatype": "json"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// função Automação AC/Luz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if (payload.modo_ac === 'desativado') return null;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var pres = payload.presenca === true;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var setTemp = Number(payload.setpoint_ac) || 22;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if (pres &amp;&amp; temp &gt; (setTemp + 1)) {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setAc('ligar', 'condicao_acima_setpoint_liga_ac');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return { topic: 'ac-iot/' + id_sala + '/comando',</a:t>
            </a:r>
          </a:p>
          <a:p xmlns:a="http://schemas.openxmlformats.org/drawingml/2006/main"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   payload: cmd };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87197-0A09-4C5B-B8A1-97A6C619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6C426-71DC-490B-BE7F-BAA861FF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97716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DB077F-A789-4F78-A3A8-524E988C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1C746-8845-4B57-93EF-947A06A7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DF86D-057B-4C9E-A367-021C1BA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EVIDÊNCIA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E4D96-4401-4BAE-B5CA-DB9C498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InterSCity UFMA recebe a telemetria enviada pela bridge.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15E8A-5433-4F05-A0BD-F4A8A19C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90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E4DD5-BF80-41DD-9CA5-5116F78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Comprovação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E4DA2-6D24-4461-9C7E-E06F792F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11CAE-89F0-48BA-8DCA-0DA847B9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Resource Cataloguer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8C05F-C864-4848-BA3C-AE7849A9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7182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salas cadastradas com UUID fixo e capabilities.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F397-105B-4CC4-910B-6A7D6D78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37519-76D0-457A-BC4A-8469CAD3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Resource Adaptor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43AE2-3C78-4C55-865A-90489C43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623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bridge publica /resources/{uuid}/data.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DE608-6F90-49CB-AC14-1A5BC68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C9763-CFBC-498D-A41B-05949CFD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 Collector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593C4-8EA1-47BB-BCF5-DB7FFA07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última leitura pode ser consultada por UUID.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768B7-90CF-4929-BB49-E07E2129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66927-B564-4192-BFB4-6BE61FAE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web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7D647-74FB-47B7-A597-5F001F1E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consulta /catalog/resources e /collector/resources/{uuid}/data/last.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C29DA-3E90-434C-BDFC-25B892A8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381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37989-1A92-4421-98EA-3C0BA1FD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E9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E9FF"/>
                </a:solidFill>
                <a:latin typeface="Aptos"/>
                <a:ea typeface="Aptos"/>
                <a:cs typeface="Aptos"/>
              </a:rPr>
              <a:t>Trechos essenciais da bridge InterSCity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B54B6-C06B-4533-82F5-9FE0BCF2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5810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// interscity/main.cpp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mqtt_topic = get_env("MQTT_TOPIC", "ac-iot/+/sensores");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mosquitto_subscribe(mosq, nullptr, mqtt_topic.c_str(), 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static bool post_room_telemetry(const RoomConfig&amp; room,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                          const json&amp; payload) {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json intercity_payload = {{"data", json::object()}};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for (const auto&amp; field : field_names) {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if (payload.contains(field)) {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add_capability_value(intercity_payload,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    field, payload[field], date);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auto path = "/resources/" + room.uuid + "/data";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auto response = send_http(adaptor_url, HttpMethod::Post,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path, &amp;intercity_payload);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return is_success(response.status);</a:t>
            </a:r>
          </a:p>
          <a:p xmlns:a="http://schemas.openxmlformats.org/drawingml/2006/main"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8C7E4-F6B8-4D96-9669-F9717738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EE0FC-36FE-4742-A2D7-2EE998C6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56112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BE300-FF17-4120-9A71-2AAB595C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4FAC5-32BD-4CC8-8F33-0EFA7269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07FCB-B7F1-4DA4-9FC7-B5256023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GANTT RESUMO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9DD1D-3902-4D7D-B52C-9D672935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Base operacional concluída; dados automáticos substituem a etapa física.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A4EBD-5272-4ECC-BCE4-C4A94247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52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28/05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A4C15-6E95-43BC-B271-85C02345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D21A0-560A-4385-960D-A63004CB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01/06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47983-F286-4CF5-B325-2219BB46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7245D-2DF3-4E87-998B-C18FBBB4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05/06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D9B01-6A8F-4A27-A070-44526EEF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4A412-1A65-47CE-B082-960A4AA6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52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09/06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3C697-ACEE-41CF-B6BF-E1865363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141AC-CFB4-42F6-BF92-5E95690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52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13/06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0AF7D-8036-4601-85E5-4D63C599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ABA92-6CA8-47FB-BF1E-B1CE11CA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17/06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EED0D-E6BB-456C-BCDC-210A7A93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DBC3F-CDDF-4497-A799-A2E07543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52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21/06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23CE6-9A49-4D18-B1D0-B5B0A929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0A60E-53C2-4DD4-9752-7F4175D5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25/06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5A1FF-302C-4EAD-B526-36C3C31E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95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DA772-42AC-4336-A41C-1F8C4E2B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124B9-992E-4A65-B780-0311F728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857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+ Mosquitto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9F200-88D3-4FB3-9884-B7F60D38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66865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B3F2C-3154-4A12-BCD7-6529D2E9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concluído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35582-2260-45E4-B5EF-382061B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857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Simulador C++ MQTT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C1B0D7-AB9C-4F7A-B4A4-5C63A38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43E91-EEE9-4380-8EF0-9B62DC3D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concluído em 07/06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A909C0-A7F2-4597-B0B5-773B4D3E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857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Node-RED automação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F6F9A2-17A8-4001-95ED-04F6E09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71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69ACF-B1A5-4BA4-964A-A5B9FE1F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concluído em 07/06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C12B8C-9572-4D35-98A7-09A36631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857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web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327123-09C2-4B93-9248-11529632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57220B-DF7D-43F2-95A0-3D0FD6CA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concluído em 07/06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9602DE-311F-4389-98AF-82EA3C37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857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Bridge InterSCity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3C50F5-7B12-42C4-B9C3-72DD03BE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2971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F5B86C-8CAB-46F2-8DFD-0307448F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9845A5-15B2-426A-AFCB-26FD21F8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857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Geração automática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3E44E4-816E-4BED-AB9E-99918D0F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14850"/>
            <a:ext cx="16344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FFC0B1-8A69-43F8-BB66-7EF1F08F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escopo definido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D16554-B3C0-4733-9DA4-7ADCF8DB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857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Escalabilidade dos dados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BF07C0-D931-4D05-868A-4900638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95850"/>
            <a:ext cx="16344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1242CB-6D72-4A5F-9A86-48E1C327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57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validar carga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2DACA4-6327-4945-9B1A-4CAB243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857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Testes finais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786D49-81F7-436E-A50D-07E021AC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76850"/>
            <a:ext cx="1114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D5F6ED-0660-4F7F-A2B2-9EC61BE7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previsto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1DBE83-0681-41FE-8CC3-1195FAD6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0C9F6-3B1D-4CD4-B568-226EB5D6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verde: concluído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EAAF17-1AFB-4D5E-9CE1-585FAC9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E8F0F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0BB6C3-6792-458F-B885-2E93F89B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857875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azul: concluído fora do prazo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610F32-66C0-4EA6-A428-A1A178DD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10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0">
            <a:solidFill>
              <a:srgbClr val="FFF3D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7E6081-706F-41D1-8DBD-EA94442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amarelo: validação final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B407E0-2A48-4F10-8ED2-3DB6C543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E18202-27A1-4846-B05A-9C4897A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8670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A39647-02BF-4A6D-812F-2EF0A0D0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D2C44-2884-487B-875C-9023BD75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AACD3-2100-471B-8DF1-9133877B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GERAÇÃO DE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6372D-1588-4BF4-9F34-A295BCB3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Os dados são gerados automaticamente para manter o sistema ativo e escalável.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B41D8-0322-4F8C-8960-A9B71B26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013D9-A7E0-4D45-A66D-D2360A45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BC381-127E-4432-8CBA-5919E8EF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Origem dos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A2022-47C1-4DC1-932F-54C33180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simulador C++ publica leituras periódicas de três salas em ac-iot/+/sensores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5964E-D779-4F70-8260-FDC33DC2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1B53C-4C23-4E6A-865D-43167C00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C8B9C-0A6D-4F2B-833A-95A2BFE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527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Sem etapa física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A9C9C-23E2-4834-96E7-369E2C16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575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ESP32, Wokwi, SCT-013, IR e relé deixam de ser implementados neste escopo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6C16F-659E-4E71-A221-9D63D3DE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A84F9-BB78-4981-ADCA-7813077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455C3-E00B-47ED-A70A-88D401E1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Fluxo preservado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F6DCC-90CE-434E-8D6B-72FCBD6B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MQTT, Node-RED, painel web e InterSCity continuam recebendo o mesmo padrão de telemetria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C2EC4-2363-4B9B-B296-014F88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2C27C-B9AC-4FA9-8696-7DB49A89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202AB-44D1-44B7-9A4D-188A6FA8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Escala horizontal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583BA-4145-4841-BAC6-AB1D289F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novas salas podem ser adicionadas mantendo o padrão ac-iot/{sala}/sensores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0052D-6216-40C7-8761-8511D541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719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F6EC2-D375-4A2B-9665-B5DFB9B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719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EAC2C-BAB3-490A-AEC5-A9E93CC7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434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Baixo acoplamento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7D470-01B1-4A8B-A319-6AED0198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482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publicação assíncrona por MQTT evita travar painel, regras e bridge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53D08-2F7C-42E3-816D-859128AC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90502-37D0-4456-BDC0-8172DA28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9F4C2-6535-44AF-8C19-DFC11DA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434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Validação restante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97F617-E215-48CB-A902-48FDAEEF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medir estabilidade com mais salas, maior frequência e roteiro de testes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5835C-E632-4143-B719-1F86611E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756EA-EDFD-4003-BD6D-0022AF37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56651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3BBA3-6A39-495E-96A4-4A8A205D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A1E4C-EF14-4C0B-B7B2-5085220E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B4444-672D-4753-AF39-1E9084CF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PROXIMOS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F380D-12F0-4412-9883-1FF60198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prioridade é transformar o protótipo integrado em demonstração validada.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5F337-6650-4140-A906-1FE33A92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6D611-45E7-4F9B-8E51-A958ACE7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98814-B326-4985-A57F-50FCA75F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956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1. Validar integração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E8D1D-7B5F-4F04-9015-75F5ED63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004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InterSCity, recursos cadastrados e última leitura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3D158-7D20-45AB-8D77-DE115E79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76D4D-F248-4498-837F-5DA37E29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CECDF-34ED-465E-A85F-DFB32140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8956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2. Testar escala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D06B2-575B-4870-B6F5-2C3250CC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004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mais salas, maior frequência e consumo de mensagens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04685-42AF-4111-A287-C66C1BB4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5FDBB-6E98-40F3-BF45-BAE36D15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5764C-9CEF-4145-B24D-103D42CD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956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3. Evidenciar regras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B27D7-B962-4672-98C9-C6831823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004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presença, setpoints, ausência e comandos manuais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4D353-A222-4D3F-B5B0-6D81C342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241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49D92-E373-4146-B9CF-DE202D2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241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4FBDD-B843-4A0A-AD37-A056F2F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956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 Fechar entrega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98B01-8A8D-484A-9313-BFB3939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04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roteiro, prints, logs e documentação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3F8A4-733E-450D-9C75-0869F5D8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956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7E1A2-5D0F-4DF1-A613-2C28D9C6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956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C80BA-5A85-4852-912C-06576C8F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956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11AED-9167-4119-B86C-7FFC6FE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Mensagem final: o sistema já demonstra o fluxo completo com dados automáticos; o fechamento agora depende de testes, escala e evidências.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886F9-C468-4B26-AF35-200CD91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F008F-49BA-49FA-9D91-776A0BED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0153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2026-06-08T12:56:45.2630000Z</dcterms:created>
  <dcterms:modified xsi:type="dcterms:W3CDTF">2026-06-08T12:56:45.2630000Z</dcterms:modified>
</coreProperties>
</file>