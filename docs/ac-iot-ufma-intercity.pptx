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14"/>
  </p:normalViewPr>
  <p:slideViewPr>
    <p:cSldViewPr snapToGrid="0">
      <p:cViewPr>
        <p:scale>
          <a:sx n="96" d="100"/>
          <a:sy n="96" d="100"/>
        </p:scale>
        <p:origin x="1064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EDC7C799-D177-4182-B3D4-4EA382135B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0F5767-0F53-4DE0-BCBB-910823F6F20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rgbClr val="EAF2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89158FD-71AB-46E4-80DB-DF7F8D57E0AA}"/>
              </a:ext>
            </a:extLst>
          </p:cNvPr>
          <p:cNvSpPr>
            <a:spLocks noGrp="1"/>
          </p:cNvSpPr>
          <p:nvPr/>
        </p:nvSpPr>
        <p:spPr>
          <a:xfrm>
            <a:off x="647700" y="838200"/>
            <a:ext cx="1162050" cy="1162050"/>
          </a:xfrm>
          <a:prstGeom prst="ellipse">
            <a:avLst/>
          </a:prstGeom>
          <a:solidFill>
            <a:srgbClr val="DBEAFE"/>
          </a:solidFill>
          <a:ln w="190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003A1E-5197-4C30-9BC3-EE1EB1CC751F}"/>
              </a:ext>
            </a:extLst>
          </p:cNvPr>
          <p:cNvSpPr>
            <a:spLocks noGrp="1"/>
          </p:cNvSpPr>
          <p:nvPr/>
        </p:nvSpPr>
        <p:spPr>
          <a:xfrm>
            <a:off x="838200" y="1181100"/>
            <a:ext cx="7810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AC</a:t>
            </a:r>
          </a:p>
          <a:p>
            <a:pPr algn="ctr">
              <a:defRPr sz="19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IoT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B5C3CD-DBAB-43BD-AD2B-78E8BAC129EF}"/>
              </a:ext>
            </a:extLst>
          </p:cNvPr>
          <p:cNvSpPr>
            <a:spLocks noGrp="1"/>
          </p:cNvSpPr>
          <p:nvPr/>
        </p:nvSpPr>
        <p:spPr>
          <a:xfrm>
            <a:off x="4953000" y="952500"/>
            <a:ext cx="56197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AC-IoT UFMA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F691FA6-2499-44BC-AAA6-9CE1A099BDBD}"/>
              </a:ext>
            </a:extLst>
          </p:cNvPr>
          <p:cNvSpPr>
            <a:spLocks noGrp="1"/>
          </p:cNvSpPr>
          <p:nvPr/>
        </p:nvSpPr>
        <p:spPr>
          <a:xfrm>
            <a:off x="4953000" y="1562100"/>
            <a:ext cx="619125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Operacao distribuida para 1.000 salas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C883CB-19D3-4C18-AF73-EB42D9335DD4}"/>
              </a:ext>
            </a:extLst>
          </p:cNvPr>
          <p:cNvSpPr>
            <a:spLocks noGrp="1"/>
          </p:cNvSpPr>
          <p:nvPr/>
        </p:nvSpPr>
        <p:spPr>
          <a:xfrm>
            <a:off x="4972050" y="2667000"/>
            <a:ext cx="58102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Monitoramento, automacao e controle de ar-condicionado com MQTT, dashboard web e integracao InterSCity.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D70ED2-D2F5-4895-9F7F-7D61C5660488}"/>
              </a:ext>
            </a:extLst>
          </p:cNvPr>
          <p:cNvSpPr>
            <a:spLocks noGrp="1"/>
          </p:cNvSpPr>
          <p:nvPr/>
        </p:nvSpPr>
        <p:spPr>
          <a:xfrm>
            <a:off x="4953000" y="3714750"/>
            <a:ext cx="15240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3435D9-6CF9-4F3C-9528-DB6423A88F06}"/>
              </a:ext>
            </a:extLst>
          </p:cNvPr>
          <p:cNvSpPr>
            <a:spLocks noGrp="1"/>
          </p:cNvSpPr>
          <p:nvPr/>
        </p:nvSpPr>
        <p:spPr>
          <a:xfrm>
            <a:off x="5105400" y="3857625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1.000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5CC4F8-0A06-4B25-9A11-97C8805DCAF7}"/>
              </a:ext>
            </a:extLst>
          </p:cNvPr>
          <p:cNvSpPr>
            <a:spLocks noGrp="1"/>
          </p:cNvSpPr>
          <p:nvPr/>
        </p:nvSpPr>
        <p:spPr>
          <a:xfrm>
            <a:off x="5105400" y="4200525"/>
            <a:ext cx="1219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F7087"/>
                </a:solidFill>
                <a:latin typeface="Aptos"/>
                <a:ea typeface="Aptos"/>
                <a:cs typeface="Aptos"/>
              </a:rPr>
              <a:t>salas simuladas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5B1EAD-780C-4F98-AE95-A4E510662603}"/>
              </a:ext>
            </a:extLst>
          </p:cNvPr>
          <p:cNvSpPr>
            <a:spLocks noGrp="1"/>
          </p:cNvSpPr>
          <p:nvPr/>
        </p:nvSpPr>
        <p:spPr>
          <a:xfrm>
            <a:off x="6705600" y="3714750"/>
            <a:ext cx="15240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0522C7-7DD3-4398-9290-DDB9373A9C73}"/>
              </a:ext>
            </a:extLst>
          </p:cNvPr>
          <p:cNvSpPr>
            <a:spLocks noGrp="1"/>
          </p:cNvSpPr>
          <p:nvPr/>
        </p:nvSpPr>
        <p:spPr>
          <a:xfrm>
            <a:off x="6858000" y="3857625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999D01-ECE2-4F59-8261-EA49C7BC234A}"/>
              </a:ext>
            </a:extLst>
          </p:cNvPr>
          <p:cNvSpPr>
            <a:spLocks noGrp="1"/>
          </p:cNvSpPr>
          <p:nvPr/>
        </p:nvSpPr>
        <p:spPr>
          <a:xfrm>
            <a:off x="6858000" y="4200525"/>
            <a:ext cx="1219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F7087"/>
                </a:solidFill>
                <a:latin typeface="Aptos"/>
                <a:ea typeface="Aptos"/>
                <a:cs typeface="Aptos"/>
              </a:rPr>
              <a:t>blocos operacionais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95D189-BEDF-4F50-91DD-54E12D45B138}"/>
              </a:ext>
            </a:extLst>
          </p:cNvPr>
          <p:cNvSpPr>
            <a:spLocks noGrp="1"/>
          </p:cNvSpPr>
          <p:nvPr/>
        </p:nvSpPr>
        <p:spPr>
          <a:xfrm>
            <a:off x="8458200" y="3714750"/>
            <a:ext cx="15240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E7E282-14BE-49AA-BACD-94A3CCFC6A72}"/>
              </a:ext>
            </a:extLst>
          </p:cNvPr>
          <p:cNvSpPr>
            <a:spLocks noGrp="1"/>
          </p:cNvSpPr>
          <p:nvPr/>
        </p:nvSpPr>
        <p:spPr>
          <a:xfrm>
            <a:off x="8610600" y="3857625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1C9407-8076-4871-A08B-F86D092BD64F}"/>
              </a:ext>
            </a:extLst>
          </p:cNvPr>
          <p:cNvSpPr>
            <a:spLocks noGrp="1"/>
          </p:cNvSpPr>
          <p:nvPr/>
        </p:nvSpPr>
        <p:spPr>
          <a:xfrm>
            <a:off x="8610600" y="4200525"/>
            <a:ext cx="1219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F7087"/>
                </a:solidFill>
                <a:latin typeface="Aptos"/>
                <a:ea typeface="Aptos"/>
                <a:cs typeface="Aptos"/>
              </a:rPr>
              <a:t>workers HTTP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85827A-B587-42B1-8B16-85A20A8476FA}"/>
              </a:ext>
            </a:extLst>
          </p:cNvPr>
          <p:cNvSpPr>
            <a:spLocks noGrp="1"/>
          </p:cNvSpPr>
          <p:nvPr/>
        </p:nvSpPr>
        <p:spPr>
          <a:xfrm>
            <a:off x="10210800" y="3714750"/>
            <a:ext cx="1524000" cy="9906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5C770B-C3A5-462E-95D9-5F02065B7FB1}"/>
              </a:ext>
            </a:extLst>
          </p:cNvPr>
          <p:cNvSpPr>
            <a:spLocks noGrp="1"/>
          </p:cNvSpPr>
          <p:nvPr/>
        </p:nvSpPr>
        <p:spPr>
          <a:xfrm>
            <a:off x="10363200" y="3857625"/>
            <a:ext cx="12192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20/s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11DE190-ACBF-4AB2-A129-2CA7FCDC13E4}"/>
              </a:ext>
            </a:extLst>
          </p:cNvPr>
          <p:cNvSpPr>
            <a:spLocks noGrp="1"/>
          </p:cNvSpPr>
          <p:nvPr/>
        </p:nvSpPr>
        <p:spPr>
          <a:xfrm>
            <a:off x="10363200" y="4200525"/>
            <a:ext cx="1219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F7087"/>
                </a:solidFill>
                <a:latin typeface="Aptos"/>
                <a:ea typeface="Aptos"/>
                <a:cs typeface="Aptos"/>
              </a:rPr>
              <a:t>limite IC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321952-7CCD-4C98-BBCD-B72A55C5176C}"/>
              </a:ext>
            </a:extLst>
          </p:cNvPr>
          <p:cNvSpPr>
            <a:spLocks noGrp="1"/>
          </p:cNvSpPr>
          <p:nvPr/>
        </p:nvSpPr>
        <p:spPr>
          <a:xfrm>
            <a:off x="819150" y="2895600"/>
            <a:ext cx="2381250" cy="78105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3F99694-5394-4B89-A9C7-AA9E7B07EEE8}"/>
              </a:ext>
            </a:extLst>
          </p:cNvPr>
          <p:cNvSpPr>
            <a:spLocks noGrp="1"/>
          </p:cNvSpPr>
          <p:nvPr/>
        </p:nvSpPr>
        <p:spPr>
          <a:xfrm>
            <a:off x="952500" y="3028950"/>
            <a:ext cx="2114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Sensores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718900-BF85-4ED6-AD17-9B00EC53EC64}"/>
              </a:ext>
            </a:extLst>
          </p:cNvPr>
          <p:cNvSpPr>
            <a:spLocks noGrp="1"/>
          </p:cNvSpPr>
          <p:nvPr/>
        </p:nvSpPr>
        <p:spPr>
          <a:xfrm>
            <a:off x="952500" y="3305175"/>
            <a:ext cx="2114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telemetria por sala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56E78AF-F466-44D9-87A0-4E71FD38CCFA}"/>
              </a:ext>
            </a:extLst>
          </p:cNvPr>
          <p:cNvSpPr>
            <a:spLocks noGrp="1"/>
          </p:cNvSpPr>
          <p:nvPr/>
        </p:nvSpPr>
        <p:spPr>
          <a:xfrm>
            <a:off x="819150" y="4076700"/>
            <a:ext cx="2381250" cy="781050"/>
          </a:xfrm>
          <a:prstGeom prst="rect">
            <a:avLst/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EC82597-3312-4DB7-81DA-F92AE731F5D6}"/>
              </a:ext>
            </a:extLst>
          </p:cNvPr>
          <p:cNvSpPr>
            <a:spLocks noGrp="1"/>
          </p:cNvSpPr>
          <p:nvPr/>
        </p:nvSpPr>
        <p:spPr>
          <a:xfrm>
            <a:off x="952500" y="4210050"/>
            <a:ext cx="2114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MQTT + Bridge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0F1607A-7E4D-4DB9-8647-F4B18B9C4551}"/>
              </a:ext>
            </a:extLst>
          </p:cNvPr>
          <p:cNvSpPr>
            <a:spLocks noGrp="1"/>
          </p:cNvSpPr>
          <p:nvPr/>
        </p:nvSpPr>
        <p:spPr>
          <a:xfrm>
            <a:off x="952500" y="4486275"/>
            <a:ext cx="2114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fluxo assíncrono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D483EAB-E936-489E-A1AA-92C2DA2A3D94}"/>
              </a:ext>
            </a:extLst>
          </p:cNvPr>
          <p:cNvSpPr>
            <a:spLocks noGrp="1"/>
          </p:cNvSpPr>
          <p:nvPr/>
        </p:nvSpPr>
        <p:spPr>
          <a:xfrm>
            <a:off x="819150" y="5257800"/>
            <a:ext cx="2381250" cy="78105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B71FA9-0C61-411F-8E03-9CC9A0D4357E}"/>
              </a:ext>
            </a:extLst>
          </p:cNvPr>
          <p:cNvSpPr>
            <a:spLocks noGrp="1"/>
          </p:cNvSpPr>
          <p:nvPr/>
        </p:nvSpPr>
        <p:spPr>
          <a:xfrm>
            <a:off x="952500" y="5391150"/>
            <a:ext cx="2114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InterSCity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99D1D94-AF5E-4175-831C-CDAB7E1B5021}"/>
              </a:ext>
            </a:extLst>
          </p:cNvPr>
          <p:cNvSpPr>
            <a:spLocks noGrp="1"/>
          </p:cNvSpPr>
          <p:nvPr/>
        </p:nvSpPr>
        <p:spPr>
          <a:xfrm>
            <a:off x="952500" y="5667375"/>
            <a:ext cx="2114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catalog/adaptor/collector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240AD7B-0253-4F88-826A-9FD0054DA8C7}"/>
              </a:ext>
            </a:extLst>
          </p:cNvPr>
          <p:cNvSpPr>
            <a:spLocks noGrp="1"/>
          </p:cNvSpPr>
          <p:nvPr/>
        </p:nvSpPr>
        <p:spPr>
          <a:xfrm>
            <a:off x="1990725" y="3676650"/>
            <a:ext cx="38100" cy="400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18E75E-B768-4214-A960-3511A0E136E4}"/>
              </a:ext>
            </a:extLst>
          </p:cNvPr>
          <p:cNvSpPr>
            <a:spLocks noGrp="1"/>
          </p:cNvSpPr>
          <p:nvPr/>
        </p:nvSpPr>
        <p:spPr>
          <a:xfrm>
            <a:off x="1905000" y="3943350"/>
            <a:ext cx="209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F61E7DF-68D6-4920-8CC4-A0109A0AB525}"/>
              </a:ext>
            </a:extLst>
          </p:cNvPr>
          <p:cNvSpPr>
            <a:spLocks noGrp="1"/>
          </p:cNvSpPr>
          <p:nvPr/>
        </p:nvSpPr>
        <p:spPr>
          <a:xfrm>
            <a:off x="1990725" y="4857750"/>
            <a:ext cx="38100" cy="4000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555EC2C-E1F6-42C4-BBCE-E330A331A719}"/>
              </a:ext>
            </a:extLst>
          </p:cNvPr>
          <p:cNvSpPr>
            <a:spLocks noGrp="1"/>
          </p:cNvSpPr>
          <p:nvPr/>
        </p:nvSpPr>
        <p:spPr>
          <a:xfrm>
            <a:off x="1905000" y="5124450"/>
            <a:ext cx="209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0A2694C-E38F-4808-975F-D1E8DACDC6CF}"/>
              </a:ext>
            </a:extLst>
          </p:cNvPr>
          <p:cNvSpPr>
            <a:spLocks noGrp="1"/>
          </p:cNvSpPr>
          <p:nvPr/>
        </p:nvSpPr>
        <p:spPr>
          <a:xfrm>
            <a:off x="4953000" y="5867400"/>
            <a:ext cx="5810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Deck atualizado em 15/06/2026</a:t>
            </a:r>
          </a:p>
        </p:txBody>
      </p:sp>
    </p:spTree>
    <p:extLst>
      <p:ext uri="{BB962C8B-B14F-4D97-AF65-F5344CB8AC3E}">
        <p14:creationId xmlns:p14="http://schemas.microsoft.com/office/powerpoint/2010/main" val="471387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90D25E42-C6A5-4ED4-B892-8B2399022B4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BFE551-CD98-4F29-8553-5706D7E2F2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13357C-F055-40A1-B9B8-F449F23DFABE}"/>
              </a:ext>
            </a:extLst>
          </p:cNvPr>
          <p:cNvSpPr>
            <a:spLocks noGrp="1"/>
          </p:cNvSpPr>
          <p:nvPr/>
        </p:nvSpPr>
        <p:spPr>
          <a:xfrm>
            <a:off x="514350" y="190500"/>
            <a:ext cx="2571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01 | Objetivo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1845C6-277E-4500-9B73-DA5866BC0C45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723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O sistema transforma telemetria de salas em operacao acionavel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956ACE-C965-4E41-A452-329CA5CC5642}"/>
              </a:ext>
            </a:extLst>
          </p:cNvPr>
          <p:cNvSpPr>
            <a:spLocks noGrp="1"/>
          </p:cNvSpPr>
          <p:nvPr/>
        </p:nvSpPr>
        <p:spPr>
          <a:xfrm>
            <a:off x="7810500" y="285750"/>
            <a:ext cx="3810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visao executiva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E03DA8-80DE-4E44-9ED8-DD76AD6558F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AC-IoT UFMA | Sistema distribuido IoT + InterSCity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5E8FD3-D2CD-4770-B204-97027C393AAD}"/>
              </a:ext>
            </a:extLst>
          </p:cNvPr>
          <p:cNvSpPr>
            <a:spLocks noGrp="1"/>
          </p:cNvSpPr>
          <p:nvPr/>
        </p:nvSpPr>
        <p:spPr>
          <a:xfrm>
            <a:off x="590550" y="1162050"/>
            <a:ext cx="325755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5530EB1-A873-4FB1-9997-1D1CA3E303AA}"/>
              </a:ext>
            </a:extLst>
          </p:cNvPr>
          <p:cNvSpPr>
            <a:spLocks noGrp="1"/>
          </p:cNvSpPr>
          <p:nvPr/>
        </p:nvSpPr>
        <p:spPr>
          <a:xfrm>
            <a:off x="590550" y="1162050"/>
            <a:ext cx="66675" cy="1809750"/>
          </a:xfrm>
          <a:prstGeom prst="rect">
            <a:avLst/>
          </a:prstGeom>
          <a:solidFill>
            <a:srgbClr val="DC26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4260A5-73FB-4D46-A3E2-4492D3EA01E4}"/>
              </a:ext>
            </a:extLst>
          </p:cNvPr>
          <p:cNvSpPr>
            <a:spLocks noGrp="1"/>
          </p:cNvSpPr>
          <p:nvPr/>
        </p:nvSpPr>
        <p:spPr>
          <a:xfrm>
            <a:off x="781050" y="1333500"/>
            <a:ext cx="2914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Problema operacional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000B76-77FC-4DB4-B3D3-DC7AFFC7120C}"/>
              </a:ext>
            </a:extLst>
          </p:cNvPr>
          <p:cNvSpPr>
            <a:spLocks noGrp="1"/>
          </p:cNvSpPr>
          <p:nvPr/>
        </p:nvSpPr>
        <p:spPr>
          <a:xfrm>
            <a:off x="781050" y="1657350"/>
            <a:ext cx="29146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Ar-condicionado e iluminacao precisam responder a presenca, conforto termico e setpoints sem depender de acao manual sala a sala.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EB448C-7186-4375-A7B5-2FF6ED3514C2}"/>
              </a:ext>
            </a:extLst>
          </p:cNvPr>
          <p:cNvSpPr>
            <a:spLocks noGrp="1"/>
          </p:cNvSpPr>
          <p:nvPr/>
        </p:nvSpPr>
        <p:spPr>
          <a:xfrm>
            <a:off x="4457700" y="1162050"/>
            <a:ext cx="325755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197565-E084-4384-8362-6DAD61F84623}"/>
              </a:ext>
            </a:extLst>
          </p:cNvPr>
          <p:cNvSpPr>
            <a:spLocks noGrp="1"/>
          </p:cNvSpPr>
          <p:nvPr/>
        </p:nvSpPr>
        <p:spPr>
          <a:xfrm>
            <a:off x="4457700" y="1162050"/>
            <a:ext cx="66675" cy="18097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0BD3E11-9577-4DC7-A2EC-C866AF2648EE}"/>
              </a:ext>
            </a:extLst>
          </p:cNvPr>
          <p:cNvSpPr>
            <a:spLocks noGrp="1"/>
          </p:cNvSpPr>
          <p:nvPr/>
        </p:nvSpPr>
        <p:spPr>
          <a:xfrm>
            <a:off x="4648200" y="1333500"/>
            <a:ext cx="2914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Resposta do AC-IoT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6BB8B1-1BEF-4567-A183-6FAEC7E3D8BC}"/>
              </a:ext>
            </a:extLst>
          </p:cNvPr>
          <p:cNvSpPr>
            <a:spLocks noGrp="1"/>
          </p:cNvSpPr>
          <p:nvPr/>
        </p:nvSpPr>
        <p:spPr>
          <a:xfrm>
            <a:off x="4648200" y="1657350"/>
            <a:ext cx="29146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Um cockpit monitora 1.000 salas, agrupa blocos, mostra alertas e envia comandos por MQTT para salas, blocos ou filtros.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648BF2-5E14-4D9A-B4AD-6DAB759364C0}"/>
              </a:ext>
            </a:extLst>
          </p:cNvPr>
          <p:cNvSpPr>
            <a:spLocks noGrp="1"/>
          </p:cNvSpPr>
          <p:nvPr/>
        </p:nvSpPr>
        <p:spPr>
          <a:xfrm>
            <a:off x="8324850" y="1162050"/>
            <a:ext cx="325755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DDA3D5-9CE8-407F-9F72-CBE42DEF2C42}"/>
              </a:ext>
            </a:extLst>
          </p:cNvPr>
          <p:cNvSpPr>
            <a:spLocks noGrp="1"/>
          </p:cNvSpPr>
          <p:nvPr/>
        </p:nvSpPr>
        <p:spPr>
          <a:xfrm>
            <a:off x="8324850" y="1162050"/>
            <a:ext cx="66675" cy="18097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1D596F-0C43-42CB-9F02-BCBBA94DB051}"/>
              </a:ext>
            </a:extLst>
          </p:cNvPr>
          <p:cNvSpPr>
            <a:spLocks noGrp="1"/>
          </p:cNvSpPr>
          <p:nvPr/>
        </p:nvSpPr>
        <p:spPr>
          <a:xfrm>
            <a:off x="8515350" y="1333500"/>
            <a:ext cx="29146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Valor da integracao IC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0AB619-69F4-4541-A5CB-2EF7A976F39A}"/>
              </a:ext>
            </a:extLst>
          </p:cNvPr>
          <p:cNvSpPr>
            <a:spLocks noGrp="1"/>
          </p:cNvSpPr>
          <p:nvPr/>
        </p:nvSpPr>
        <p:spPr>
          <a:xfrm>
            <a:off x="8515350" y="1657350"/>
            <a:ext cx="2914650" cy="1219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 bridge publica dados no InterSCity para interoperabilidade urbana e consulta externa do historico de telemetria.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63EB0C-662B-48C8-A442-C30878B3A95B}"/>
              </a:ext>
            </a:extLst>
          </p:cNvPr>
          <p:cNvSpPr>
            <a:spLocks noGrp="1"/>
          </p:cNvSpPr>
          <p:nvPr/>
        </p:nvSpPr>
        <p:spPr>
          <a:xfrm>
            <a:off x="666750" y="3638550"/>
            <a:ext cx="3619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Principios do desenho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E07C8C5-4372-4EAC-B270-34880313E13E}"/>
              </a:ext>
            </a:extLst>
          </p:cNvPr>
          <p:cNvSpPr>
            <a:spLocks noGrp="1"/>
          </p:cNvSpPr>
          <p:nvPr/>
        </p:nvSpPr>
        <p:spPr>
          <a:xfrm>
            <a:off x="742950" y="4133850"/>
            <a:ext cx="123825" cy="123825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375D48-7A35-440B-BC7F-61FF0B4641E5}"/>
              </a:ext>
            </a:extLst>
          </p:cNvPr>
          <p:cNvSpPr>
            <a:spLocks noGrp="1"/>
          </p:cNvSpPr>
          <p:nvPr/>
        </p:nvSpPr>
        <p:spPr>
          <a:xfrm>
            <a:off x="971550" y="4095750"/>
            <a:ext cx="5105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Tempo real local via MQTT e WebSocket.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DDD2B77-03B6-4F6B-BA15-EF14806E9FC8}"/>
              </a:ext>
            </a:extLst>
          </p:cNvPr>
          <p:cNvSpPr>
            <a:spLocks noGrp="1"/>
          </p:cNvSpPr>
          <p:nvPr/>
        </p:nvSpPr>
        <p:spPr>
          <a:xfrm>
            <a:off x="742950" y="4591050"/>
            <a:ext cx="123825" cy="123825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2766AE3-8720-40E1-9AE6-640EA921603C}"/>
              </a:ext>
            </a:extLst>
          </p:cNvPr>
          <p:cNvSpPr>
            <a:spLocks noGrp="1"/>
          </p:cNvSpPr>
          <p:nvPr/>
        </p:nvSpPr>
        <p:spPr>
          <a:xfrm>
            <a:off x="971550" y="4552950"/>
            <a:ext cx="5105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Automacao por presenca, temperatura, setpoint e sala vazia.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6DD9A41B-1160-4FF1-92D2-2634D23A8B8F}"/>
              </a:ext>
            </a:extLst>
          </p:cNvPr>
          <p:cNvSpPr>
            <a:spLocks noGrp="1"/>
          </p:cNvSpPr>
          <p:nvPr/>
        </p:nvSpPr>
        <p:spPr>
          <a:xfrm>
            <a:off x="742950" y="5048250"/>
            <a:ext cx="123825" cy="123825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DCB5233-42A6-4722-94E8-A42ABC98E628}"/>
              </a:ext>
            </a:extLst>
          </p:cNvPr>
          <p:cNvSpPr>
            <a:spLocks noGrp="1"/>
          </p:cNvSpPr>
          <p:nvPr/>
        </p:nvSpPr>
        <p:spPr>
          <a:xfrm>
            <a:off x="971550" y="5010150"/>
            <a:ext cx="5105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Comandos em massa com escopo controlado.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B02148B-EFE9-411F-893C-BDF824FB3A1F}"/>
              </a:ext>
            </a:extLst>
          </p:cNvPr>
          <p:cNvSpPr>
            <a:spLocks noGrp="1"/>
          </p:cNvSpPr>
          <p:nvPr/>
        </p:nvSpPr>
        <p:spPr>
          <a:xfrm>
            <a:off x="742950" y="5505450"/>
            <a:ext cx="123825" cy="123825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8B2650F-C174-4817-BBE6-F0356B2582A5}"/>
              </a:ext>
            </a:extLst>
          </p:cNvPr>
          <p:cNvSpPr>
            <a:spLocks noGrp="1"/>
          </p:cNvSpPr>
          <p:nvPr/>
        </p:nvSpPr>
        <p:spPr>
          <a:xfrm>
            <a:off x="971550" y="5467350"/>
            <a:ext cx="5105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Transparencia do estado InterSCity: OK, instavel ou sem resposta.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8134F6-432A-4999-AB97-8AD6367F7248}"/>
              </a:ext>
            </a:extLst>
          </p:cNvPr>
          <p:cNvSpPr>
            <a:spLocks noGrp="1"/>
          </p:cNvSpPr>
          <p:nvPr/>
        </p:nvSpPr>
        <p:spPr>
          <a:xfrm>
            <a:off x="7000875" y="3695700"/>
            <a:ext cx="4095750" cy="18097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4BBC26-2D94-47FF-AB89-12AA6EF3982F}"/>
              </a:ext>
            </a:extLst>
          </p:cNvPr>
          <p:cNvSpPr>
            <a:spLocks noGrp="1"/>
          </p:cNvSpPr>
          <p:nvPr/>
        </p:nvSpPr>
        <p:spPr>
          <a:xfrm>
            <a:off x="7296150" y="4000500"/>
            <a:ext cx="35242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Tese do sistema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466FB9D-FF27-4DD3-ACC6-84259F87B317}"/>
              </a:ext>
            </a:extLst>
          </p:cNvPr>
          <p:cNvSpPr>
            <a:spLocks noGrp="1"/>
          </p:cNvSpPr>
          <p:nvPr/>
        </p:nvSpPr>
        <p:spPr>
          <a:xfrm>
            <a:off x="7410450" y="4476750"/>
            <a:ext cx="32956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 AC-IoT UFMA ja opera como plataforma distribuida local; a integracao externa depende da disponibilidade atual do InterSCity.</a:t>
            </a:r>
          </a:p>
        </p:txBody>
      </p:sp>
    </p:spTree>
    <p:extLst>
      <p:ext uri="{BB962C8B-B14F-4D97-AF65-F5344CB8AC3E}">
        <p14:creationId xmlns:p14="http://schemas.microsoft.com/office/powerpoint/2010/main" val="1169596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A03D188C-E6EF-4FCA-AAAC-56A514BB2BC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2CF4C14-CAC7-4A56-96B9-4EC267D89C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2E4904-2C25-484D-B7CF-0FB6E14A55FB}"/>
              </a:ext>
            </a:extLst>
          </p:cNvPr>
          <p:cNvSpPr>
            <a:spLocks noGrp="1"/>
          </p:cNvSpPr>
          <p:nvPr/>
        </p:nvSpPr>
        <p:spPr>
          <a:xfrm>
            <a:off x="514350" y="190500"/>
            <a:ext cx="2571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02 | Arquitetura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7F4BB8-0B6A-464C-AA0A-B817974220B2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723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Fluxo distribuido: sensores, broker, cockpit, bridge e InterSCity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6D4B56-DC45-459E-8DE0-4867871F149E}"/>
              </a:ext>
            </a:extLst>
          </p:cNvPr>
          <p:cNvSpPr>
            <a:spLocks noGrp="1"/>
          </p:cNvSpPr>
          <p:nvPr/>
        </p:nvSpPr>
        <p:spPr>
          <a:xfrm>
            <a:off x="7810500" y="285750"/>
            <a:ext cx="3810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1.000 salas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23969C-DA6C-492E-9023-5E9C081C4144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AC-IoT UFMA | Sistema distribuido IoT + InterSCity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F0A23A-1C8F-4E99-AB05-D649517CED3D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762125" cy="97155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F67A3F-6856-4A8F-8D17-2878D3D7D556}"/>
              </a:ext>
            </a:extLst>
          </p:cNvPr>
          <p:cNvSpPr>
            <a:spLocks noGrp="1"/>
          </p:cNvSpPr>
          <p:nvPr/>
        </p:nvSpPr>
        <p:spPr>
          <a:xfrm>
            <a:off x="800100" y="1562100"/>
            <a:ext cx="14954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Simulador C++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66CC1D-3C2C-4A34-A4D7-704A5B4B1C38}"/>
              </a:ext>
            </a:extLst>
          </p:cNvPr>
          <p:cNvSpPr>
            <a:spLocks noGrp="1"/>
          </p:cNvSpPr>
          <p:nvPr/>
        </p:nvSpPr>
        <p:spPr>
          <a:xfrm>
            <a:off x="800100" y="1838325"/>
            <a:ext cx="149542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1.000 salas</a:t>
            </a:r>
          </a:p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publicacao a cada 30 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00D8C3-A142-4837-850E-35E4237B4C6F}"/>
              </a:ext>
            </a:extLst>
          </p:cNvPr>
          <p:cNvSpPr>
            <a:spLocks noGrp="1"/>
          </p:cNvSpPr>
          <p:nvPr/>
        </p:nvSpPr>
        <p:spPr>
          <a:xfrm>
            <a:off x="3000375" y="1428750"/>
            <a:ext cx="1762125" cy="971550"/>
          </a:xfrm>
          <a:prstGeom prst="rect">
            <a:avLst/>
          </a:prstGeom>
          <a:solidFill>
            <a:srgbClr val="CCFBF1"/>
          </a:solidFill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6C804B-43D9-428A-BAA1-3EB82DE754D5}"/>
              </a:ext>
            </a:extLst>
          </p:cNvPr>
          <p:cNvSpPr>
            <a:spLocks noGrp="1"/>
          </p:cNvSpPr>
          <p:nvPr/>
        </p:nvSpPr>
        <p:spPr>
          <a:xfrm>
            <a:off x="3133725" y="1562100"/>
            <a:ext cx="14954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Mosquitto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01E8F5-EABF-4D43-B8C0-630F1552CE9D}"/>
              </a:ext>
            </a:extLst>
          </p:cNvPr>
          <p:cNvSpPr>
            <a:spLocks noGrp="1"/>
          </p:cNvSpPr>
          <p:nvPr/>
        </p:nvSpPr>
        <p:spPr>
          <a:xfrm>
            <a:off x="3133725" y="1838325"/>
            <a:ext cx="149542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broker MQTT</a:t>
            </a:r>
          </a:p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TCP 1883 / WS 9001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22A7FE-0ABA-4833-B17E-0B51EC018CB4}"/>
              </a:ext>
            </a:extLst>
          </p:cNvPr>
          <p:cNvSpPr>
            <a:spLocks noGrp="1"/>
          </p:cNvSpPr>
          <p:nvPr/>
        </p:nvSpPr>
        <p:spPr>
          <a:xfrm>
            <a:off x="5334000" y="1428750"/>
            <a:ext cx="1762125" cy="971550"/>
          </a:xfrm>
          <a:prstGeom prst="rect">
            <a:avLst/>
          </a:prstGeom>
          <a:solidFill>
            <a:srgbClr val="DCFCE7"/>
          </a:solidFill>
          <a:ln w="1524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915E5FB-FFD7-44C3-B9F7-619D2A20ECA0}"/>
              </a:ext>
            </a:extLst>
          </p:cNvPr>
          <p:cNvSpPr>
            <a:spLocks noGrp="1"/>
          </p:cNvSpPr>
          <p:nvPr/>
        </p:nvSpPr>
        <p:spPr>
          <a:xfrm>
            <a:off x="5467350" y="1562100"/>
            <a:ext cx="14954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Painel Web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540395E-2986-4B8C-8F67-002971302DDF}"/>
              </a:ext>
            </a:extLst>
          </p:cNvPr>
          <p:cNvSpPr>
            <a:spLocks noGrp="1"/>
          </p:cNvSpPr>
          <p:nvPr/>
        </p:nvSpPr>
        <p:spPr>
          <a:xfrm>
            <a:off x="5467350" y="1838325"/>
            <a:ext cx="149542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Nginx + WebSocket</a:t>
            </a:r>
          </a:p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operacao ao vivo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60DD5B-135B-49FA-BB54-7D7A9368001E}"/>
              </a:ext>
            </a:extLst>
          </p:cNvPr>
          <p:cNvSpPr>
            <a:spLocks noGrp="1"/>
          </p:cNvSpPr>
          <p:nvPr/>
        </p:nvSpPr>
        <p:spPr>
          <a:xfrm>
            <a:off x="3000375" y="3409950"/>
            <a:ext cx="1762125" cy="102870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D31BC0-391E-49E3-865D-5B632AA209C1}"/>
              </a:ext>
            </a:extLst>
          </p:cNvPr>
          <p:cNvSpPr>
            <a:spLocks noGrp="1"/>
          </p:cNvSpPr>
          <p:nvPr/>
        </p:nvSpPr>
        <p:spPr>
          <a:xfrm>
            <a:off x="3133725" y="3543300"/>
            <a:ext cx="14954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Bridge C++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20BC80-2486-4499-99B4-75C3D5E3F377}"/>
              </a:ext>
            </a:extLst>
          </p:cNvPr>
          <p:cNvSpPr>
            <a:spLocks noGrp="1"/>
          </p:cNvSpPr>
          <p:nvPr/>
        </p:nvSpPr>
        <p:spPr>
          <a:xfrm>
            <a:off x="3133725" y="3819525"/>
            <a:ext cx="1495425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8 workers HTTP</a:t>
            </a:r>
          </a:p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fila 20.000 itens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3777DC-A1AE-434B-A1B1-79131E621E5F}"/>
              </a:ext>
            </a:extLst>
          </p:cNvPr>
          <p:cNvSpPr>
            <a:spLocks noGrp="1"/>
          </p:cNvSpPr>
          <p:nvPr/>
        </p:nvSpPr>
        <p:spPr>
          <a:xfrm>
            <a:off x="5334000" y="3409950"/>
            <a:ext cx="1762125" cy="1028700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26C669F-6CDF-43B5-847E-0025D073EE08}"/>
              </a:ext>
            </a:extLst>
          </p:cNvPr>
          <p:cNvSpPr>
            <a:spLocks noGrp="1"/>
          </p:cNvSpPr>
          <p:nvPr/>
        </p:nvSpPr>
        <p:spPr>
          <a:xfrm>
            <a:off x="5467350" y="3543300"/>
            <a:ext cx="14954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InterSCity UFMA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8BEF7AC-903F-4F1F-9208-C41A0CC1D703}"/>
              </a:ext>
            </a:extLst>
          </p:cNvPr>
          <p:cNvSpPr>
            <a:spLocks noGrp="1"/>
          </p:cNvSpPr>
          <p:nvPr/>
        </p:nvSpPr>
        <p:spPr>
          <a:xfrm>
            <a:off x="5467350" y="3819525"/>
            <a:ext cx="1495425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catalog</a:t>
            </a:r>
          </a:p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adaptor</a:t>
            </a:r>
          </a:p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collector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359D4E0-96ED-4232-B924-B86DFFAA85CB}"/>
              </a:ext>
            </a:extLst>
          </p:cNvPr>
          <p:cNvSpPr>
            <a:spLocks noGrp="1"/>
          </p:cNvSpPr>
          <p:nvPr/>
        </p:nvSpPr>
        <p:spPr>
          <a:xfrm>
            <a:off x="8239125" y="2190750"/>
            <a:ext cx="2381250" cy="1047750"/>
          </a:xfrm>
          <a:prstGeom prst="rect">
            <a:avLst/>
          </a:prstGeom>
          <a:solidFill>
            <a:srgbClr val="FFFFFF"/>
          </a:solidFill>
          <a:ln w="1524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61CB79D-EB82-454B-901A-8CD7AA3BCD34}"/>
              </a:ext>
            </a:extLst>
          </p:cNvPr>
          <p:cNvSpPr>
            <a:spLocks noGrp="1"/>
          </p:cNvSpPr>
          <p:nvPr/>
        </p:nvSpPr>
        <p:spPr>
          <a:xfrm>
            <a:off x="8372475" y="2324100"/>
            <a:ext cx="2114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Operador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CAAB17F-EC7C-4DD0-B6E5-DB3186AB5F32}"/>
              </a:ext>
            </a:extLst>
          </p:cNvPr>
          <p:cNvSpPr>
            <a:spLocks noGrp="1"/>
          </p:cNvSpPr>
          <p:nvPr/>
        </p:nvSpPr>
        <p:spPr>
          <a:xfrm>
            <a:off x="8372475" y="2600325"/>
            <a:ext cx="21145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consulta sala</a:t>
            </a:r>
          </a:p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aplica comandos</a:t>
            </a:r>
          </a:p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analisa metricas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077FEE9-186C-4094-980E-6723F0898476}"/>
              </a:ext>
            </a:extLst>
          </p:cNvPr>
          <p:cNvSpPr>
            <a:spLocks noGrp="1"/>
          </p:cNvSpPr>
          <p:nvPr/>
        </p:nvSpPr>
        <p:spPr>
          <a:xfrm>
            <a:off x="2428875" y="1895475"/>
            <a:ext cx="5715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BCBD98-616E-451A-8F95-CB7248D2A126}"/>
              </a:ext>
            </a:extLst>
          </p:cNvPr>
          <p:cNvSpPr>
            <a:spLocks noGrp="1"/>
          </p:cNvSpPr>
          <p:nvPr/>
        </p:nvSpPr>
        <p:spPr>
          <a:xfrm>
            <a:off x="2867025" y="179070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64A9627-63AD-49A2-BAC7-BE79D31EA4F4}"/>
              </a:ext>
            </a:extLst>
          </p:cNvPr>
          <p:cNvSpPr>
            <a:spLocks noGrp="1"/>
          </p:cNvSpPr>
          <p:nvPr/>
        </p:nvSpPr>
        <p:spPr>
          <a:xfrm>
            <a:off x="4762500" y="1895475"/>
            <a:ext cx="571500" cy="381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33130B5-F261-467F-9E85-AE605ED097B8}"/>
              </a:ext>
            </a:extLst>
          </p:cNvPr>
          <p:cNvSpPr>
            <a:spLocks noGrp="1"/>
          </p:cNvSpPr>
          <p:nvPr/>
        </p:nvSpPr>
        <p:spPr>
          <a:xfrm>
            <a:off x="5200650" y="179070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027443-C5BD-4F9F-AF60-44F5E334D7CD}"/>
              </a:ext>
            </a:extLst>
          </p:cNvPr>
          <p:cNvSpPr>
            <a:spLocks noGrp="1"/>
          </p:cNvSpPr>
          <p:nvPr/>
        </p:nvSpPr>
        <p:spPr>
          <a:xfrm>
            <a:off x="3867150" y="2400300"/>
            <a:ext cx="38100" cy="10096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2891246-4E08-459E-A0E5-71AB669668B5}"/>
              </a:ext>
            </a:extLst>
          </p:cNvPr>
          <p:cNvSpPr>
            <a:spLocks noGrp="1"/>
          </p:cNvSpPr>
          <p:nvPr/>
        </p:nvSpPr>
        <p:spPr>
          <a:xfrm>
            <a:off x="3781425" y="3276600"/>
            <a:ext cx="209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1196D74-11D8-418C-B3A5-BE67EC0284AF}"/>
              </a:ext>
            </a:extLst>
          </p:cNvPr>
          <p:cNvSpPr>
            <a:spLocks noGrp="1"/>
          </p:cNvSpPr>
          <p:nvPr/>
        </p:nvSpPr>
        <p:spPr>
          <a:xfrm>
            <a:off x="4762500" y="3905250"/>
            <a:ext cx="571500" cy="381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FD997FC-B998-4EA2-AE0D-C43791FD0B6B}"/>
              </a:ext>
            </a:extLst>
          </p:cNvPr>
          <p:cNvSpPr>
            <a:spLocks noGrp="1"/>
          </p:cNvSpPr>
          <p:nvPr/>
        </p:nvSpPr>
        <p:spPr>
          <a:xfrm>
            <a:off x="5200650" y="38004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376134E-535E-4CC7-BCEC-C9609114EEE0}"/>
              </a:ext>
            </a:extLst>
          </p:cNvPr>
          <p:cNvSpPr>
            <a:spLocks noGrp="1"/>
          </p:cNvSpPr>
          <p:nvPr/>
        </p:nvSpPr>
        <p:spPr>
          <a:xfrm>
            <a:off x="7096125" y="2695575"/>
            <a:ext cx="1143000" cy="38100"/>
          </a:xfrm>
          <a:prstGeom prst="rect">
            <a:avLst/>
          </a:prstGeom>
          <a:solidFill>
            <a:srgbClr val="1580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2262D3A-054A-449D-936E-E25010A6F46A}"/>
              </a:ext>
            </a:extLst>
          </p:cNvPr>
          <p:cNvSpPr>
            <a:spLocks noGrp="1"/>
          </p:cNvSpPr>
          <p:nvPr/>
        </p:nvSpPr>
        <p:spPr>
          <a:xfrm>
            <a:off x="6962775" y="259080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&lt;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DE64A3F-A22F-4F12-909F-8EB599A35B15}"/>
              </a:ext>
            </a:extLst>
          </p:cNvPr>
          <p:cNvSpPr>
            <a:spLocks noGrp="1"/>
          </p:cNvSpPr>
          <p:nvPr/>
        </p:nvSpPr>
        <p:spPr>
          <a:xfrm>
            <a:off x="7096125" y="2876550"/>
            <a:ext cx="11430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50CDB70-BBE0-49B3-B997-1A596DCF700B}"/>
              </a:ext>
            </a:extLst>
          </p:cNvPr>
          <p:cNvSpPr>
            <a:spLocks noGrp="1"/>
          </p:cNvSpPr>
          <p:nvPr/>
        </p:nvSpPr>
        <p:spPr>
          <a:xfrm>
            <a:off x="6962775" y="27717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&lt;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1279BA5-593C-406E-8E71-6DE42EF02154}"/>
              </a:ext>
            </a:extLst>
          </p:cNvPr>
          <p:cNvSpPr>
            <a:spLocks noGrp="1"/>
          </p:cNvSpPr>
          <p:nvPr/>
        </p:nvSpPr>
        <p:spPr>
          <a:xfrm>
            <a:off x="800100" y="2628900"/>
            <a:ext cx="1428750" cy="285750"/>
          </a:xfrm>
          <a:prstGeom prst="rect">
            <a:avLst/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16E8286-8C2F-4A28-8D4A-C452CFB0E219}"/>
              </a:ext>
            </a:extLst>
          </p:cNvPr>
          <p:cNvSpPr>
            <a:spLocks noGrp="1"/>
          </p:cNvSpPr>
          <p:nvPr/>
        </p:nvSpPr>
        <p:spPr>
          <a:xfrm>
            <a:off x="895350" y="2695575"/>
            <a:ext cx="1238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ac-iot/+/sensores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B1A6F73-1718-4840-9A3A-B50CCD723AA6}"/>
              </a:ext>
            </a:extLst>
          </p:cNvPr>
          <p:cNvSpPr>
            <a:spLocks noGrp="1"/>
          </p:cNvSpPr>
          <p:nvPr/>
        </p:nvSpPr>
        <p:spPr>
          <a:xfrm>
            <a:off x="3086100" y="2628900"/>
            <a:ext cx="1428750" cy="285750"/>
          </a:xfrm>
          <a:prstGeom prst="rect">
            <a:avLst/>
          </a:prstGeom>
          <a:solidFill>
            <a:srgbClr val="CCFBF1"/>
          </a:solidFill>
          <a:ln w="9525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26E1B1B-77C1-4057-BB5C-AF6660EB89B6}"/>
              </a:ext>
            </a:extLst>
          </p:cNvPr>
          <p:cNvSpPr>
            <a:spLocks noGrp="1"/>
          </p:cNvSpPr>
          <p:nvPr/>
        </p:nvSpPr>
        <p:spPr>
          <a:xfrm>
            <a:off x="3181350" y="2695575"/>
            <a:ext cx="1238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MQTT WebSocket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350D301-7B60-4D6F-AE32-91F5631A8C1E}"/>
              </a:ext>
            </a:extLst>
          </p:cNvPr>
          <p:cNvSpPr>
            <a:spLocks noGrp="1"/>
          </p:cNvSpPr>
          <p:nvPr/>
        </p:nvSpPr>
        <p:spPr>
          <a:xfrm>
            <a:off x="3105150" y="4667250"/>
            <a:ext cx="1428750" cy="285750"/>
          </a:xfrm>
          <a:prstGeom prst="rect">
            <a:avLst/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063AA11-616D-451E-A3DC-1884ED5D2816}"/>
              </a:ext>
            </a:extLst>
          </p:cNvPr>
          <p:cNvSpPr>
            <a:spLocks noGrp="1"/>
          </p:cNvSpPr>
          <p:nvPr/>
        </p:nvSpPr>
        <p:spPr>
          <a:xfrm>
            <a:off x="3200400" y="4733925"/>
            <a:ext cx="1238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$share bridge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FB1892B-82FB-4A82-AADB-68448E356EED}"/>
              </a:ext>
            </a:extLst>
          </p:cNvPr>
          <p:cNvSpPr>
            <a:spLocks noGrp="1"/>
          </p:cNvSpPr>
          <p:nvPr/>
        </p:nvSpPr>
        <p:spPr>
          <a:xfrm>
            <a:off x="5448300" y="4667250"/>
            <a:ext cx="1428750" cy="28575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8C1CB041-3ADA-4B73-A5B0-20CACF32BE2F}"/>
              </a:ext>
            </a:extLst>
          </p:cNvPr>
          <p:cNvSpPr>
            <a:spLocks noGrp="1"/>
          </p:cNvSpPr>
          <p:nvPr/>
        </p:nvSpPr>
        <p:spPr>
          <a:xfrm>
            <a:off x="5543550" y="4733925"/>
            <a:ext cx="1238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HTTPS REST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4DD423E-EF3C-469C-8D25-152FBD4BC4E6}"/>
              </a:ext>
            </a:extLst>
          </p:cNvPr>
          <p:cNvSpPr>
            <a:spLocks noGrp="1"/>
          </p:cNvSpPr>
          <p:nvPr/>
        </p:nvSpPr>
        <p:spPr>
          <a:xfrm>
            <a:off x="723900" y="5429250"/>
            <a:ext cx="10382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4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A separacao em processos independentes permite evoluir simulacao, broker, bridge, painel e automacao sem acoplamento direto.</a:t>
            </a:r>
          </a:p>
        </p:txBody>
      </p:sp>
    </p:spTree>
    <p:extLst>
      <p:ext uri="{BB962C8B-B14F-4D97-AF65-F5344CB8AC3E}">
        <p14:creationId xmlns:p14="http://schemas.microsoft.com/office/powerpoint/2010/main" val="96471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8FF93C61-F69B-4434-8312-0E248E1EAF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B4BD8B-3217-4C80-8D03-A2C1E972AA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0809BA-3379-400C-BCD6-73E6FF01DAD4}"/>
              </a:ext>
            </a:extLst>
          </p:cNvPr>
          <p:cNvSpPr>
            <a:spLocks noGrp="1"/>
          </p:cNvSpPr>
          <p:nvPr/>
        </p:nvSpPr>
        <p:spPr>
          <a:xfrm>
            <a:off x="514350" y="190500"/>
            <a:ext cx="2571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03 | Comunicacao InterSCity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58FBD6-C0FB-4941-8DE9-E8B9CD347F93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723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A bridge traduz MQTT em chamadas REST para catalog, adaptor e collector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2A05D5-B04C-4AF6-87B7-2E63E661B8CE}"/>
              </a:ext>
            </a:extLst>
          </p:cNvPr>
          <p:cNvSpPr>
            <a:spLocks noGrp="1"/>
          </p:cNvSpPr>
          <p:nvPr/>
        </p:nvSpPr>
        <p:spPr>
          <a:xfrm>
            <a:off x="7810500" y="285750"/>
            <a:ext cx="3810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ponto de integracao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D371EA-B77B-41C0-81FA-2E620D61A5CF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AC-IoT UFMA | Sistema distribuido IoT + InterSCity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BB5B2C-A938-46D1-B652-E9779A267655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809750" cy="91440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0ACA5B-0742-44F7-B054-F42AD12CDBEB}"/>
              </a:ext>
            </a:extLst>
          </p:cNvPr>
          <p:cNvSpPr>
            <a:spLocks noGrp="1"/>
          </p:cNvSpPr>
          <p:nvPr/>
        </p:nvSpPr>
        <p:spPr>
          <a:xfrm>
            <a:off x="819150" y="165735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MQTT sensores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1D398D-0407-4329-BA71-B6BDF6914ECF}"/>
              </a:ext>
            </a:extLst>
          </p:cNvPr>
          <p:cNvSpPr>
            <a:spLocks noGrp="1"/>
          </p:cNvSpPr>
          <p:nvPr/>
        </p:nvSpPr>
        <p:spPr>
          <a:xfrm>
            <a:off x="819150" y="1933575"/>
            <a:ext cx="15430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payload por sala</a:t>
            </a:r>
          </a:p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ac-iot/+/sensores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A489EB-DE2A-407A-9960-4263D8048574}"/>
              </a:ext>
            </a:extLst>
          </p:cNvPr>
          <p:cNvSpPr>
            <a:spLocks noGrp="1"/>
          </p:cNvSpPr>
          <p:nvPr/>
        </p:nvSpPr>
        <p:spPr>
          <a:xfrm>
            <a:off x="3105150" y="1524000"/>
            <a:ext cx="2000250" cy="91440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0F62659-C40E-44F0-9F08-6CCFAB4D675B}"/>
              </a:ext>
            </a:extLst>
          </p:cNvPr>
          <p:cNvSpPr>
            <a:spLocks noGrp="1"/>
          </p:cNvSpPr>
          <p:nvPr/>
        </p:nvSpPr>
        <p:spPr>
          <a:xfrm>
            <a:off x="3238500" y="1657350"/>
            <a:ext cx="1733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Bridge C++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9F8DBB-CBC0-4B2C-BF94-2F11FE84A957}"/>
              </a:ext>
            </a:extLst>
          </p:cNvPr>
          <p:cNvSpPr>
            <a:spLocks noGrp="1"/>
          </p:cNvSpPr>
          <p:nvPr/>
        </p:nvSpPr>
        <p:spPr>
          <a:xfrm>
            <a:off x="3238500" y="1933575"/>
            <a:ext cx="17335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normaliza dados</a:t>
            </a:r>
          </a:p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UUID deterministico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71F383-7FC3-4FA4-A20F-665B158FCCE8}"/>
              </a:ext>
            </a:extLst>
          </p:cNvPr>
          <p:cNvSpPr>
            <a:spLocks noGrp="1"/>
          </p:cNvSpPr>
          <p:nvPr/>
        </p:nvSpPr>
        <p:spPr>
          <a:xfrm>
            <a:off x="5810250" y="1143000"/>
            <a:ext cx="2095500" cy="819150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D0C5B8-885A-4484-AB1D-37749D0E91C2}"/>
              </a:ext>
            </a:extLst>
          </p:cNvPr>
          <p:cNvSpPr>
            <a:spLocks noGrp="1"/>
          </p:cNvSpPr>
          <p:nvPr/>
        </p:nvSpPr>
        <p:spPr>
          <a:xfrm>
            <a:off x="5943600" y="1276350"/>
            <a:ext cx="1828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Catalog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2BDC061-FBE3-47B2-947D-0C3DE61677F5}"/>
              </a:ext>
            </a:extLst>
          </p:cNvPr>
          <p:cNvSpPr>
            <a:spLocks noGrp="1"/>
          </p:cNvSpPr>
          <p:nvPr/>
        </p:nvSpPr>
        <p:spPr>
          <a:xfrm>
            <a:off x="5943600" y="1552575"/>
            <a:ext cx="1828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capabilities</a:t>
            </a:r>
          </a:p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resources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7D230C7-DBA4-4FC8-AE3A-8C94B81D63BB}"/>
              </a:ext>
            </a:extLst>
          </p:cNvPr>
          <p:cNvSpPr>
            <a:spLocks noGrp="1"/>
          </p:cNvSpPr>
          <p:nvPr/>
        </p:nvSpPr>
        <p:spPr>
          <a:xfrm>
            <a:off x="5810250" y="2495550"/>
            <a:ext cx="2095500" cy="819150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7B4A8C-1DB0-4489-ADA4-EFFE11671AA2}"/>
              </a:ext>
            </a:extLst>
          </p:cNvPr>
          <p:cNvSpPr>
            <a:spLocks noGrp="1"/>
          </p:cNvSpPr>
          <p:nvPr/>
        </p:nvSpPr>
        <p:spPr>
          <a:xfrm>
            <a:off x="5943600" y="2628900"/>
            <a:ext cx="1828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Adaptor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B78C95-05B5-46A0-836D-F38AC4F6126C}"/>
              </a:ext>
            </a:extLst>
          </p:cNvPr>
          <p:cNvSpPr>
            <a:spLocks noGrp="1"/>
          </p:cNvSpPr>
          <p:nvPr/>
        </p:nvSpPr>
        <p:spPr>
          <a:xfrm>
            <a:off x="5943600" y="2905125"/>
            <a:ext cx="1828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POST data</a:t>
            </a:r>
          </a:p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telemetria atual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B51212-6C70-440E-AFA6-501A54A36CA7}"/>
              </a:ext>
            </a:extLst>
          </p:cNvPr>
          <p:cNvSpPr>
            <a:spLocks noGrp="1"/>
          </p:cNvSpPr>
          <p:nvPr/>
        </p:nvSpPr>
        <p:spPr>
          <a:xfrm>
            <a:off x="5810250" y="3848100"/>
            <a:ext cx="2095500" cy="819150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59C24B7-1AF0-426F-A495-359A1AD54D7E}"/>
              </a:ext>
            </a:extLst>
          </p:cNvPr>
          <p:cNvSpPr>
            <a:spLocks noGrp="1"/>
          </p:cNvSpPr>
          <p:nvPr/>
        </p:nvSpPr>
        <p:spPr>
          <a:xfrm>
            <a:off x="5943600" y="3981450"/>
            <a:ext cx="1828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Collector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3FE3A8-555A-46CE-AE0E-022FF861C54F}"/>
              </a:ext>
            </a:extLst>
          </p:cNvPr>
          <p:cNvSpPr>
            <a:spLocks noGrp="1"/>
          </p:cNvSpPr>
          <p:nvPr/>
        </p:nvSpPr>
        <p:spPr>
          <a:xfrm>
            <a:off x="5943600" y="4257675"/>
            <a:ext cx="18288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GET data/last</a:t>
            </a:r>
          </a:p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consulta do operador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C50AB9-C72F-4B70-90F2-E4E61C5B16B6}"/>
              </a:ext>
            </a:extLst>
          </p:cNvPr>
          <p:cNvSpPr>
            <a:spLocks noGrp="1"/>
          </p:cNvSpPr>
          <p:nvPr/>
        </p:nvSpPr>
        <p:spPr>
          <a:xfrm>
            <a:off x="2495550" y="1962150"/>
            <a:ext cx="6096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FEDF32-3DBB-4DB2-AAF7-BC92EB491359}"/>
              </a:ext>
            </a:extLst>
          </p:cNvPr>
          <p:cNvSpPr>
            <a:spLocks noGrp="1"/>
          </p:cNvSpPr>
          <p:nvPr/>
        </p:nvSpPr>
        <p:spPr>
          <a:xfrm>
            <a:off x="2971800" y="18573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C52C056-BBD7-4242-B09F-B8FF568C0B99}"/>
              </a:ext>
            </a:extLst>
          </p:cNvPr>
          <p:cNvSpPr>
            <a:spLocks noGrp="1"/>
          </p:cNvSpPr>
          <p:nvPr/>
        </p:nvSpPr>
        <p:spPr>
          <a:xfrm>
            <a:off x="5105400" y="1962150"/>
            <a:ext cx="400050" cy="381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7697C0-A005-4041-9250-5EFF6C9E7086}"/>
              </a:ext>
            </a:extLst>
          </p:cNvPr>
          <p:cNvSpPr>
            <a:spLocks noGrp="1"/>
          </p:cNvSpPr>
          <p:nvPr/>
        </p:nvSpPr>
        <p:spPr>
          <a:xfrm>
            <a:off x="5486400" y="1552575"/>
            <a:ext cx="38100" cy="27051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AFC66DB-33FD-464F-8889-421E57AF214A}"/>
              </a:ext>
            </a:extLst>
          </p:cNvPr>
          <p:cNvSpPr>
            <a:spLocks noGrp="1"/>
          </p:cNvSpPr>
          <p:nvPr/>
        </p:nvSpPr>
        <p:spPr>
          <a:xfrm>
            <a:off x="5486400" y="1533525"/>
            <a:ext cx="323850" cy="381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4C4F90C-35FE-4B2B-A43A-5A838F13653E}"/>
              </a:ext>
            </a:extLst>
          </p:cNvPr>
          <p:cNvSpPr>
            <a:spLocks noGrp="1"/>
          </p:cNvSpPr>
          <p:nvPr/>
        </p:nvSpPr>
        <p:spPr>
          <a:xfrm>
            <a:off x="5676900" y="14287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79E6622-E7F2-431B-B7CF-7FDBA8B68DBA}"/>
              </a:ext>
            </a:extLst>
          </p:cNvPr>
          <p:cNvSpPr>
            <a:spLocks noGrp="1"/>
          </p:cNvSpPr>
          <p:nvPr/>
        </p:nvSpPr>
        <p:spPr>
          <a:xfrm>
            <a:off x="5486400" y="2886075"/>
            <a:ext cx="323850" cy="381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5EF11CB-4F1E-4198-9230-01CD78A6D93C}"/>
              </a:ext>
            </a:extLst>
          </p:cNvPr>
          <p:cNvSpPr>
            <a:spLocks noGrp="1"/>
          </p:cNvSpPr>
          <p:nvPr/>
        </p:nvSpPr>
        <p:spPr>
          <a:xfrm>
            <a:off x="5676900" y="278130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BE38E7-1F80-47C6-85CB-8B248A16DB26}"/>
              </a:ext>
            </a:extLst>
          </p:cNvPr>
          <p:cNvSpPr>
            <a:spLocks noGrp="1"/>
          </p:cNvSpPr>
          <p:nvPr/>
        </p:nvSpPr>
        <p:spPr>
          <a:xfrm>
            <a:off x="5486400" y="4238625"/>
            <a:ext cx="323850" cy="381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1CCE7A-BD88-474B-9D8A-B2BB5FF5D5E3}"/>
              </a:ext>
            </a:extLst>
          </p:cNvPr>
          <p:cNvSpPr>
            <a:spLocks noGrp="1"/>
          </p:cNvSpPr>
          <p:nvPr/>
        </p:nvSpPr>
        <p:spPr>
          <a:xfrm>
            <a:off x="5676900" y="413385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EE09305-4F2B-4DF6-8A73-174D2C8BF61F}"/>
              </a:ext>
            </a:extLst>
          </p:cNvPr>
          <p:cNvSpPr>
            <a:spLocks noGrp="1"/>
          </p:cNvSpPr>
          <p:nvPr/>
        </p:nvSpPr>
        <p:spPr>
          <a:xfrm>
            <a:off x="8591550" y="1333500"/>
            <a:ext cx="260985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081AC55-A982-4B2C-A336-46B108EF48E2}"/>
              </a:ext>
            </a:extLst>
          </p:cNvPr>
          <p:cNvSpPr>
            <a:spLocks noGrp="1"/>
          </p:cNvSpPr>
          <p:nvPr/>
        </p:nvSpPr>
        <p:spPr>
          <a:xfrm>
            <a:off x="8591550" y="1333500"/>
            <a:ext cx="66675" cy="120015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9D87537-BE83-4D77-939F-381D0E5DCE28}"/>
              </a:ext>
            </a:extLst>
          </p:cNvPr>
          <p:cNvSpPr>
            <a:spLocks noGrp="1"/>
          </p:cNvSpPr>
          <p:nvPr/>
        </p:nvSpPr>
        <p:spPr>
          <a:xfrm>
            <a:off x="8782050" y="150495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Controle de carga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A5D9B3A-379F-487A-B121-9DCB3C91F96C}"/>
              </a:ext>
            </a:extLst>
          </p:cNvPr>
          <p:cNvSpPr>
            <a:spLocks noGrp="1"/>
          </p:cNvSpPr>
          <p:nvPr/>
        </p:nvSpPr>
        <p:spPr>
          <a:xfrm>
            <a:off x="8782050" y="1828800"/>
            <a:ext cx="22669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8 workers HTTP</a:t>
            </a:r>
          </a:p>
          <a:p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rate limit 20 req/s</a:t>
            </a:r>
          </a:p>
          <a:p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retry em falhas 5xx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FAAD93E-C76C-4557-9FBF-5ADEC27F49C8}"/>
              </a:ext>
            </a:extLst>
          </p:cNvPr>
          <p:cNvSpPr>
            <a:spLocks noGrp="1"/>
          </p:cNvSpPr>
          <p:nvPr/>
        </p:nvSpPr>
        <p:spPr>
          <a:xfrm>
            <a:off x="8591550" y="2895600"/>
            <a:ext cx="2609850" cy="12001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CEB698D-86DF-4FEF-99F7-5D5D375D290E}"/>
              </a:ext>
            </a:extLst>
          </p:cNvPr>
          <p:cNvSpPr>
            <a:spLocks noGrp="1"/>
          </p:cNvSpPr>
          <p:nvPr/>
        </p:nvSpPr>
        <p:spPr>
          <a:xfrm>
            <a:off x="8591550" y="2895600"/>
            <a:ext cx="66675" cy="12001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2706B95-F9C6-4061-B771-CB62E65FAF3C}"/>
              </a:ext>
            </a:extLst>
          </p:cNvPr>
          <p:cNvSpPr>
            <a:spLocks noGrp="1"/>
          </p:cNvSpPr>
          <p:nvPr/>
        </p:nvSpPr>
        <p:spPr>
          <a:xfrm>
            <a:off x="8782050" y="306705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Observabilidade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82ABDAF-1385-4B82-815B-D7DF006A4628}"/>
              </a:ext>
            </a:extLst>
          </p:cNvPr>
          <p:cNvSpPr>
            <a:spLocks noGrp="1"/>
          </p:cNvSpPr>
          <p:nvPr/>
        </p:nvSpPr>
        <p:spPr>
          <a:xfrm>
            <a:off x="8782050" y="3390900"/>
            <a:ext cx="22669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metricas no topico</a:t>
            </a:r>
          </a:p>
          <a:p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ac-iot/system/bridge_metrics</a:t>
            </a:r>
          </a:p>
          <a:p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consumidas pelo dashboard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512CB39-1EF4-41D6-8C80-354D137E9C97}"/>
              </a:ext>
            </a:extLst>
          </p:cNvPr>
          <p:cNvSpPr>
            <a:spLocks noGrp="1"/>
          </p:cNvSpPr>
          <p:nvPr/>
        </p:nvSpPr>
        <p:spPr>
          <a:xfrm>
            <a:off x="8591550" y="4457700"/>
            <a:ext cx="260985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FADB3F9-3BC7-4233-BFC2-0AE171B0C3AA}"/>
              </a:ext>
            </a:extLst>
          </p:cNvPr>
          <p:cNvSpPr>
            <a:spLocks noGrp="1"/>
          </p:cNvSpPr>
          <p:nvPr/>
        </p:nvSpPr>
        <p:spPr>
          <a:xfrm>
            <a:off x="8591550" y="4457700"/>
            <a:ext cx="66675" cy="8763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BCA94C4F-4DD1-49C8-8BFB-14AFED8DA034}"/>
              </a:ext>
            </a:extLst>
          </p:cNvPr>
          <p:cNvSpPr>
            <a:spLocks noGrp="1"/>
          </p:cNvSpPr>
          <p:nvPr/>
        </p:nvSpPr>
        <p:spPr>
          <a:xfrm>
            <a:off x="8782050" y="462915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Estado visual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57DC6FC-DC46-4B56-AE8D-3EC15C68561A}"/>
              </a:ext>
            </a:extLst>
          </p:cNvPr>
          <p:cNvSpPr>
            <a:spLocks noGrp="1"/>
          </p:cNvSpPr>
          <p:nvPr/>
        </p:nvSpPr>
        <p:spPr>
          <a:xfrm>
            <a:off x="8782050" y="4953000"/>
            <a:ext cx="22669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verde = sucesso atual</a:t>
            </a:r>
          </a:p>
          <a:p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amarelo = instavel</a:t>
            </a:r>
          </a:p>
          <a:p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cinza = sem metrica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9098084-BAD6-44F7-9E75-07001838FB18}"/>
              </a:ext>
            </a:extLst>
          </p:cNvPr>
          <p:cNvSpPr>
            <a:spLocks noGrp="1"/>
          </p:cNvSpPr>
          <p:nvPr/>
        </p:nvSpPr>
        <p:spPr>
          <a:xfrm>
            <a:off x="704850" y="5334000"/>
            <a:ext cx="6858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A integracao nao bloqueia o MQTT: quando o InterSCity oscila, o sistema local continua operando e a bridge tenta retomar.</a:t>
            </a:r>
          </a:p>
        </p:txBody>
      </p:sp>
    </p:spTree>
    <p:extLst>
      <p:ext uri="{BB962C8B-B14F-4D97-AF65-F5344CB8AC3E}">
        <p14:creationId xmlns:p14="http://schemas.microsoft.com/office/powerpoint/2010/main" val="537589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5C2666D2-5165-4803-8CA8-CC4A1551F3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C65A65-56D1-4194-99C8-39BB254299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2C52E6C-C756-4C9D-B00E-310A1C3613BE}"/>
              </a:ext>
            </a:extLst>
          </p:cNvPr>
          <p:cNvSpPr>
            <a:spLocks noGrp="1"/>
          </p:cNvSpPr>
          <p:nvPr/>
        </p:nvSpPr>
        <p:spPr>
          <a:xfrm>
            <a:off x="514350" y="190500"/>
            <a:ext cx="2571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04 | Painel operacional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24110B-FC36-4EC7-A349-13432EE4A952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723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Cockpit para operar salas, blocos e comandos em massa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38DB0A-0D1D-44C2-B3D2-BAA0297C2C9C}"/>
              </a:ext>
            </a:extLst>
          </p:cNvPr>
          <p:cNvSpPr>
            <a:spLocks noGrp="1"/>
          </p:cNvSpPr>
          <p:nvPr/>
        </p:nvSpPr>
        <p:spPr>
          <a:xfrm>
            <a:off x="7810500" y="285750"/>
            <a:ext cx="3810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web em tempo real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AE8146-6864-469F-8ECA-8BD9B012CC9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AC-IoT UFMA | Sistema distribuido IoT + InterSCity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2CF6F3-168F-41B9-BB4E-9A836B1F06D3}"/>
              </a:ext>
            </a:extLst>
          </p:cNvPr>
          <p:cNvSpPr>
            <a:spLocks noGrp="1"/>
          </p:cNvSpPr>
          <p:nvPr/>
        </p:nvSpPr>
        <p:spPr>
          <a:xfrm>
            <a:off x="590550" y="1162050"/>
            <a:ext cx="14287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7D3C93A-0231-4458-922C-992F3FB77F9A}"/>
              </a:ext>
            </a:extLst>
          </p:cNvPr>
          <p:cNvSpPr>
            <a:spLocks noGrp="1"/>
          </p:cNvSpPr>
          <p:nvPr/>
        </p:nvSpPr>
        <p:spPr>
          <a:xfrm>
            <a:off x="742950" y="1304925"/>
            <a:ext cx="1123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1.000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51A91E-12EF-4FE8-A56B-447225FD979E}"/>
              </a:ext>
            </a:extLst>
          </p:cNvPr>
          <p:cNvSpPr>
            <a:spLocks noGrp="1"/>
          </p:cNvSpPr>
          <p:nvPr/>
        </p:nvSpPr>
        <p:spPr>
          <a:xfrm>
            <a:off x="742950" y="1647825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F7087"/>
                </a:solidFill>
                <a:latin typeface="Aptos"/>
                <a:ea typeface="Aptos"/>
                <a:cs typeface="Aptos"/>
              </a:rPr>
              <a:t>salas online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CE9360-64D2-4F2F-8763-FF3FF882DE03}"/>
              </a:ext>
            </a:extLst>
          </p:cNvPr>
          <p:cNvSpPr>
            <a:spLocks noGrp="1"/>
          </p:cNvSpPr>
          <p:nvPr/>
        </p:nvSpPr>
        <p:spPr>
          <a:xfrm>
            <a:off x="2190750" y="1162050"/>
            <a:ext cx="14287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B4695C7-7059-4B9F-BBF4-E55D16415DE0}"/>
              </a:ext>
            </a:extLst>
          </p:cNvPr>
          <p:cNvSpPr>
            <a:spLocks noGrp="1"/>
          </p:cNvSpPr>
          <p:nvPr/>
        </p:nvSpPr>
        <p:spPr>
          <a:xfrm>
            <a:off x="2343150" y="1304925"/>
            <a:ext cx="1123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BCD287-1C28-4698-AD89-5A925C7D0884}"/>
              </a:ext>
            </a:extLst>
          </p:cNvPr>
          <p:cNvSpPr>
            <a:spLocks noGrp="1"/>
          </p:cNvSpPr>
          <p:nvPr/>
        </p:nvSpPr>
        <p:spPr>
          <a:xfrm>
            <a:off x="2343150" y="1647825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F7087"/>
                </a:solidFill>
                <a:latin typeface="Aptos"/>
                <a:ea typeface="Aptos"/>
                <a:cs typeface="Aptos"/>
              </a:rPr>
              <a:t>blocos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B58008-3D01-4E13-88C0-5D69895E672D}"/>
              </a:ext>
            </a:extLst>
          </p:cNvPr>
          <p:cNvSpPr>
            <a:spLocks noGrp="1"/>
          </p:cNvSpPr>
          <p:nvPr/>
        </p:nvSpPr>
        <p:spPr>
          <a:xfrm>
            <a:off x="3790950" y="1162050"/>
            <a:ext cx="14287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3E8E1A-2844-471A-8207-B0A50ECECBBF}"/>
              </a:ext>
            </a:extLst>
          </p:cNvPr>
          <p:cNvSpPr>
            <a:spLocks noGrp="1"/>
          </p:cNvSpPr>
          <p:nvPr/>
        </p:nvSpPr>
        <p:spPr>
          <a:xfrm>
            <a:off x="3943350" y="1304925"/>
            <a:ext cx="1123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E921BC-70A4-4D21-839E-B75F3424AF9F}"/>
              </a:ext>
            </a:extLst>
          </p:cNvPr>
          <p:cNvSpPr>
            <a:spLocks noGrp="1"/>
          </p:cNvSpPr>
          <p:nvPr/>
        </p:nvSpPr>
        <p:spPr>
          <a:xfrm>
            <a:off x="3943350" y="1647825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F7087"/>
                </a:solidFill>
                <a:latin typeface="Aptos"/>
                <a:ea typeface="Aptos"/>
                <a:cs typeface="Aptos"/>
              </a:rPr>
              <a:t>salas/bloco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368155-1F3C-4F94-BF07-CAD7A04FD47F}"/>
              </a:ext>
            </a:extLst>
          </p:cNvPr>
          <p:cNvSpPr>
            <a:spLocks noGrp="1"/>
          </p:cNvSpPr>
          <p:nvPr/>
        </p:nvSpPr>
        <p:spPr>
          <a:xfrm>
            <a:off x="5391150" y="1162050"/>
            <a:ext cx="1428750" cy="9525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B783C0A-919B-4137-B48A-E538B0F0867E}"/>
              </a:ext>
            </a:extLst>
          </p:cNvPr>
          <p:cNvSpPr>
            <a:spLocks noGrp="1"/>
          </p:cNvSpPr>
          <p:nvPr/>
        </p:nvSpPr>
        <p:spPr>
          <a:xfrm>
            <a:off x="5543550" y="1304925"/>
            <a:ext cx="1123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3-5%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2AE4B8-D3C5-4CCD-8384-258FBE773D6F}"/>
              </a:ext>
            </a:extLst>
          </p:cNvPr>
          <p:cNvSpPr>
            <a:spLocks noGrp="1"/>
          </p:cNvSpPr>
          <p:nvPr/>
        </p:nvSpPr>
        <p:spPr>
          <a:xfrm>
            <a:off x="5543550" y="1647825"/>
            <a:ext cx="11239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F7087"/>
                </a:solidFill>
                <a:latin typeface="Aptos"/>
                <a:ea typeface="Aptos"/>
                <a:cs typeface="Aptos"/>
              </a:rPr>
              <a:t>temp critica alvo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8749A9-A276-4CB2-B6DC-B5CCB68406C4}"/>
              </a:ext>
            </a:extLst>
          </p:cNvPr>
          <p:cNvSpPr>
            <a:spLocks noGrp="1"/>
          </p:cNvSpPr>
          <p:nvPr/>
        </p:nvSpPr>
        <p:spPr>
          <a:xfrm>
            <a:off x="590550" y="2571750"/>
            <a:ext cx="6134100" cy="2762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9A24364-C702-4242-9B9A-CA6C8A3753E8}"/>
              </a:ext>
            </a:extLst>
          </p:cNvPr>
          <p:cNvSpPr>
            <a:spLocks noGrp="1"/>
          </p:cNvSpPr>
          <p:nvPr/>
        </p:nvSpPr>
        <p:spPr>
          <a:xfrm>
            <a:off x="819150" y="2781300"/>
            <a:ext cx="2667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Blocos Operacionais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146909-8E4C-47C0-9A32-103B75ED9E47}"/>
              </a:ext>
            </a:extLst>
          </p:cNvPr>
          <p:cNvSpPr>
            <a:spLocks noGrp="1"/>
          </p:cNvSpPr>
          <p:nvPr/>
        </p:nvSpPr>
        <p:spPr>
          <a:xfrm>
            <a:off x="819150" y="3238500"/>
            <a:ext cx="1200150" cy="419100"/>
          </a:xfrm>
          <a:prstGeom prst="rect">
            <a:avLst/>
          </a:prstGeom>
          <a:solidFill>
            <a:srgbClr val="DBEAFE"/>
          </a:solidFill>
          <a:ln w="14288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4FCE5D4-A8ED-4BDF-AE46-98EC719CDF8F}"/>
              </a:ext>
            </a:extLst>
          </p:cNvPr>
          <p:cNvSpPr>
            <a:spLocks noGrp="1"/>
          </p:cNvSpPr>
          <p:nvPr/>
        </p:nvSpPr>
        <p:spPr>
          <a:xfrm>
            <a:off x="914400" y="3314700"/>
            <a:ext cx="1009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B01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674D72-C3A1-4677-AE69-6BECD62BD7BD}"/>
              </a:ext>
            </a:extLst>
          </p:cNvPr>
          <p:cNvSpPr>
            <a:spLocks noGrp="1"/>
          </p:cNvSpPr>
          <p:nvPr/>
        </p:nvSpPr>
        <p:spPr>
          <a:xfrm>
            <a:off x="914400" y="3486150"/>
            <a:ext cx="1009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0 crit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B87E284-DCB2-4D22-9619-9AF691BF913A}"/>
              </a:ext>
            </a:extLst>
          </p:cNvPr>
          <p:cNvSpPr>
            <a:spLocks noGrp="1"/>
          </p:cNvSpPr>
          <p:nvPr/>
        </p:nvSpPr>
        <p:spPr>
          <a:xfrm>
            <a:off x="2209800" y="3238500"/>
            <a:ext cx="1200150" cy="419100"/>
          </a:xfrm>
          <a:prstGeom prst="rect">
            <a:avLst/>
          </a:prstGeom>
          <a:solidFill>
            <a:srgbClr val="DBEAFE"/>
          </a:solidFill>
          <a:ln w="14288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27C8CF-12F5-41D5-93E7-B07787768613}"/>
              </a:ext>
            </a:extLst>
          </p:cNvPr>
          <p:cNvSpPr>
            <a:spLocks noGrp="1"/>
          </p:cNvSpPr>
          <p:nvPr/>
        </p:nvSpPr>
        <p:spPr>
          <a:xfrm>
            <a:off x="2305050" y="3314700"/>
            <a:ext cx="1009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B02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5F1ED83-84CB-4A81-968B-C04788F5C40E}"/>
              </a:ext>
            </a:extLst>
          </p:cNvPr>
          <p:cNvSpPr>
            <a:spLocks noGrp="1"/>
          </p:cNvSpPr>
          <p:nvPr/>
        </p:nvSpPr>
        <p:spPr>
          <a:xfrm>
            <a:off x="2305050" y="3486150"/>
            <a:ext cx="1009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0 crit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E153F7B-AA02-4BB0-93DA-CA3DE462D622}"/>
              </a:ext>
            </a:extLst>
          </p:cNvPr>
          <p:cNvSpPr>
            <a:spLocks noGrp="1"/>
          </p:cNvSpPr>
          <p:nvPr/>
        </p:nvSpPr>
        <p:spPr>
          <a:xfrm>
            <a:off x="3600450" y="3238500"/>
            <a:ext cx="1200150" cy="419100"/>
          </a:xfrm>
          <a:prstGeom prst="rect">
            <a:avLst/>
          </a:prstGeom>
          <a:solidFill>
            <a:srgbClr val="FEE2E2"/>
          </a:solidFill>
          <a:ln w="14288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9CD398-B0C2-4142-91EF-D58470E65248}"/>
              </a:ext>
            </a:extLst>
          </p:cNvPr>
          <p:cNvSpPr>
            <a:spLocks noGrp="1"/>
          </p:cNvSpPr>
          <p:nvPr/>
        </p:nvSpPr>
        <p:spPr>
          <a:xfrm>
            <a:off x="3695700" y="3314700"/>
            <a:ext cx="1009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B03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B8A8C4D-312E-4D5D-895E-7B1A693E508B}"/>
              </a:ext>
            </a:extLst>
          </p:cNvPr>
          <p:cNvSpPr>
            <a:spLocks noGrp="1"/>
          </p:cNvSpPr>
          <p:nvPr/>
        </p:nvSpPr>
        <p:spPr>
          <a:xfrm>
            <a:off x="3695700" y="3486150"/>
            <a:ext cx="1009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1 crit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52812C8-1615-4D07-B2B1-38E077197A37}"/>
              </a:ext>
            </a:extLst>
          </p:cNvPr>
          <p:cNvSpPr>
            <a:spLocks noGrp="1"/>
          </p:cNvSpPr>
          <p:nvPr/>
        </p:nvSpPr>
        <p:spPr>
          <a:xfrm>
            <a:off x="4991100" y="3238500"/>
            <a:ext cx="1200150" cy="419100"/>
          </a:xfrm>
          <a:prstGeom prst="rect">
            <a:avLst/>
          </a:prstGeom>
          <a:solidFill>
            <a:srgbClr val="DBEAFE"/>
          </a:solidFill>
          <a:ln w="14288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AF63A8F-1277-407A-BC15-F0FE5C99A6C9}"/>
              </a:ext>
            </a:extLst>
          </p:cNvPr>
          <p:cNvSpPr>
            <a:spLocks noGrp="1"/>
          </p:cNvSpPr>
          <p:nvPr/>
        </p:nvSpPr>
        <p:spPr>
          <a:xfrm>
            <a:off x="5086350" y="3314700"/>
            <a:ext cx="1009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B04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3A3191A-8279-4DD2-8324-63C3C21735BC}"/>
              </a:ext>
            </a:extLst>
          </p:cNvPr>
          <p:cNvSpPr>
            <a:spLocks noGrp="1"/>
          </p:cNvSpPr>
          <p:nvPr/>
        </p:nvSpPr>
        <p:spPr>
          <a:xfrm>
            <a:off x="5086350" y="3486150"/>
            <a:ext cx="1009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0 crit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5ED399C-C925-4E41-AE0C-99A1F33ABA63}"/>
              </a:ext>
            </a:extLst>
          </p:cNvPr>
          <p:cNvSpPr>
            <a:spLocks noGrp="1"/>
          </p:cNvSpPr>
          <p:nvPr/>
        </p:nvSpPr>
        <p:spPr>
          <a:xfrm>
            <a:off x="819150" y="3829050"/>
            <a:ext cx="1200150" cy="419100"/>
          </a:xfrm>
          <a:prstGeom prst="rect">
            <a:avLst/>
          </a:prstGeom>
          <a:solidFill>
            <a:srgbClr val="DBEAFE"/>
          </a:solidFill>
          <a:ln w="14288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710360-58A3-4580-B78E-F4F03C9630B8}"/>
              </a:ext>
            </a:extLst>
          </p:cNvPr>
          <p:cNvSpPr>
            <a:spLocks noGrp="1"/>
          </p:cNvSpPr>
          <p:nvPr/>
        </p:nvSpPr>
        <p:spPr>
          <a:xfrm>
            <a:off x="914400" y="3905250"/>
            <a:ext cx="1009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B05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B69F8D9-D758-444E-90E3-958A126D8512}"/>
              </a:ext>
            </a:extLst>
          </p:cNvPr>
          <p:cNvSpPr>
            <a:spLocks noGrp="1"/>
          </p:cNvSpPr>
          <p:nvPr/>
        </p:nvSpPr>
        <p:spPr>
          <a:xfrm>
            <a:off x="914400" y="4076700"/>
            <a:ext cx="1009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0 crit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67AE40B-E1D2-4331-B2BC-F49C76560652}"/>
              </a:ext>
            </a:extLst>
          </p:cNvPr>
          <p:cNvSpPr>
            <a:spLocks noGrp="1"/>
          </p:cNvSpPr>
          <p:nvPr/>
        </p:nvSpPr>
        <p:spPr>
          <a:xfrm>
            <a:off x="2209800" y="3829050"/>
            <a:ext cx="1200150" cy="419100"/>
          </a:xfrm>
          <a:prstGeom prst="rect">
            <a:avLst/>
          </a:prstGeom>
          <a:solidFill>
            <a:srgbClr val="DBEAFE"/>
          </a:solidFill>
          <a:ln w="14288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B8D05A-88A1-47AC-B7BB-1BE591376DAB}"/>
              </a:ext>
            </a:extLst>
          </p:cNvPr>
          <p:cNvSpPr>
            <a:spLocks noGrp="1"/>
          </p:cNvSpPr>
          <p:nvPr/>
        </p:nvSpPr>
        <p:spPr>
          <a:xfrm>
            <a:off x="2305050" y="3905250"/>
            <a:ext cx="1009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B06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A2AFEAA-C03E-419B-A0AC-C67B7FB74EA9}"/>
              </a:ext>
            </a:extLst>
          </p:cNvPr>
          <p:cNvSpPr>
            <a:spLocks noGrp="1"/>
          </p:cNvSpPr>
          <p:nvPr/>
        </p:nvSpPr>
        <p:spPr>
          <a:xfrm>
            <a:off x="2305050" y="4076700"/>
            <a:ext cx="1009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0 crit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8618DA8-9A7D-4B52-9B4D-DBA36A38A162}"/>
              </a:ext>
            </a:extLst>
          </p:cNvPr>
          <p:cNvSpPr>
            <a:spLocks noGrp="1"/>
          </p:cNvSpPr>
          <p:nvPr/>
        </p:nvSpPr>
        <p:spPr>
          <a:xfrm>
            <a:off x="3600450" y="3829050"/>
            <a:ext cx="1200150" cy="419100"/>
          </a:xfrm>
          <a:prstGeom prst="rect">
            <a:avLst/>
          </a:prstGeom>
          <a:solidFill>
            <a:srgbClr val="DBEAFE"/>
          </a:solidFill>
          <a:ln w="14288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BF80505-FDBF-4CDE-A5D4-A7F58B4053B6}"/>
              </a:ext>
            </a:extLst>
          </p:cNvPr>
          <p:cNvSpPr>
            <a:spLocks noGrp="1"/>
          </p:cNvSpPr>
          <p:nvPr/>
        </p:nvSpPr>
        <p:spPr>
          <a:xfrm>
            <a:off x="3695700" y="3905250"/>
            <a:ext cx="1009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B07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E8D8F9B-2BD6-4102-8485-C92DF7249236}"/>
              </a:ext>
            </a:extLst>
          </p:cNvPr>
          <p:cNvSpPr>
            <a:spLocks noGrp="1"/>
          </p:cNvSpPr>
          <p:nvPr/>
        </p:nvSpPr>
        <p:spPr>
          <a:xfrm>
            <a:off x="3695700" y="4076700"/>
            <a:ext cx="1009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0 crit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4ACF19C-3989-45C4-B4B5-8CFA1DE6CAC9}"/>
              </a:ext>
            </a:extLst>
          </p:cNvPr>
          <p:cNvSpPr>
            <a:spLocks noGrp="1"/>
          </p:cNvSpPr>
          <p:nvPr/>
        </p:nvSpPr>
        <p:spPr>
          <a:xfrm>
            <a:off x="4991100" y="3829050"/>
            <a:ext cx="1200150" cy="419100"/>
          </a:xfrm>
          <a:prstGeom prst="rect">
            <a:avLst/>
          </a:prstGeom>
          <a:solidFill>
            <a:srgbClr val="FEE2E2"/>
          </a:solidFill>
          <a:ln w="14288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A48FCEB-B2E4-4D08-B6F8-9365C7676C3F}"/>
              </a:ext>
            </a:extLst>
          </p:cNvPr>
          <p:cNvSpPr>
            <a:spLocks noGrp="1"/>
          </p:cNvSpPr>
          <p:nvPr/>
        </p:nvSpPr>
        <p:spPr>
          <a:xfrm>
            <a:off x="5086350" y="3905250"/>
            <a:ext cx="1009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B08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663E417-767A-4DAF-AE16-971A8EB13CC8}"/>
              </a:ext>
            </a:extLst>
          </p:cNvPr>
          <p:cNvSpPr>
            <a:spLocks noGrp="1"/>
          </p:cNvSpPr>
          <p:nvPr/>
        </p:nvSpPr>
        <p:spPr>
          <a:xfrm>
            <a:off x="5086350" y="4076700"/>
            <a:ext cx="1009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1 crit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4BA3881-6522-4B2C-BC96-F076ED9A229D}"/>
              </a:ext>
            </a:extLst>
          </p:cNvPr>
          <p:cNvSpPr>
            <a:spLocks noGrp="1"/>
          </p:cNvSpPr>
          <p:nvPr/>
        </p:nvSpPr>
        <p:spPr>
          <a:xfrm>
            <a:off x="819150" y="4419600"/>
            <a:ext cx="1200150" cy="419100"/>
          </a:xfrm>
          <a:prstGeom prst="rect">
            <a:avLst/>
          </a:prstGeom>
          <a:solidFill>
            <a:srgbClr val="DBEAFE"/>
          </a:solidFill>
          <a:ln w="14288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C9ECE86-2843-4927-B0C6-148CF3EC42D5}"/>
              </a:ext>
            </a:extLst>
          </p:cNvPr>
          <p:cNvSpPr>
            <a:spLocks noGrp="1"/>
          </p:cNvSpPr>
          <p:nvPr/>
        </p:nvSpPr>
        <p:spPr>
          <a:xfrm>
            <a:off x="914400" y="4495800"/>
            <a:ext cx="1009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B09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28A6BA5-EF53-4EFE-96DF-4D2F39B491C5}"/>
              </a:ext>
            </a:extLst>
          </p:cNvPr>
          <p:cNvSpPr>
            <a:spLocks noGrp="1"/>
          </p:cNvSpPr>
          <p:nvPr/>
        </p:nvSpPr>
        <p:spPr>
          <a:xfrm>
            <a:off x="914400" y="4667250"/>
            <a:ext cx="1009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0 crit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34C648F-B6E2-4D39-9438-28692E05B83D}"/>
              </a:ext>
            </a:extLst>
          </p:cNvPr>
          <p:cNvSpPr>
            <a:spLocks noGrp="1"/>
          </p:cNvSpPr>
          <p:nvPr/>
        </p:nvSpPr>
        <p:spPr>
          <a:xfrm>
            <a:off x="2209800" y="4419600"/>
            <a:ext cx="1200150" cy="419100"/>
          </a:xfrm>
          <a:prstGeom prst="rect">
            <a:avLst/>
          </a:prstGeom>
          <a:solidFill>
            <a:srgbClr val="DBEAFE"/>
          </a:solidFill>
          <a:ln w="14288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D8AEAED-E625-417E-A3C2-FC19112BA269}"/>
              </a:ext>
            </a:extLst>
          </p:cNvPr>
          <p:cNvSpPr>
            <a:spLocks noGrp="1"/>
          </p:cNvSpPr>
          <p:nvPr/>
        </p:nvSpPr>
        <p:spPr>
          <a:xfrm>
            <a:off x="2305050" y="4495800"/>
            <a:ext cx="1009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B10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DF6C8FA-8333-429A-95A2-F8A0ED0A497A}"/>
              </a:ext>
            </a:extLst>
          </p:cNvPr>
          <p:cNvSpPr>
            <a:spLocks noGrp="1"/>
          </p:cNvSpPr>
          <p:nvPr/>
        </p:nvSpPr>
        <p:spPr>
          <a:xfrm>
            <a:off x="2305050" y="4667250"/>
            <a:ext cx="1009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0 crit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BEFD59A-0B6C-4D5F-8B4E-52198C3829E0}"/>
              </a:ext>
            </a:extLst>
          </p:cNvPr>
          <p:cNvSpPr>
            <a:spLocks noGrp="1"/>
          </p:cNvSpPr>
          <p:nvPr/>
        </p:nvSpPr>
        <p:spPr>
          <a:xfrm>
            <a:off x="3600450" y="4419600"/>
            <a:ext cx="1200150" cy="419100"/>
          </a:xfrm>
          <a:prstGeom prst="rect">
            <a:avLst/>
          </a:prstGeom>
          <a:solidFill>
            <a:srgbClr val="DBEAFE"/>
          </a:solidFill>
          <a:ln w="14288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0B95F7E-1E94-49BE-B8BE-1A98A6DF5E6F}"/>
              </a:ext>
            </a:extLst>
          </p:cNvPr>
          <p:cNvSpPr>
            <a:spLocks noGrp="1"/>
          </p:cNvSpPr>
          <p:nvPr/>
        </p:nvSpPr>
        <p:spPr>
          <a:xfrm>
            <a:off x="3695700" y="4495800"/>
            <a:ext cx="1009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B11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1D7DFF0-7952-44CE-A6BF-08C070CE794E}"/>
              </a:ext>
            </a:extLst>
          </p:cNvPr>
          <p:cNvSpPr>
            <a:spLocks noGrp="1"/>
          </p:cNvSpPr>
          <p:nvPr/>
        </p:nvSpPr>
        <p:spPr>
          <a:xfrm>
            <a:off x="3695700" y="4667250"/>
            <a:ext cx="1009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0 crit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46BC906-4354-40BF-BDD8-721222244BAE}"/>
              </a:ext>
            </a:extLst>
          </p:cNvPr>
          <p:cNvSpPr>
            <a:spLocks noGrp="1"/>
          </p:cNvSpPr>
          <p:nvPr/>
        </p:nvSpPr>
        <p:spPr>
          <a:xfrm>
            <a:off x="4991100" y="4419600"/>
            <a:ext cx="1200150" cy="419100"/>
          </a:xfrm>
          <a:prstGeom prst="rect">
            <a:avLst/>
          </a:prstGeom>
          <a:solidFill>
            <a:srgbClr val="DBEAFE"/>
          </a:solidFill>
          <a:ln w="14288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257746C-7446-47A7-94EA-E55949EBE5F8}"/>
              </a:ext>
            </a:extLst>
          </p:cNvPr>
          <p:cNvSpPr>
            <a:spLocks noGrp="1"/>
          </p:cNvSpPr>
          <p:nvPr/>
        </p:nvSpPr>
        <p:spPr>
          <a:xfrm>
            <a:off x="5086350" y="4495800"/>
            <a:ext cx="10096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B12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373A0B9-DFFA-4FE0-BF27-8F6DBEAEAD6D}"/>
              </a:ext>
            </a:extLst>
          </p:cNvPr>
          <p:cNvSpPr>
            <a:spLocks noGrp="1"/>
          </p:cNvSpPr>
          <p:nvPr/>
        </p:nvSpPr>
        <p:spPr>
          <a:xfrm>
            <a:off x="5086350" y="4667250"/>
            <a:ext cx="10096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0 crit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2F654A94-1986-4E87-A31D-667F8FC16065}"/>
              </a:ext>
            </a:extLst>
          </p:cNvPr>
          <p:cNvSpPr>
            <a:spLocks noGrp="1"/>
          </p:cNvSpPr>
          <p:nvPr/>
        </p:nvSpPr>
        <p:spPr>
          <a:xfrm>
            <a:off x="7239000" y="1200150"/>
            <a:ext cx="37147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8284036E-48DD-4145-A1C6-9C3023609B50}"/>
              </a:ext>
            </a:extLst>
          </p:cNvPr>
          <p:cNvSpPr>
            <a:spLocks noGrp="1"/>
          </p:cNvSpPr>
          <p:nvPr/>
        </p:nvSpPr>
        <p:spPr>
          <a:xfrm>
            <a:off x="7239000" y="1200150"/>
            <a:ext cx="66675" cy="1143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F8AC8E7-5C4B-4EFC-9789-81FA8E0EC983}"/>
              </a:ext>
            </a:extLst>
          </p:cNvPr>
          <p:cNvSpPr>
            <a:spLocks noGrp="1"/>
          </p:cNvSpPr>
          <p:nvPr/>
        </p:nvSpPr>
        <p:spPr>
          <a:xfrm>
            <a:off x="7429500" y="1371600"/>
            <a:ext cx="3371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Telemetria ao vivo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18E02498-7D2D-418D-8304-2542F4C36912}"/>
              </a:ext>
            </a:extLst>
          </p:cNvPr>
          <p:cNvSpPr>
            <a:spLocks noGrp="1"/>
          </p:cNvSpPr>
          <p:nvPr/>
        </p:nvSpPr>
        <p:spPr>
          <a:xfrm>
            <a:off x="7429500" y="1695450"/>
            <a:ext cx="33718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Busca por sala/bloco, filtros por estado, heartbeat, presenca, AC, luz e temperatura critica.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8DBD64E2-EF7D-482E-9925-62A1B461B491}"/>
              </a:ext>
            </a:extLst>
          </p:cNvPr>
          <p:cNvSpPr>
            <a:spLocks noGrp="1"/>
          </p:cNvSpPr>
          <p:nvPr/>
        </p:nvSpPr>
        <p:spPr>
          <a:xfrm>
            <a:off x="7239000" y="2647950"/>
            <a:ext cx="37147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DA2153D5-ACDB-4435-B7D7-DA272C6E2F4C}"/>
              </a:ext>
            </a:extLst>
          </p:cNvPr>
          <p:cNvSpPr>
            <a:spLocks noGrp="1"/>
          </p:cNvSpPr>
          <p:nvPr/>
        </p:nvSpPr>
        <p:spPr>
          <a:xfrm>
            <a:off x="7239000" y="2647950"/>
            <a:ext cx="66675" cy="11430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129A71C-07C6-4163-9A1B-E4FB825F4C21}"/>
              </a:ext>
            </a:extLst>
          </p:cNvPr>
          <p:cNvSpPr>
            <a:spLocks noGrp="1"/>
          </p:cNvSpPr>
          <p:nvPr/>
        </p:nvSpPr>
        <p:spPr>
          <a:xfrm>
            <a:off x="7429500" y="2819400"/>
            <a:ext cx="3371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Comando em massa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640188C-AB10-48CB-930F-2F27F0A12023}"/>
              </a:ext>
            </a:extLst>
          </p:cNvPr>
          <p:cNvSpPr>
            <a:spLocks noGrp="1"/>
          </p:cNvSpPr>
          <p:nvPr/>
        </p:nvSpPr>
        <p:spPr>
          <a:xfrm>
            <a:off x="7429500" y="3143250"/>
            <a:ext cx="33718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Escopos: todas as salas, bloco selecionado, filtro atual, temperatura critica ou sala selecionada.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4DB8666-AFF4-4F9A-AD93-F4F4863115B6}"/>
              </a:ext>
            </a:extLst>
          </p:cNvPr>
          <p:cNvSpPr>
            <a:spLocks noGrp="1"/>
          </p:cNvSpPr>
          <p:nvPr/>
        </p:nvSpPr>
        <p:spPr>
          <a:xfrm>
            <a:off x="7239000" y="4095750"/>
            <a:ext cx="37147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DC1B2F7C-5B35-4378-9804-52BECD3F9234}"/>
              </a:ext>
            </a:extLst>
          </p:cNvPr>
          <p:cNvSpPr>
            <a:spLocks noGrp="1"/>
          </p:cNvSpPr>
          <p:nvPr/>
        </p:nvSpPr>
        <p:spPr>
          <a:xfrm>
            <a:off x="7239000" y="4095750"/>
            <a:ext cx="66675" cy="11430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C895E08-C958-4AC1-9AD2-3F23A8829C45}"/>
              </a:ext>
            </a:extLst>
          </p:cNvPr>
          <p:cNvSpPr>
            <a:spLocks noGrp="1"/>
          </p:cNvSpPr>
          <p:nvPr/>
        </p:nvSpPr>
        <p:spPr>
          <a:xfrm>
            <a:off x="7429500" y="4267200"/>
            <a:ext cx="3371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Sala selecionada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E240EAB5-FC40-409C-9C15-248AD48253D6}"/>
              </a:ext>
            </a:extLst>
          </p:cNvPr>
          <p:cNvSpPr>
            <a:spLocks noGrp="1"/>
          </p:cNvSpPr>
          <p:nvPr/>
        </p:nvSpPr>
        <p:spPr>
          <a:xfrm>
            <a:off x="7429500" y="4591050"/>
            <a:ext cx="33718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Detalhe operacional e consulta da ultima leitura no InterSCity sem confundir com o status global.</a:t>
            </a:r>
          </a:p>
        </p:txBody>
      </p:sp>
    </p:spTree>
    <p:extLst>
      <p:ext uri="{BB962C8B-B14F-4D97-AF65-F5344CB8AC3E}">
        <p14:creationId xmlns:p14="http://schemas.microsoft.com/office/powerpoint/2010/main" val="1430413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FC164872-F358-44EF-BABC-55A2747C65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97EE484-CB72-4901-B749-CEF34B3020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1A753F-9CF1-40D1-AA5B-4B2023A85F05}"/>
              </a:ext>
            </a:extLst>
          </p:cNvPr>
          <p:cNvSpPr>
            <a:spLocks noGrp="1"/>
          </p:cNvSpPr>
          <p:nvPr/>
        </p:nvSpPr>
        <p:spPr>
          <a:xfrm>
            <a:off x="514350" y="190500"/>
            <a:ext cx="2571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05 | Metricas do sistema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2C7234-A463-49FE-84ED-ABCD2FCFFC09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723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Indicadores amarram operacao local e estado do InterSCity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C8074B3-8003-4482-8B4D-7AC9B9488F72}"/>
              </a:ext>
            </a:extLst>
          </p:cNvPr>
          <p:cNvSpPr>
            <a:spLocks noGrp="1"/>
          </p:cNvSpPr>
          <p:nvPr/>
        </p:nvSpPr>
        <p:spPr>
          <a:xfrm>
            <a:off x="7810500" y="285750"/>
            <a:ext cx="3810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amostra runtime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A38686-2053-4FDD-8A8C-44949DBC84E9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AC-IoT UFMA | Sistema distribuido IoT + InterSCity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F73A9E-B4C1-41BE-9B11-137E3532C5A5}"/>
              </a:ext>
            </a:extLst>
          </p:cNvPr>
          <p:cNvSpPr>
            <a:spLocks noGrp="1"/>
          </p:cNvSpPr>
          <p:nvPr/>
        </p:nvSpPr>
        <p:spPr>
          <a:xfrm>
            <a:off x="590550" y="1123950"/>
            <a:ext cx="16954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3CCA5B-7A94-40FC-94D3-3692B56C6473}"/>
              </a:ext>
            </a:extLst>
          </p:cNvPr>
          <p:cNvSpPr>
            <a:spLocks noGrp="1"/>
          </p:cNvSpPr>
          <p:nvPr/>
        </p:nvSpPr>
        <p:spPr>
          <a:xfrm>
            <a:off x="742950" y="1266825"/>
            <a:ext cx="1390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1.000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728D93-6B30-4095-B296-84F7EC53A199}"/>
              </a:ext>
            </a:extLst>
          </p:cNvPr>
          <p:cNvSpPr>
            <a:spLocks noGrp="1"/>
          </p:cNvSpPr>
          <p:nvPr/>
        </p:nvSpPr>
        <p:spPr>
          <a:xfrm>
            <a:off x="742950" y="1609725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F7087"/>
                </a:solidFill>
                <a:latin typeface="Aptos"/>
                <a:ea typeface="Aptos"/>
                <a:cs typeface="Aptos"/>
              </a:rPr>
              <a:t>salas simuladas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6C7B9-09A2-4FF0-A750-52AC1DBEEE1E}"/>
              </a:ext>
            </a:extLst>
          </p:cNvPr>
          <p:cNvSpPr>
            <a:spLocks noGrp="1"/>
          </p:cNvSpPr>
          <p:nvPr/>
        </p:nvSpPr>
        <p:spPr>
          <a:xfrm>
            <a:off x="742950" y="1847850"/>
            <a:ext cx="13906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publicacao MQTT ativa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5BB5E81-74DD-4FD5-AF87-D7DA50D3033E}"/>
              </a:ext>
            </a:extLst>
          </p:cNvPr>
          <p:cNvSpPr>
            <a:spLocks noGrp="1"/>
          </p:cNvSpPr>
          <p:nvPr/>
        </p:nvSpPr>
        <p:spPr>
          <a:xfrm>
            <a:off x="2476500" y="1123950"/>
            <a:ext cx="16954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999839-2D0C-4CA7-8676-3F61D69DC79E}"/>
              </a:ext>
            </a:extLst>
          </p:cNvPr>
          <p:cNvSpPr>
            <a:spLocks noGrp="1"/>
          </p:cNvSpPr>
          <p:nvPr/>
        </p:nvSpPr>
        <p:spPr>
          <a:xfrm>
            <a:off x="2628900" y="1266825"/>
            <a:ext cx="1390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61.330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FE1F97-7E81-40DD-86BC-CE1B89DEF977}"/>
              </a:ext>
            </a:extLst>
          </p:cNvPr>
          <p:cNvSpPr>
            <a:spLocks noGrp="1"/>
          </p:cNvSpPr>
          <p:nvPr/>
        </p:nvSpPr>
        <p:spPr>
          <a:xfrm>
            <a:off x="2628900" y="1609725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F7087"/>
                </a:solidFill>
                <a:latin typeface="Aptos"/>
                <a:ea typeface="Aptos"/>
                <a:cs typeface="Aptos"/>
              </a:rPr>
              <a:t>envios IC historicos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69308D-CE1C-438C-A3A4-4A9A2D260688}"/>
              </a:ext>
            </a:extLst>
          </p:cNvPr>
          <p:cNvSpPr>
            <a:spLocks noGrp="1"/>
          </p:cNvSpPr>
          <p:nvPr/>
        </p:nvSpPr>
        <p:spPr>
          <a:xfrm>
            <a:off x="2628900" y="1847850"/>
            <a:ext cx="13906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sent acumulado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1694D64-ED43-4B27-AEE4-290A1007983D}"/>
              </a:ext>
            </a:extLst>
          </p:cNvPr>
          <p:cNvSpPr>
            <a:spLocks noGrp="1"/>
          </p:cNvSpPr>
          <p:nvPr/>
        </p:nvSpPr>
        <p:spPr>
          <a:xfrm>
            <a:off x="4362450" y="1123950"/>
            <a:ext cx="16954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A6ECAC-3A95-4728-890E-DAAE432F1891}"/>
              </a:ext>
            </a:extLst>
          </p:cNvPr>
          <p:cNvSpPr>
            <a:spLocks noGrp="1"/>
          </p:cNvSpPr>
          <p:nvPr/>
        </p:nvSpPr>
        <p:spPr>
          <a:xfrm>
            <a:off x="4514850" y="1266825"/>
            <a:ext cx="1390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2.966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33DDD3-30A6-411C-BEC2-4ECBE2D677C3}"/>
              </a:ext>
            </a:extLst>
          </p:cNvPr>
          <p:cNvSpPr>
            <a:spLocks noGrp="1"/>
          </p:cNvSpPr>
          <p:nvPr/>
        </p:nvSpPr>
        <p:spPr>
          <a:xfrm>
            <a:off x="4514850" y="1609725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F7087"/>
                </a:solidFill>
                <a:latin typeface="Aptos"/>
                <a:ea typeface="Aptos"/>
                <a:cs typeface="Aptos"/>
              </a:rPr>
              <a:t>falhas IC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235CDF-1AD1-4945-A30F-4D4B7DA03772}"/>
              </a:ext>
            </a:extLst>
          </p:cNvPr>
          <p:cNvSpPr>
            <a:spLocks noGrp="1"/>
          </p:cNvSpPr>
          <p:nvPr/>
        </p:nvSpPr>
        <p:spPr>
          <a:xfrm>
            <a:off x="4514850" y="1847850"/>
            <a:ext cx="13906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failed acumulado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DC04332-F3EB-4952-BCCC-A48072C7E598}"/>
              </a:ext>
            </a:extLst>
          </p:cNvPr>
          <p:cNvSpPr>
            <a:spLocks noGrp="1"/>
          </p:cNvSpPr>
          <p:nvPr/>
        </p:nvSpPr>
        <p:spPr>
          <a:xfrm>
            <a:off x="6248400" y="1123950"/>
            <a:ext cx="16954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68E214-2938-4546-9FD4-7634F74AD923}"/>
              </a:ext>
            </a:extLst>
          </p:cNvPr>
          <p:cNvSpPr>
            <a:spLocks noGrp="1"/>
          </p:cNvSpPr>
          <p:nvPr/>
        </p:nvSpPr>
        <p:spPr>
          <a:xfrm>
            <a:off x="6400800" y="1266825"/>
            <a:ext cx="1390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1.000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B579EC7-8CB5-4A4E-9926-F53AAFC8B26C}"/>
              </a:ext>
            </a:extLst>
          </p:cNvPr>
          <p:cNvSpPr>
            <a:spLocks noGrp="1"/>
          </p:cNvSpPr>
          <p:nvPr/>
        </p:nvSpPr>
        <p:spPr>
          <a:xfrm>
            <a:off x="6400800" y="1609725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F7087"/>
                </a:solidFill>
                <a:latin typeface="Aptos"/>
                <a:ea typeface="Aptos"/>
                <a:cs typeface="Aptos"/>
              </a:rPr>
              <a:t>fila bridge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DCD0B4C-5384-4092-9F40-A942A0C0840C}"/>
              </a:ext>
            </a:extLst>
          </p:cNvPr>
          <p:cNvSpPr>
            <a:spLocks noGrp="1"/>
          </p:cNvSpPr>
          <p:nvPr/>
        </p:nvSpPr>
        <p:spPr>
          <a:xfrm>
            <a:off x="6400800" y="1847850"/>
            <a:ext cx="13906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queue_size atual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5A6B6B-3BCE-454A-9E98-CB0C1F80E8C9}"/>
              </a:ext>
            </a:extLst>
          </p:cNvPr>
          <p:cNvSpPr>
            <a:spLocks noGrp="1"/>
          </p:cNvSpPr>
          <p:nvPr/>
        </p:nvSpPr>
        <p:spPr>
          <a:xfrm>
            <a:off x="8134350" y="1123950"/>
            <a:ext cx="16954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2544D04-097B-4B52-93B1-CAB152D5121B}"/>
              </a:ext>
            </a:extLst>
          </p:cNvPr>
          <p:cNvSpPr>
            <a:spLocks noGrp="1"/>
          </p:cNvSpPr>
          <p:nvPr/>
        </p:nvSpPr>
        <p:spPr>
          <a:xfrm>
            <a:off x="8286750" y="1266825"/>
            <a:ext cx="13906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3DEE40-B594-4587-8624-D3A8733F4EEB}"/>
              </a:ext>
            </a:extLst>
          </p:cNvPr>
          <p:cNvSpPr>
            <a:spLocks noGrp="1"/>
          </p:cNvSpPr>
          <p:nvPr/>
        </p:nvSpPr>
        <p:spPr>
          <a:xfrm>
            <a:off x="8286750" y="1609725"/>
            <a:ext cx="1390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F7087"/>
                </a:solidFill>
                <a:latin typeface="Aptos"/>
                <a:ea typeface="Aptos"/>
                <a:cs typeface="Aptos"/>
              </a:rPr>
              <a:t>workers HTTP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8A1EFA5-82A7-4E67-974E-3AB698B1CCB2}"/>
              </a:ext>
            </a:extLst>
          </p:cNvPr>
          <p:cNvSpPr>
            <a:spLocks noGrp="1"/>
          </p:cNvSpPr>
          <p:nvPr/>
        </p:nvSpPr>
        <p:spPr>
          <a:xfrm>
            <a:off x="8286750" y="1847850"/>
            <a:ext cx="13906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paralelismo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71DFEC-1963-4F91-9441-83C1634FE5A7}"/>
              </a:ext>
            </a:extLst>
          </p:cNvPr>
          <p:cNvSpPr>
            <a:spLocks noGrp="1"/>
          </p:cNvSpPr>
          <p:nvPr/>
        </p:nvSpPr>
        <p:spPr>
          <a:xfrm>
            <a:off x="10020300" y="1123950"/>
            <a:ext cx="140970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437C0FF-E40A-42C3-82EE-2F2B54AE297A}"/>
              </a:ext>
            </a:extLst>
          </p:cNvPr>
          <p:cNvSpPr>
            <a:spLocks noGrp="1"/>
          </p:cNvSpPr>
          <p:nvPr/>
        </p:nvSpPr>
        <p:spPr>
          <a:xfrm>
            <a:off x="10172700" y="1266825"/>
            <a:ext cx="11049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20/s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C6FEA17-ED70-4A5D-9524-B094ECB15BC4}"/>
              </a:ext>
            </a:extLst>
          </p:cNvPr>
          <p:cNvSpPr>
            <a:spLocks noGrp="1"/>
          </p:cNvSpPr>
          <p:nvPr/>
        </p:nvSpPr>
        <p:spPr>
          <a:xfrm>
            <a:off x="10172700" y="1609725"/>
            <a:ext cx="1104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88" b="1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5F7087"/>
                </a:solidFill>
                <a:latin typeface="Aptos"/>
                <a:ea typeface="Aptos"/>
                <a:cs typeface="Aptos"/>
              </a:rPr>
              <a:t>rate limit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6D4125-1689-46FE-B591-D57EC6E9FD68}"/>
              </a:ext>
            </a:extLst>
          </p:cNvPr>
          <p:cNvSpPr>
            <a:spLocks noGrp="1"/>
          </p:cNvSpPr>
          <p:nvPr/>
        </p:nvSpPr>
        <p:spPr>
          <a:xfrm>
            <a:off x="10172700" y="1847850"/>
            <a:ext cx="11049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MAX_RPS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DDB5F68-175A-4F9E-95EB-A701AF669D84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49530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3180E78-D2A8-42FD-B8B8-BB603A1C92C9}"/>
              </a:ext>
            </a:extLst>
          </p:cNvPr>
          <p:cNvSpPr>
            <a:spLocks noGrp="1"/>
          </p:cNvSpPr>
          <p:nvPr/>
        </p:nvSpPr>
        <p:spPr>
          <a:xfrm>
            <a:off x="933450" y="31051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Saude atual da integracao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65B064D-2998-4C05-87DF-93071667BEC9}"/>
              </a:ext>
            </a:extLst>
          </p:cNvPr>
          <p:cNvSpPr>
            <a:spLocks noGrp="1"/>
          </p:cNvSpPr>
          <p:nvPr/>
        </p:nvSpPr>
        <p:spPr>
          <a:xfrm>
            <a:off x="933450" y="3524250"/>
            <a:ext cx="1428750" cy="285750"/>
          </a:xfrm>
          <a:prstGeom prst="rect">
            <a:avLst/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C5E8F22-0E3A-471D-AABF-3874F2AB409A}"/>
              </a:ext>
            </a:extLst>
          </p:cNvPr>
          <p:cNvSpPr>
            <a:spLocks noGrp="1"/>
          </p:cNvSpPr>
          <p:nvPr/>
        </p:nvSpPr>
        <p:spPr>
          <a:xfrm>
            <a:off x="1028700" y="3590925"/>
            <a:ext cx="1238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MQTT local OK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7003FE1-612C-4FD4-9C3C-D88CEF49087F}"/>
              </a:ext>
            </a:extLst>
          </p:cNvPr>
          <p:cNvSpPr>
            <a:spLocks noGrp="1"/>
          </p:cNvSpPr>
          <p:nvPr/>
        </p:nvSpPr>
        <p:spPr>
          <a:xfrm>
            <a:off x="2571750" y="3524250"/>
            <a:ext cx="1428750" cy="28575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E04782E-9618-4810-A602-9B239A58839E}"/>
              </a:ext>
            </a:extLst>
          </p:cNvPr>
          <p:cNvSpPr>
            <a:spLocks noGrp="1"/>
          </p:cNvSpPr>
          <p:nvPr/>
        </p:nvSpPr>
        <p:spPr>
          <a:xfrm>
            <a:off x="2667000" y="3590925"/>
            <a:ext cx="1238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IC instavel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BAA275F-9496-41AF-BFE6-32E3C567E7BD}"/>
              </a:ext>
            </a:extLst>
          </p:cNvPr>
          <p:cNvSpPr>
            <a:spLocks noGrp="1"/>
          </p:cNvSpPr>
          <p:nvPr/>
        </p:nvSpPr>
        <p:spPr>
          <a:xfrm>
            <a:off x="4210050" y="3524250"/>
            <a:ext cx="1428750" cy="285750"/>
          </a:xfrm>
          <a:prstGeom prst="rect">
            <a:avLst/>
          </a:prstGeom>
          <a:solidFill>
            <a:srgbClr val="FEE2E2"/>
          </a:solidFill>
          <a:ln w="95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D99E8B4-8CFD-482D-9DFE-4B843AB911ED}"/>
              </a:ext>
            </a:extLst>
          </p:cNvPr>
          <p:cNvSpPr>
            <a:spLocks noGrp="1"/>
          </p:cNvSpPr>
          <p:nvPr/>
        </p:nvSpPr>
        <p:spPr>
          <a:xfrm>
            <a:off x="4305300" y="3590925"/>
            <a:ext cx="1238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last_ok=false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BB5FB6D-63C3-4913-AC10-F28CB05295C1}"/>
              </a:ext>
            </a:extLst>
          </p:cNvPr>
          <p:cNvSpPr>
            <a:spLocks noGrp="1"/>
          </p:cNvSpPr>
          <p:nvPr/>
        </p:nvSpPr>
        <p:spPr>
          <a:xfrm>
            <a:off x="933450" y="4057650"/>
            <a:ext cx="4095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34155"/>
                </a:solidFill>
                <a:latin typeface="Aptos"/>
                <a:ea typeface="Aptos"/>
                <a:cs typeface="Aptos"/>
              </a:rPr>
              <a:t>Leitura correta: o sistema distribuido local segue em tempo real; o InterSCity tem historico de sucesso, mas a API remota nao respondeu na verificacao atual.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CC20FF6-699F-41EF-A6E1-4505F806A9D2}"/>
              </a:ext>
            </a:extLst>
          </p:cNvPr>
          <p:cNvSpPr>
            <a:spLocks noGrp="1"/>
          </p:cNvSpPr>
          <p:nvPr/>
        </p:nvSpPr>
        <p:spPr>
          <a:xfrm>
            <a:off x="6477000" y="2857500"/>
            <a:ext cx="438150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036E872-E17D-4C2E-9E91-CD7AFF724913}"/>
              </a:ext>
            </a:extLst>
          </p:cNvPr>
          <p:cNvSpPr>
            <a:spLocks noGrp="1"/>
          </p:cNvSpPr>
          <p:nvPr/>
        </p:nvSpPr>
        <p:spPr>
          <a:xfrm>
            <a:off x="6724650" y="3105150"/>
            <a:ext cx="304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Fila e capacidade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D37B74F-3BD1-4AF7-8B1F-9BBBCA6886D3}"/>
              </a:ext>
            </a:extLst>
          </p:cNvPr>
          <p:cNvSpPr>
            <a:spLocks noGrp="1"/>
          </p:cNvSpPr>
          <p:nvPr/>
        </p:nvSpPr>
        <p:spPr>
          <a:xfrm>
            <a:off x="6724650" y="3638550"/>
            <a:ext cx="3429000" cy="209550"/>
          </a:xfrm>
          <a:prstGeom prst="rect">
            <a:avLst/>
          </a:prstGeom>
          <a:solidFill>
            <a:srgbClr val="DBEA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39100B1-7317-4F1F-9301-DCC0F25481E5}"/>
              </a:ext>
            </a:extLst>
          </p:cNvPr>
          <p:cNvSpPr>
            <a:spLocks noGrp="1"/>
          </p:cNvSpPr>
          <p:nvPr/>
        </p:nvSpPr>
        <p:spPr>
          <a:xfrm>
            <a:off x="6724650" y="3638550"/>
            <a:ext cx="171450" cy="20955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041D9CB-818F-4E0C-A8A7-A012B4C8BFFA}"/>
              </a:ext>
            </a:extLst>
          </p:cNvPr>
          <p:cNvSpPr>
            <a:spLocks noGrp="1"/>
          </p:cNvSpPr>
          <p:nvPr/>
        </p:nvSpPr>
        <p:spPr>
          <a:xfrm>
            <a:off x="10239375" y="3609975"/>
            <a:ext cx="666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5%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2548B4D-072D-480A-815F-7968E3B59809}"/>
              </a:ext>
            </a:extLst>
          </p:cNvPr>
          <p:cNvSpPr>
            <a:spLocks noGrp="1"/>
          </p:cNvSpPr>
          <p:nvPr/>
        </p:nvSpPr>
        <p:spPr>
          <a:xfrm>
            <a:off x="6724650" y="4057650"/>
            <a:ext cx="35242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queue_size=1.000 de queue_max=20.000. Ha margem de fila, mas a taxa atual ao IC e 0/s enquanto a API remota nao responde.</a:t>
            </a:r>
          </a:p>
        </p:txBody>
      </p:sp>
    </p:spTree>
    <p:extLst>
      <p:ext uri="{BB962C8B-B14F-4D97-AF65-F5344CB8AC3E}">
        <p14:creationId xmlns:p14="http://schemas.microsoft.com/office/powerpoint/2010/main" val="681842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186EADDD-E41D-4E4C-83F8-6E16D50966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B59B055-10A0-4C5A-91DB-7E2FBF3B7C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A1C3F9-402F-4449-8194-1C9D80F90617}"/>
              </a:ext>
            </a:extLst>
          </p:cNvPr>
          <p:cNvSpPr>
            <a:spLocks noGrp="1"/>
          </p:cNvSpPr>
          <p:nvPr/>
        </p:nvSpPr>
        <p:spPr>
          <a:xfrm>
            <a:off x="514350" y="190500"/>
            <a:ext cx="2571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06 | Logica operacional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2F5C2A-AD38-4C92-A6E3-1B10421DAA4F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723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Automacao por presenca e conforto termico reduz acao manual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C40708-47F1-4DCC-B774-5013F9C0C7CC}"/>
              </a:ext>
            </a:extLst>
          </p:cNvPr>
          <p:cNvSpPr>
            <a:spLocks noGrp="1"/>
          </p:cNvSpPr>
          <p:nvPr/>
        </p:nvSpPr>
        <p:spPr>
          <a:xfrm>
            <a:off x="7810500" y="285750"/>
            <a:ext cx="3810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sala a sala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AE6930-048A-47F7-948F-7635184D4403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AC-IoT UFMA | Sistema distribuido IoT + InterSCity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503DADB-C8D7-4119-A61D-7825E51DF174}"/>
              </a:ext>
            </a:extLst>
          </p:cNvPr>
          <p:cNvSpPr>
            <a:spLocks noGrp="1"/>
          </p:cNvSpPr>
          <p:nvPr/>
        </p:nvSpPr>
        <p:spPr>
          <a:xfrm>
            <a:off x="857250" y="1619250"/>
            <a:ext cx="1809750" cy="83820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7E1BCF3-47FA-41E3-AA54-1919D658970D}"/>
              </a:ext>
            </a:extLst>
          </p:cNvPr>
          <p:cNvSpPr>
            <a:spLocks noGrp="1"/>
          </p:cNvSpPr>
          <p:nvPr/>
        </p:nvSpPr>
        <p:spPr>
          <a:xfrm>
            <a:off x="990600" y="1752600"/>
            <a:ext cx="1543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Sensor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30F033C-79CA-44B6-8C4F-551EEEE9033B}"/>
              </a:ext>
            </a:extLst>
          </p:cNvPr>
          <p:cNvSpPr>
            <a:spLocks noGrp="1"/>
          </p:cNvSpPr>
          <p:nvPr/>
        </p:nvSpPr>
        <p:spPr>
          <a:xfrm>
            <a:off x="990600" y="2028825"/>
            <a:ext cx="15430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presenca</a:t>
            </a:r>
          </a:p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temperatura</a:t>
            </a:r>
          </a:p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umidade/lux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E659A0-E29F-4B1E-BC86-93139C629804}"/>
              </a:ext>
            </a:extLst>
          </p:cNvPr>
          <p:cNvSpPr>
            <a:spLocks noGrp="1"/>
          </p:cNvSpPr>
          <p:nvPr/>
        </p:nvSpPr>
        <p:spPr>
          <a:xfrm>
            <a:off x="3333750" y="1143000"/>
            <a:ext cx="2000250" cy="781050"/>
          </a:xfrm>
          <a:prstGeom prst="rect">
            <a:avLst/>
          </a:prstGeom>
          <a:solidFill>
            <a:srgbClr val="DCFCE7"/>
          </a:solidFill>
          <a:ln w="1524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0CD1F6-302B-45AC-864F-7F06B5094CCD}"/>
              </a:ext>
            </a:extLst>
          </p:cNvPr>
          <p:cNvSpPr>
            <a:spLocks noGrp="1"/>
          </p:cNvSpPr>
          <p:nvPr/>
        </p:nvSpPr>
        <p:spPr>
          <a:xfrm>
            <a:off x="3467100" y="1276350"/>
            <a:ext cx="1733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Sala ocupada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6D3134-C60B-44D3-84AF-779CDB44DC47}"/>
              </a:ext>
            </a:extLst>
          </p:cNvPr>
          <p:cNvSpPr>
            <a:spLocks noGrp="1"/>
          </p:cNvSpPr>
          <p:nvPr/>
        </p:nvSpPr>
        <p:spPr>
          <a:xfrm>
            <a:off x="3467100" y="1552575"/>
            <a:ext cx="1733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liga luz</a:t>
            </a:r>
          </a:p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apos segundos avalia AC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92C8A60-FC0C-4F3B-84B3-F51EE5CC0741}"/>
              </a:ext>
            </a:extLst>
          </p:cNvPr>
          <p:cNvSpPr>
            <a:spLocks noGrp="1"/>
          </p:cNvSpPr>
          <p:nvPr/>
        </p:nvSpPr>
        <p:spPr>
          <a:xfrm>
            <a:off x="3333750" y="2819400"/>
            <a:ext cx="2000250" cy="781050"/>
          </a:xfrm>
          <a:prstGeom prst="rect">
            <a:avLst/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1C7733-8C2B-489D-89FF-19E47C307C02}"/>
              </a:ext>
            </a:extLst>
          </p:cNvPr>
          <p:cNvSpPr>
            <a:spLocks noGrp="1"/>
          </p:cNvSpPr>
          <p:nvPr/>
        </p:nvSpPr>
        <p:spPr>
          <a:xfrm>
            <a:off x="3467100" y="2952750"/>
            <a:ext cx="1733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Sala vazia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EF966E-88A0-45EB-B5EA-42921384A32D}"/>
              </a:ext>
            </a:extLst>
          </p:cNvPr>
          <p:cNvSpPr>
            <a:spLocks noGrp="1"/>
          </p:cNvSpPr>
          <p:nvPr/>
        </p:nvSpPr>
        <p:spPr>
          <a:xfrm>
            <a:off x="3467100" y="3228975"/>
            <a:ext cx="17335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apos segundos</a:t>
            </a:r>
          </a:p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apaga luz e AC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C4C300-3AA1-47BA-941E-0D4652CA75D1}"/>
              </a:ext>
            </a:extLst>
          </p:cNvPr>
          <p:cNvSpPr>
            <a:spLocks noGrp="1"/>
          </p:cNvSpPr>
          <p:nvPr/>
        </p:nvSpPr>
        <p:spPr>
          <a:xfrm>
            <a:off x="6191250" y="1143000"/>
            <a:ext cx="2190750" cy="781050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08528A-BCC2-4EC4-BDB9-D9B32B8B8DEF}"/>
              </a:ext>
            </a:extLst>
          </p:cNvPr>
          <p:cNvSpPr>
            <a:spLocks noGrp="1"/>
          </p:cNvSpPr>
          <p:nvPr/>
        </p:nvSpPr>
        <p:spPr>
          <a:xfrm>
            <a:off x="6324600" y="1276350"/>
            <a:ext cx="1924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Temperatura critica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537E5E1-E88D-4DFB-8CEB-1DA1F0A43EAA}"/>
              </a:ext>
            </a:extLst>
          </p:cNvPr>
          <p:cNvSpPr>
            <a:spLocks noGrp="1"/>
          </p:cNvSpPr>
          <p:nvPr/>
        </p:nvSpPr>
        <p:spPr>
          <a:xfrm>
            <a:off x="6324600" y="1552575"/>
            <a:ext cx="1924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&gt;= 30% acima do setpoint</a:t>
            </a:r>
          </a:p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com presenca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12C0E24-1F3A-4D8D-9BFA-1969133EF9CB}"/>
              </a:ext>
            </a:extLst>
          </p:cNvPr>
          <p:cNvSpPr>
            <a:spLocks noGrp="1"/>
          </p:cNvSpPr>
          <p:nvPr/>
        </p:nvSpPr>
        <p:spPr>
          <a:xfrm>
            <a:off x="6191250" y="2819400"/>
            <a:ext cx="2190750" cy="78105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2500B1-F9A8-4FC2-A6BD-4D06187A72F0}"/>
              </a:ext>
            </a:extLst>
          </p:cNvPr>
          <p:cNvSpPr>
            <a:spLocks noGrp="1"/>
          </p:cNvSpPr>
          <p:nvPr/>
        </p:nvSpPr>
        <p:spPr>
          <a:xfrm>
            <a:off x="6324600" y="2952750"/>
            <a:ext cx="1924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Comando operador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252DEAF-DDF1-4882-B4E0-84F872ADB5F5}"/>
              </a:ext>
            </a:extLst>
          </p:cNvPr>
          <p:cNvSpPr>
            <a:spLocks noGrp="1"/>
          </p:cNvSpPr>
          <p:nvPr/>
        </p:nvSpPr>
        <p:spPr>
          <a:xfrm>
            <a:off x="6324600" y="3228975"/>
            <a:ext cx="1924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corrige setpoint</a:t>
            </a:r>
          </a:p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para escopo escolhido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AFB622C-8581-4D25-B411-6E341207A525}"/>
              </a:ext>
            </a:extLst>
          </p:cNvPr>
          <p:cNvSpPr>
            <a:spLocks noGrp="1"/>
          </p:cNvSpPr>
          <p:nvPr/>
        </p:nvSpPr>
        <p:spPr>
          <a:xfrm>
            <a:off x="2667000" y="2019300"/>
            <a:ext cx="666750" cy="38100"/>
          </a:xfrm>
          <a:prstGeom prst="rect">
            <a:avLst/>
          </a:prstGeom>
          <a:solidFill>
            <a:srgbClr val="1580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E4F59D1-AC6D-4341-B3F4-F5C4A727877E}"/>
              </a:ext>
            </a:extLst>
          </p:cNvPr>
          <p:cNvSpPr>
            <a:spLocks noGrp="1"/>
          </p:cNvSpPr>
          <p:nvPr/>
        </p:nvSpPr>
        <p:spPr>
          <a:xfrm>
            <a:off x="3200400" y="191452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14A123-C48D-48EE-AA89-6DA1257065EF}"/>
              </a:ext>
            </a:extLst>
          </p:cNvPr>
          <p:cNvSpPr>
            <a:spLocks noGrp="1"/>
          </p:cNvSpPr>
          <p:nvPr/>
        </p:nvSpPr>
        <p:spPr>
          <a:xfrm>
            <a:off x="2647950" y="2038350"/>
            <a:ext cx="38100" cy="1171575"/>
          </a:xfrm>
          <a:prstGeom prst="rect">
            <a:avLst/>
          </a:prstGeom>
          <a:solidFill>
            <a:srgbClr val="DC26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9FC31ED-4BEB-42E9-8547-56A5D8896E5D}"/>
              </a:ext>
            </a:extLst>
          </p:cNvPr>
          <p:cNvSpPr>
            <a:spLocks noGrp="1"/>
          </p:cNvSpPr>
          <p:nvPr/>
        </p:nvSpPr>
        <p:spPr>
          <a:xfrm>
            <a:off x="2562225" y="3076575"/>
            <a:ext cx="209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v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89507B4-5A33-4EBB-808D-DAD9E359320F}"/>
              </a:ext>
            </a:extLst>
          </p:cNvPr>
          <p:cNvSpPr>
            <a:spLocks noGrp="1"/>
          </p:cNvSpPr>
          <p:nvPr/>
        </p:nvSpPr>
        <p:spPr>
          <a:xfrm>
            <a:off x="5334000" y="1514475"/>
            <a:ext cx="85725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F197F70-70C6-45F7-8C5A-B643D2E94ECE}"/>
              </a:ext>
            </a:extLst>
          </p:cNvPr>
          <p:cNvSpPr>
            <a:spLocks noGrp="1"/>
          </p:cNvSpPr>
          <p:nvPr/>
        </p:nvSpPr>
        <p:spPr>
          <a:xfrm>
            <a:off x="6057900" y="140970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D63F88-B470-4711-AEE4-D2428F7A9A37}"/>
              </a:ext>
            </a:extLst>
          </p:cNvPr>
          <p:cNvSpPr>
            <a:spLocks noGrp="1"/>
          </p:cNvSpPr>
          <p:nvPr/>
        </p:nvSpPr>
        <p:spPr>
          <a:xfrm>
            <a:off x="5334000" y="3190875"/>
            <a:ext cx="857250" cy="381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44D441C-3B7C-4EF5-B991-C07742A61E1F}"/>
              </a:ext>
            </a:extLst>
          </p:cNvPr>
          <p:cNvSpPr>
            <a:spLocks noGrp="1"/>
          </p:cNvSpPr>
          <p:nvPr/>
        </p:nvSpPr>
        <p:spPr>
          <a:xfrm>
            <a:off x="6057900" y="3086100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F94DAD5-6871-45CD-91B1-A9822DED48E2}"/>
              </a:ext>
            </a:extLst>
          </p:cNvPr>
          <p:cNvSpPr>
            <a:spLocks noGrp="1"/>
          </p:cNvSpPr>
          <p:nvPr/>
        </p:nvSpPr>
        <p:spPr>
          <a:xfrm>
            <a:off x="9048750" y="1219200"/>
            <a:ext cx="23812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78202DF-CE1B-4F54-BA6D-CBB96A0B95A4}"/>
              </a:ext>
            </a:extLst>
          </p:cNvPr>
          <p:cNvSpPr>
            <a:spLocks noGrp="1"/>
          </p:cNvSpPr>
          <p:nvPr/>
        </p:nvSpPr>
        <p:spPr>
          <a:xfrm>
            <a:off x="9048750" y="1219200"/>
            <a:ext cx="66675" cy="11430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C9D670E-7368-415D-AD52-AE394606D50B}"/>
              </a:ext>
            </a:extLst>
          </p:cNvPr>
          <p:cNvSpPr>
            <a:spLocks noGrp="1"/>
          </p:cNvSpPr>
          <p:nvPr/>
        </p:nvSpPr>
        <p:spPr>
          <a:xfrm>
            <a:off x="9239250" y="139065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Criterio critico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A60604F-A59C-4661-BF21-7D434E3F0722}"/>
              </a:ext>
            </a:extLst>
          </p:cNvPr>
          <p:cNvSpPr>
            <a:spLocks noGrp="1"/>
          </p:cNvSpPr>
          <p:nvPr/>
        </p:nvSpPr>
        <p:spPr>
          <a:xfrm>
            <a:off x="9239250" y="1714500"/>
            <a:ext cx="20383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Somente conta quando ha pessoas presentes e o AC esta desligado ou com setpoint alto.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539EC8B-92D5-423E-937D-616C872AB391}"/>
              </a:ext>
            </a:extLst>
          </p:cNvPr>
          <p:cNvSpPr>
            <a:spLocks noGrp="1"/>
          </p:cNvSpPr>
          <p:nvPr/>
        </p:nvSpPr>
        <p:spPr>
          <a:xfrm>
            <a:off x="9048750" y="2819400"/>
            <a:ext cx="238125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ECA7666-B78D-4862-8ABE-C2F2D963071E}"/>
              </a:ext>
            </a:extLst>
          </p:cNvPr>
          <p:cNvSpPr>
            <a:spLocks noGrp="1"/>
          </p:cNvSpPr>
          <p:nvPr/>
        </p:nvSpPr>
        <p:spPr>
          <a:xfrm>
            <a:off x="9048750" y="2819400"/>
            <a:ext cx="66675" cy="11430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BD82393-7912-4E94-9551-35DC251B1518}"/>
              </a:ext>
            </a:extLst>
          </p:cNvPr>
          <p:cNvSpPr>
            <a:spLocks noGrp="1"/>
          </p:cNvSpPr>
          <p:nvPr/>
        </p:nvSpPr>
        <p:spPr>
          <a:xfrm>
            <a:off x="9239250" y="2990850"/>
            <a:ext cx="2038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Atualizacao dinamica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FBDB30A-0830-4A52-92C7-24854AB9396E}"/>
              </a:ext>
            </a:extLst>
          </p:cNvPr>
          <p:cNvSpPr>
            <a:spLocks noGrp="1"/>
          </p:cNvSpPr>
          <p:nvPr/>
        </p:nvSpPr>
        <p:spPr>
          <a:xfrm>
            <a:off x="9239250" y="3314700"/>
            <a:ext cx="20383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 lista de salas criticas muda conforme novas medicoes dos sensores chegam pelo MQTT.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F5DC5C5-FDBD-4AD1-9189-5CAC9C63B1C9}"/>
              </a:ext>
            </a:extLst>
          </p:cNvPr>
          <p:cNvSpPr>
            <a:spLocks noGrp="1"/>
          </p:cNvSpPr>
          <p:nvPr/>
        </p:nvSpPr>
        <p:spPr>
          <a:xfrm>
            <a:off x="1143000" y="495300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650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O objetivo e operar automaticamente o normal e deixar para o operador apenas as excecoes relevantes.</a:t>
            </a:r>
          </a:p>
        </p:txBody>
      </p:sp>
    </p:spTree>
    <p:extLst>
      <p:ext uri="{BB962C8B-B14F-4D97-AF65-F5344CB8AC3E}">
        <p14:creationId xmlns:p14="http://schemas.microsoft.com/office/powerpoint/2010/main" val="545634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F7CEA787-451A-460E-9C76-08C9D1F817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1D9FC1-32F2-4004-A30F-FF270D1F6F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B19C1F-91AE-4D13-B51B-FBF37C9AA6D2}"/>
              </a:ext>
            </a:extLst>
          </p:cNvPr>
          <p:cNvSpPr>
            <a:spLocks noGrp="1"/>
          </p:cNvSpPr>
          <p:nvPr/>
        </p:nvSpPr>
        <p:spPr>
          <a:xfrm>
            <a:off x="514350" y="190500"/>
            <a:ext cx="2571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07 | Sistemas distribuidos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7D9F36-3DD5-4100-BC81-62D8767FB31D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723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A solucao ja separa responsabilidades e permite escalar por componentes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1639C3-F370-4B92-95F8-F25EA283DA94}"/>
              </a:ext>
            </a:extLst>
          </p:cNvPr>
          <p:cNvSpPr>
            <a:spLocks noGrp="1"/>
          </p:cNvSpPr>
          <p:nvPr/>
        </p:nvSpPr>
        <p:spPr>
          <a:xfrm>
            <a:off x="7810500" y="285750"/>
            <a:ext cx="3810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Docker e Kubernetes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01D655-4FB0-4BEA-996E-511E3ECC91E8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AC-IoT UFMA | Sistema distribuido IoT + InterSCity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1E7573-21E7-43C5-80AC-0C58F0E959C3}"/>
              </a:ext>
            </a:extLst>
          </p:cNvPr>
          <p:cNvSpPr>
            <a:spLocks noGrp="1"/>
          </p:cNvSpPr>
          <p:nvPr/>
        </p:nvSpPr>
        <p:spPr>
          <a:xfrm>
            <a:off x="590550" y="1104900"/>
            <a:ext cx="314325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B57C7-8350-4D75-9416-859A5E4FF530}"/>
              </a:ext>
            </a:extLst>
          </p:cNvPr>
          <p:cNvSpPr>
            <a:spLocks noGrp="1"/>
          </p:cNvSpPr>
          <p:nvPr/>
        </p:nvSpPr>
        <p:spPr>
          <a:xfrm>
            <a:off x="590550" y="1104900"/>
            <a:ext cx="66675" cy="12192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54054C5-408E-4277-8228-32FA61B7D282}"/>
              </a:ext>
            </a:extLst>
          </p:cNvPr>
          <p:cNvSpPr>
            <a:spLocks noGrp="1"/>
          </p:cNvSpPr>
          <p:nvPr/>
        </p:nvSpPr>
        <p:spPr>
          <a:xfrm>
            <a:off x="781050" y="1276350"/>
            <a:ext cx="2800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Servicos independentes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65E278-B8BF-4563-B6AD-13CA64F121DD}"/>
              </a:ext>
            </a:extLst>
          </p:cNvPr>
          <p:cNvSpPr>
            <a:spLocks noGrp="1"/>
          </p:cNvSpPr>
          <p:nvPr/>
        </p:nvSpPr>
        <p:spPr>
          <a:xfrm>
            <a:off x="781050" y="1600200"/>
            <a:ext cx="28003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simulator, mosquitto, bridge, web e Node-RED sobem separadamente e se comunicam por rede.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49A05A-0A4B-4EC1-91D8-577AADEC60E4}"/>
              </a:ext>
            </a:extLst>
          </p:cNvPr>
          <p:cNvSpPr>
            <a:spLocks noGrp="1"/>
          </p:cNvSpPr>
          <p:nvPr/>
        </p:nvSpPr>
        <p:spPr>
          <a:xfrm>
            <a:off x="4514850" y="1104900"/>
            <a:ext cx="314325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831521-7F63-4289-A7D7-F56A35346C7D}"/>
              </a:ext>
            </a:extLst>
          </p:cNvPr>
          <p:cNvSpPr>
            <a:spLocks noGrp="1"/>
          </p:cNvSpPr>
          <p:nvPr/>
        </p:nvSpPr>
        <p:spPr>
          <a:xfrm>
            <a:off x="4514850" y="1104900"/>
            <a:ext cx="66675" cy="1219200"/>
          </a:xfrm>
          <a:prstGeom prst="rect">
            <a:avLst/>
          </a:prstGeom>
          <a:solidFill>
            <a:srgbClr val="0F766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486610-16FB-4C9F-82BA-6AAAF7D4F810}"/>
              </a:ext>
            </a:extLst>
          </p:cNvPr>
          <p:cNvSpPr>
            <a:spLocks noGrp="1"/>
          </p:cNvSpPr>
          <p:nvPr/>
        </p:nvSpPr>
        <p:spPr>
          <a:xfrm>
            <a:off x="4705350" y="1276350"/>
            <a:ext cx="2800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Acoplamento por mensageria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5221B4-DA16-4202-B8D2-63D334A16876}"/>
              </a:ext>
            </a:extLst>
          </p:cNvPr>
          <p:cNvSpPr>
            <a:spLocks noGrp="1"/>
          </p:cNvSpPr>
          <p:nvPr/>
        </p:nvSpPr>
        <p:spPr>
          <a:xfrm>
            <a:off x="4705350" y="1600200"/>
            <a:ext cx="28003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MQTT desacopla produtores, consumidores, dashboard e bridge InterSCity.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2AD769-1E3F-4DD9-9C68-10AA62B5F630}"/>
              </a:ext>
            </a:extLst>
          </p:cNvPr>
          <p:cNvSpPr>
            <a:spLocks noGrp="1"/>
          </p:cNvSpPr>
          <p:nvPr/>
        </p:nvSpPr>
        <p:spPr>
          <a:xfrm>
            <a:off x="8439150" y="1104900"/>
            <a:ext cx="3143250" cy="12192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E2B98B-E34F-477C-8721-634CE25E4A6C}"/>
              </a:ext>
            </a:extLst>
          </p:cNvPr>
          <p:cNvSpPr>
            <a:spLocks noGrp="1"/>
          </p:cNvSpPr>
          <p:nvPr/>
        </p:nvSpPr>
        <p:spPr>
          <a:xfrm>
            <a:off x="8439150" y="1104900"/>
            <a:ext cx="66675" cy="12192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AB08D8-7091-4171-9422-5EA6767AFEDF}"/>
              </a:ext>
            </a:extLst>
          </p:cNvPr>
          <p:cNvSpPr>
            <a:spLocks noGrp="1"/>
          </p:cNvSpPr>
          <p:nvPr/>
        </p:nvSpPr>
        <p:spPr>
          <a:xfrm>
            <a:off x="8629650" y="1276350"/>
            <a:ext cx="2800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Escala controlada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EB153F3-E8DD-45F0-8091-2D36097EEEF4}"/>
              </a:ext>
            </a:extLst>
          </p:cNvPr>
          <p:cNvSpPr>
            <a:spLocks noGrp="1"/>
          </p:cNvSpPr>
          <p:nvPr/>
        </p:nvSpPr>
        <p:spPr>
          <a:xfrm>
            <a:off x="8629650" y="1600200"/>
            <a:ext cx="28003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Bridge usa fila, workers e rate limit; Kubernetes inclui HPA para o bridge.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376AE25-B9E0-4FDB-89B5-1FB47306464E}"/>
              </a:ext>
            </a:extLst>
          </p:cNvPr>
          <p:cNvSpPr>
            <a:spLocks noGrp="1"/>
          </p:cNvSpPr>
          <p:nvPr/>
        </p:nvSpPr>
        <p:spPr>
          <a:xfrm>
            <a:off x="1181100" y="3276600"/>
            <a:ext cx="1619250" cy="68580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1F9305D-8065-4C1C-B92A-16647704782B}"/>
              </a:ext>
            </a:extLst>
          </p:cNvPr>
          <p:cNvSpPr>
            <a:spLocks noGrp="1"/>
          </p:cNvSpPr>
          <p:nvPr/>
        </p:nvSpPr>
        <p:spPr>
          <a:xfrm>
            <a:off x="1314450" y="34099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Pod simulador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3950C62-88B7-446B-BCB2-A2F9599A8CE5}"/>
              </a:ext>
            </a:extLst>
          </p:cNvPr>
          <p:cNvSpPr>
            <a:spLocks noGrp="1"/>
          </p:cNvSpPr>
          <p:nvPr/>
        </p:nvSpPr>
        <p:spPr>
          <a:xfrm>
            <a:off x="1314450" y="3686175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shard 0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640CEE-A4DA-4A94-9333-659ABDCFE2FF}"/>
              </a:ext>
            </a:extLst>
          </p:cNvPr>
          <p:cNvSpPr>
            <a:spLocks noGrp="1"/>
          </p:cNvSpPr>
          <p:nvPr/>
        </p:nvSpPr>
        <p:spPr>
          <a:xfrm>
            <a:off x="1181100" y="4324350"/>
            <a:ext cx="1619250" cy="685800"/>
          </a:xfrm>
          <a:prstGeom prst="rect">
            <a:avLst/>
          </a:prstGeom>
          <a:solidFill>
            <a:srgbClr val="DBEAFE"/>
          </a:solidFill>
          <a:ln w="1524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44FD170-BF30-4762-B1EE-7604FE25435E}"/>
              </a:ext>
            </a:extLst>
          </p:cNvPr>
          <p:cNvSpPr>
            <a:spLocks noGrp="1"/>
          </p:cNvSpPr>
          <p:nvPr/>
        </p:nvSpPr>
        <p:spPr>
          <a:xfrm>
            <a:off x="1314450" y="445770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Pod simulador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0D184A6-A0E6-4C09-9E53-9F90D73DB9CF}"/>
              </a:ext>
            </a:extLst>
          </p:cNvPr>
          <p:cNvSpPr>
            <a:spLocks noGrp="1"/>
          </p:cNvSpPr>
          <p:nvPr/>
        </p:nvSpPr>
        <p:spPr>
          <a:xfrm>
            <a:off x="1314450" y="4733925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shard 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954D17C-43AA-4202-A263-7F9925EFE00E}"/>
              </a:ext>
            </a:extLst>
          </p:cNvPr>
          <p:cNvSpPr>
            <a:spLocks noGrp="1"/>
          </p:cNvSpPr>
          <p:nvPr/>
        </p:nvSpPr>
        <p:spPr>
          <a:xfrm>
            <a:off x="3752850" y="3790950"/>
            <a:ext cx="1619250" cy="685800"/>
          </a:xfrm>
          <a:prstGeom prst="rect">
            <a:avLst/>
          </a:prstGeom>
          <a:solidFill>
            <a:srgbClr val="CCFBF1"/>
          </a:solidFill>
          <a:ln w="1524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807A784-51B2-46B7-B687-337E3377EBDD}"/>
              </a:ext>
            </a:extLst>
          </p:cNvPr>
          <p:cNvSpPr>
            <a:spLocks noGrp="1"/>
          </p:cNvSpPr>
          <p:nvPr/>
        </p:nvSpPr>
        <p:spPr>
          <a:xfrm>
            <a:off x="3886200" y="392430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EMQX/MQTT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401C86-B3B4-40B9-BC6E-D59779BF17B6}"/>
              </a:ext>
            </a:extLst>
          </p:cNvPr>
          <p:cNvSpPr>
            <a:spLocks noGrp="1"/>
          </p:cNvSpPr>
          <p:nvPr/>
        </p:nvSpPr>
        <p:spPr>
          <a:xfrm>
            <a:off x="3886200" y="4200525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broker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686822F-961C-4E3A-B395-C29BE2DC8B81}"/>
              </a:ext>
            </a:extLst>
          </p:cNvPr>
          <p:cNvSpPr>
            <a:spLocks noGrp="1"/>
          </p:cNvSpPr>
          <p:nvPr/>
        </p:nvSpPr>
        <p:spPr>
          <a:xfrm>
            <a:off x="6324600" y="3276600"/>
            <a:ext cx="1619250" cy="68580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4064025-31F4-4AB0-9238-01332E1BA2B2}"/>
              </a:ext>
            </a:extLst>
          </p:cNvPr>
          <p:cNvSpPr>
            <a:spLocks noGrp="1"/>
          </p:cNvSpPr>
          <p:nvPr/>
        </p:nvSpPr>
        <p:spPr>
          <a:xfrm>
            <a:off x="6457950" y="340995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Bridge replica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C20C89F-EE3D-40D2-80A8-E8400E3FE743}"/>
              </a:ext>
            </a:extLst>
          </p:cNvPr>
          <p:cNvSpPr>
            <a:spLocks noGrp="1"/>
          </p:cNvSpPr>
          <p:nvPr/>
        </p:nvSpPr>
        <p:spPr>
          <a:xfrm>
            <a:off x="6457950" y="3686175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workers HTTP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ED7A96D-0829-48FF-A180-F4AD49F1ACED}"/>
              </a:ext>
            </a:extLst>
          </p:cNvPr>
          <p:cNvSpPr>
            <a:spLocks noGrp="1"/>
          </p:cNvSpPr>
          <p:nvPr/>
        </p:nvSpPr>
        <p:spPr>
          <a:xfrm>
            <a:off x="6324600" y="4324350"/>
            <a:ext cx="1619250" cy="685800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6F6E95E-E75D-4DA5-A403-D26A43B915FB}"/>
              </a:ext>
            </a:extLst>
          </p:cNvPr>
          <p:cNvSpPr>
            <a:spLocks noGrp="1"/>
          </p:cNvSpPr>
          <p:nvPr/>
        </p:nvSpPr>
        <p:spPr>
          <a:xfrm>
            <a:off x="6457950" y="445770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Bridge replica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4CEA542-168B-4052-B612-C7BD3EB3C090}"/>
              </a:ext>
            </a:extLst>
          </p:cNvPr>
          <p:cNvSpPr>
            <a:spLocks noGrp="1"/>
          </p:cNvSpPr>
          <p:nvPr/>
        </p:nvSpPr>
        <p:spPr>
          <a:xfrm>
            <a:off x="6457950" y="4733925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workers HTTP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AFADB8F-FFBF-434F-9A7B-0A6F372C7A42}"/>
              </a:ext>
            </a:extLst>
          </p:cNvPr>
          <p:cNvSpPr>
            <a:spLocks noGrp="1"/>
          </p:cNvSpPr>
          <p:nvPr/>
        </p:nvSpPr>
        <p:spPr>
          <a:xfrm>
            <a:off x="8896350" y="3790950"/>
            <a:ext cx="1619250" cy="685800"/>
          </a:xfrm>
          <a:prstGeom prst="rect">
            <a:avLst/>
          </a:prstGeom>
          <a:solidFill>
            <a:srgbClr val="FEF3C7"/>
          </a:solidFill>
          <a:ln w="1524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2A39BAC-72C0-48AD-96A1-0FFA538597DC}"/>
              </a:ext>
            </a:extLst>
          </p:cNvPr>
          <p:cNvSpPr>
            <a:spLocks noGrp="1"/>
          </p:cNvSpPr>
          <p:nvPr/>
        </p:nvSpPr>
        <p:spPr>
          <a:xfrm>
            <a:off x="9029700" y="3924300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InterSCity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51BB37D-5222-4E91-AD35-635656FA076D}"/>
              </a:ext>
            </a:extLst>
          </p:cNvPr>
          <p:cNvSpPr>
            <a:spLocks noGrp="1"/>
          </p:cNvSpPr>
          <p:nvPr/>
        </p:nvSpPr>
        <p:spPr>
          <a:xfrm>
            <a:off x="9029700" y="4200525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API remota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A1F14E1-AB02-4352-8023-1FD7656DB736}"/>
              </a:ext>
            </a:extLst>
          </p:cNvPr>
          <p:cNvSpPr>
            <a:spLocks noGrp="1"/>
          </p:cNvSpPr>
          <p:nvPr/>
        </p:nvSpPr>
        <p:spPr>
          <a:xfrm>
            <a:off x="2800350" y="3600450"/>
            <a:ext cx="9525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C560DB1-3E83-4C23-A6B8-90F174639131}"/>
              </a:ext>
            </a:extLst>
          </p:cNvPr>
          <p:cNvSpPr>
            <a:spLocks noGrp="1"/>
          </p:cNvSpPr>
          <p:nvPr/>
        </p:nvSpPr>
        <p:spPr>
          <a:xfrm>
            <a:off x="3619500" y="34956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C802B45-2B3C-45AF-8C71-23FEE9B3CEDC}"/>
              </a:ext>
            </a:extLst>
          </p:cNvPr>
          <p:cNvSpPr>
            <a:spLocks noGrp="1"/>
          </p:cNvSpPr>
          <p:nvPr/>
        </p:nvSpPr>
        <p:spPr>
          <a:xfrm>
            <a:off x="2800350" y="4648200"/>
            <a:ext cx="952500" cy="381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3840162-374D-49E1-871D-F6CB748AACBA}"/>
              </a:ext>
            </a:extLst>
          </p:cNvPr>
          <p:cNvSpPr>
            <a:spLocks noGrp="1"/>
          </p:cNvSpPr>
          <p:nvPr/>
        </p:nvSpPr>
        <p:spPr>
          <a:xfrm>
            <a:off x="3619500" y="454342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DCD1A5A-EB00-435E-8E15-439E37B9B919}"/>
              </a:ext>
            </a:extLst>
          </p:cNvPr>
          <p:cNvSpPr>
            <a:spLocks noGrp="1"/>
          </p:cNvSpPr>
          <p:nvPr/>
        </p:nvSpPr>
        <p:spPr>
          <a:xfrm>
            <a:off x="5372100" y="4114800"/>
            <a:ext cx="952500" cy="381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9F8CB16-8DAB-45D2-9F7E-985E0CF02E96}"/>
              </a:ext>
            </a:extLst>
          </p:cNvPr>
          <p:cNvSpPr>
            <a:spLocks noGrp="1"/>
          </p:cNvSpPr>
          <p:nvPr/>
        </p:nvSpPr>
        <p:spPr>
          <a:xfrm>
            <a:off x="6191250" y="401002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00649CF-0537-463E-AF32-D7F147FB1F02}"/>
              </a:ext>
            </a:extLst>
          </p:cNvPr>
          <p:cNvSpPr>
            <a:spLocks noGrp="1"/>
          </p:cNvSpPr>
          <p:nvPr/>
        </p:nvSpPr>
        <p:spPr>
          <a:xfrm>
            <a:off x="5372100" y="4114800"/>
            <a:ext cx="952500" cy="38100"/>
          </a:xfrm>
          <a:prstGeom prst="rect">
            <a:avLst/>
          </a:prstGeom>
          <a:solidFill>
            <a:srgbClr val="7C3AE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C3568E4-3EB1-40D2-8DC3-08DCE989B4D2}"/>
              </a:ext>
            </a:extLst>
          </p:cNvPr>
          <p:cNvSpPr>
            <a:spLocks noGrp="1"/>
          </p:cNvSpPr>
          <p:nvPr/>
        </p:nvSpPr>
        <p:spPr>
          <a:xfrm>
            <a:off x="6191250" y="401002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C3AED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F41DE01-B4C9-4E5B-9851-6DCA071881C5}"/>
              </a:ext>
            </a:extLst>
          </p:cNvPr>
          <p:cNvSpPr>
            <a:spLocks noGrp="1"/>
          </p:cNvSpPr>
          <p:nvPr/>
        </p:nvSpPr>
        <p:spPr>
          <a:xfrm>
            <a:off x="7943850" y="3600450"/>
            <a:ext cx="9525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E474FDC9-1274-499D-89A6-0B69F1134137}"/>
              </a:ext>
            </a:extLst>
          </p:cNvPr>
          <p:cNvSpPr>
            <a:spLocks noGrp="1"/>
          </p:cNvSpPr>
          <p:nvPr/>
        </p:nvSpPr>
        <p:spPr>
          <a:xfrm>
            <a:off x="8763000" y="349567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E2E2E3A-D449-4D4C-ADA3-84E0A08E8792}"/>
              </a:ext>
            </a:extLst>
          </p:cNvPr>
          <p:cNvSpPr>
            <a:spLocks noGrp="1"/>
          </p:cNvSpPr>
          <p:nvPr/>
        </p:nvSpPr>
        <p:spPr>
          <a:xfrm>
            <a:off x="7943850" y="4648200"/>
            <a:ext cx="952500" cy="381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6F773B2-C920-41E5-B27E-6027764225FD}"/>
              </a:ext>
            </a:extLst>
          </p:cNvPr>
          <p:cNvSpPr>
            <a:spLocks noGrp="1"/>
          </p:cNvSpPr>
          <p:nvPr/>
        </p:nvSpPr>
        <p:spPr>
          <a:xfrm>
            <a:off x="8763000" y="4543425"/>
            <a:ext cx="228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543262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B48C970C-A088-4945-B249-5BA3F0200E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DDBE6A-A038-4CF2-844C-9CD12A76729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0485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E20E49-63B4-44E6-89B4-D95ACF4C3C34}"/>
              </a:ext>
            </a:extLst>
          </p:cNvPr>
          <p:cNvSpPr>
            <a:spLocks noGrp="1"/>
          </p:cNvSpPr>
          <p:nvPr/>
        </p:nvSpPr>
        <p:spPr>
          <a:xfrm>
            <a:off x="514350" y="190500"/>
            <a:ext cx="2571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08 | Status e proximos passos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24D9C3-5A09-48D9-84DB-D88E0544495B}"/>
              </a:ext>
            </a:extLst>
          </p:cNvPr>
          <p:cNvSpPr>
            <a:spLocks noGrp="1"/>
          </p:cNvSpPr>
          <p:nvPr/>
        </p:nvSpPr>
        <p:spPr>
          <a:xfrm>
            <a:off x="514350" y="400050"/>
            <a:ext cx="723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32033"/>
                </a:solidFill>
                <a:latin typeface="Aptos Display"/>
                <a:ea typeface="Aptos Display"/>
                <a:cs typeface="Aptos Display"/>
              </a:rPr>
              <a:t>O sistema local esta operacional; a disponibilidade remota do InterSCity deve ser monitorada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98305A-7925-443C-BFAC-56575AE50333}"/>
              </a:ext>
            </a:extLst>
          </p:cNvPr>
          <p:cNvSpPr>
            <a:spLocks noGrp="1"/>
          </p:cNvSpPr>
          <p:nvPr/>
        </p:nvSpPr>
        <p:spPr>
          <a:xfrm>
            <a:off x="7810500" y="285750"/>
            <a:ext cx="3810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fechamento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E9846CC-8768-438A-8BB2-06B8794A26E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AC-IoT UFMA | Sistema distribuido IoT + InterSCity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390B5C-4BFE-4FB6-8758-F11155AA1DC0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1428750" cy="285750"/>
          </a:xfrm>
          <a:prstGeom prst="rect">
            <a:avLst/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D4C3A8-D39E-43A0-810B-A0DB7C0850CF}"/>
              </a:ext>
            </a:extLst>
          </p:cNvPr>
          <p:cNvSpPr>
            <a:spLocks noGrp="1"/>
          </p:cNvSpPr>
          <p:nvPr/>
        </p:nvSpPr>
        <p:spPr>
          <a:xfrm>
            <a:off x="781050" y="1304925"/>
            <a:ext cx="1238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LOCAL OK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09C602-29B0-4D5C-948C-F8FE39E55DDC}"/>
              </a:ext>
            </a:extLst>
          </p:cNvPr>
          <p:cNvSpPr>
            <a:spLocks noGrp="1"/>
          </p:cNvSpPr>
          <p:nvPr/>
        </p:nvSpPr>
        <p:spPr>
          <a:xfrm>
            <a:off x="2343150" y="1238250"/>
            <a:ext cx="1428750" cy="285750"/>
          </a:xfrm>
          <a:prstGeom prst="rect">
            <a:avLst/>
          </a:prstGeom>
          <a:solidFill>
            <a:srgbClr val="DCFCE7"/>
          </a:solidFill>
          <a:ln w="9525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362BA89-880F-41EE-AD8F-EEDB6E2026B8}"/>
              </a:ext>
            </a:extLst>
          </p:cNvPr>
          <p:cNvSpPr>
            <a:spLocks noGrp="1"/>
          </p:cNvSpPr>
          <p:nvPr/>
        </p:nvSpPr>
        <p:spPr>
          <a:xfrm>
            <a:off x="2438400" y="1304925"/>
            <a:ext cx="1238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MQTT AO VIVO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A415FB-67AE-4F15-924F-9DB264583519}"/>
              </a:ext>
            </a:extLst>
          </p:cNvPr>
          <p:cNvSpPr>
            <a:spLocks noGrp="1"/>
          </p:cNvSpPr>
          <p:nvPr/>
        </p:nvSpPr>
        <p:spPr>
          <a:xfrm>
            <a:off x="4000500" y="1238250"/>
            <a:ext cx="1428750" cy="285750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5DD940-48D3-4ECB-B55D-703CEADB3B6C}"/>
              </a:ext>
            </a:extLst>
          </p:cNvPr>
          <p:cNvSpPr>
            <a:spLocks noGrp="1"/>
          </p:cNvSpPr>
          <p:nvPr/>
        </p:nvSpPr>
        <p:spPr>
          <a:xfrm>
            <a:off x="4095750" y="1304925"/>
            <a:ext cx="1238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IC INSTAVEL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A3EEC8-506B-45C2-81E6-C9C0AE0FC213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314325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088D6D-3926-4D44-B2BA-B28513A24107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66675" cy="1333500"/>
          </a:xfrm>
          <a:prstGeom prst="rect">
            <a:avLst/>
          </a:prstGeom>
          <a:solidFill>
            <a:srgbClr val="1580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04E49C1-30C1-4C44-93F2-3B064BE6FA2F}"/>
              </a:ext>
            </a:extLst>
          </p:cNvPr>
          <p:cNvSpPr>
            <a:spLocks noGrp="1"/>
          </p:cNvSpPr>
          <p:nvPr/>
        </p:nvSpPr>
        <p:spPr>
          <a:xfrm>
            <a:off x="876300" y="2000250"/>
            <a:ext cx="2800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Concluido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65CA8B2-66B2-40F5-ADCE-045B758374A3}"/>
              </a:ext>
            </a:extLst>
          </p:cNvPr>
          <p:cNvSpPr>
            <a:spLocks noGrp="1"/>
          </p:cNvSpPr>
          <p:nvPr/>
        </p:nvSpPr>
        <p:spPr>
          <a:xfrm>
            <a:off x="876300" y="2324100"/>
            <a:ext cx="28003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Painel para 1.000 salas, filtros, blocos, temperatura critica, dashboard de metricas e link externo para o InterSCity.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D228A5C-D1B5-46FC-87A9-427DF2753B7C}"/>
              </a:ext>
            </a:extLst>
          </p:cNvPr>
          <p:cNvSpPr>
            <a:spLocks noGrp="1"/>
          </p:cNvSpPr>
          <p:nvPr/>
        </p:nvSpPr>
        <p:spPr>
          <a:xfrm>
            <a:off x="4514850" y="1828800"/>
            <a:ext cx="314325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0EA221A-6364-46D6-909B-417442DF0851}"/>
              </a:ext>
            </a:extLst>
          </p:cNvPr>
          <p:cNvSpPr>
            <a:spLocks noGrp="1"/>
          </p:cNvSpPr>
          <p:nvPr/>
        </p:nvSpPr>
        <p:spPr>
          <a:xfrm>
            <a:off x="4514850" y="1828800"/>
            <a:ext cx="66675" cy="133350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8D06F9-9BB8-447E-868E-79EE1C5F027F}"/>
              </a:ext>
            </a:extLst>
          </p:cNvPr>
          <p:cNvSpPr>
            <a:spLocks noGrp="1"/>
          </p:cNvSpPr>
          <p:nvPr/>
        </p:nvSpPr>
        <p:spPr>
          <a:xfrm>
            <a:off x="4705350" y="2000250"/>
            <a:ext cx="2800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Evidencia atual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7384E6C-3CF7-4E6A-AC8E-B266D6CC7C64}"/>
              </a:ext>
            </a:extLst>
          </p:cNvPr>
          <p:cNvSpPr>
            <a:spLocks noGrp="1"/>
          </p:cNvSpPr>
          <p:nvPr/>
        </p:nvSpPr>
        <p:spPr>
          <a:xfrm>
            <a:off x="4705350" y="2324100"/>
            <a:ext cx="28003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Containers ativos, sensores MQTT chegando, bridge publicando metricas e historico de 61.330 envios ao InterSCity.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68A6D3-969D-4E69-8CF5-A3FC0E6421A7}"/>
              </a:ext>
            </a:extLst>
          </p:cNvPr>
          <p:cNvSpPr>
            <a:spLocks noGrp="1"/>
          </p:cNvSpPr>
          <p:nvPr/>
        </p:nvSpPr>
        <p:spPr>
          <a:xfrm>
            <a:off x="8343900" y="1828800"/>
            <a:ext cx="3143250" cy="13335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C64915-CB82-4091-99BF-BE4B6D499838}"/>
              </a:ext>
            </a:extLst>
          </p:cNvPr>
          <p:cNvSpPr>
            <a:spLocks noGrp="1"/>
          </p:cNvSpPr>
          <p:nvPr/>
        </p:nvSpPr>
        <p:spPr>
          <a:xfrm>
            <a:off x="8343900" y="1828800"/>
            <a:ext cx="66675" cy="1333500"/>
          </a:xfrm>
          <a:prstGeom prst="rect">
            <a:avLst/>
          </a:prstGeom>
          <a:solidFill>
            <a:srgbClr val="D9770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201522-911D-461D-BD59-30D18F97580F}"/>
              </a:ext>
            </a:extLst>
          </p:cNvPr>
          <p:cNvSpPr>
            <a:spLocks noGrp="1"/>
          </p:cNvSpPr>
          <p:nvPr/>
        </p:nvSpPr>
        <p:spPr>
          <a:xfrm>
            <a:off x="8534400" y="2000250"/>
            <a:ext cx="2800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Risco operacional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F1FDC6-1746-48AC-96F5-DB99B01660F1}"/>
              </a:ext>
            </a:extLst>
          </p:cNvPr>
          <p:cNvSpPr>
            <a:spLocks noGrp="1"/>
          </p:cNvSpPr>
          <p:nvPr/>
        </p:nvSpPr>
        <p:spPr>
          <a:xfrm>
            <a:off x="8534400" y="2324100"/>
            <a:ext cx="2800350" cy="742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5F7087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F7087"/>
                </a:solidFill>
                <a:latin typeface="Aptos"/>
                <a:ea typeface="Aptos"/>
                <a:cs typeface="Aptos"/>
              </a:rPr>
              <a:t>No momento da verificacao, a API remota InterSCity retornou timeout/last_ok=false. O sistema local segue operando.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CE248C-676A-4AAC-A269-892B13323C66}"/>
              </a:ext>
            </a:extLst>
          </p:cNvPr>
          <p:cNvSpPr>
            <a:spLocks noGrp="1"/>
          </p:cNvSpPr>
          <p:nvPr/>
        </p:nvSpPr>
        <p:spPr>
          <a:xfrm>
            <a:off x="819150" y="3848100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Proximos passos sugeridos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3534A21-5E3D-427E-934C-22EE69F8DBA6}"/>
              </a:ext>
            </a:extLst>
          </p:cNvPr>
          <p:cNvSpPr>
            <a:spLocks noGrp="1"/>
          </p:cNvSpPr>
          <p:nvPr/>
        </p:nvSpPr>
        <p:spPr>
          <a:xfrm>
            <a:off x="876300" y="4381500"/>
            <a:ext cx="123825" cy="123825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3CD4BE9-E4DE-40DB-87BB-18BE0039460C}"/>
              </a:ext>
            </a:extLst>
          </p:cNvPr>
          <p:cNvSpPr>
            <a:spLocks noGrp="1"/>
          </p:cNvSpPr>
          <p:nvPr/>
        </p:nvSpPr>
        <p:spPr>
          <a:xfrm>
            <a:off x="1104900" y="4343400"/>
            <a:ext cx="7010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Registrar janela de evidencias quando o InterSCity remoto voltar a responder.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3E0AC19-CE84-4E7B-853D-9C2945927DBE}"/>
              </a:ext>
            </a:extLst>
          </p:cNvPr>
          <p:cNvSpPr>
            <a:spLocks noGrp="1"/>
          </p:cNvSpPr>
          <p:nvPr/>
        </p:nvSpPr>
        <p:spPr>
          <a:xfrm>
            <a:off x="876300" y="4781550"/>
            <a:ext cx="123825" cy="123825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11D148C-B92F-4982-BE4F-F66B288295EF}"/>
              </a:ext>
            </a:extLst>
          </p:cNvPr>
          <p:cNvSpPr>
            <a:spLocks noGrp="1"/>
          </p:cNvSpPr>
          <p:nvPr/>
        </p:nvSpPr>
        <p:spPr>
          <a:xfrm>
            <a:off x="1104900" y="4743450"/>
            <a:ext cx="7010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Adicionar alarme visual para fila alta ou sent_per_sec zerado por periodo prolongado.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08507F4-C944-49D5-A93B-7504DFE3605E}"/>
              </a:ext>
            </a:extLst>
          </p:cNvPr>
          <p:cNvSpPr>
            <a:spLocks noGrp="1"/>
          </p:cNvSpPr>
          <p:nvPr/>
        </p:nvSpPr>
        <p:spPr>
          <a:xfrm>
            <a:off x="876300" y="5181600"/>
            <a:ext cx="123825" cy="123825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780BCAD-C584-40F5-AF68-469D237EAA9A}"/>
              </a:ext>
            </a:extLst>
          </p:cNvPr>
          <p:cNvSpPr>
            <a:spLocks noGrp="1"/>
          </p:cNvSpPr>
          <p:nvPr/>
        </p:nvSpPr>
        <p:spPr>
          <a:xfrm>
            <a:off x="1104900" y="5143500"/>
            <a:ext cx="7010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Executar teste de carga com multiplas replicas do simulador e bridge.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1E82D3CD-4197-49D8-8039-0AC599DD0B35}"/>
              </a:ext>
            </a:extLst>
          </p:cNvPr>
          <p:cNvSpPr>
            <a:spLocks noGrp="1"/>
          </p:cNvSpPr>
          <p:nvPr/>
        </p:nvSpPr>
        <p:spPr>
          <a:xfrm>
            <a:off x="876300" y="5581650"/>
            <a:ext cx="123825" cy="123825"/>
          </a:xfrm>
          <a:prstGeom prst="ellipse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B36B916-D7C8-4EBD-B138-71CD175FF059}"/>
              </a:ext>
            </a:extLst>
          </p:cNvPr>
          <p:cNvSpPr>
            <a:spLocks noGrp="1"/>
          </p:cNvSpPr>
          <p:nvPr/>
        </p:nvSpPr>
        <p:spPr>
          <a:xfrm>
            <a:off x="1104900" y="5543550"/>
            <a:ext cx="70104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Anexar prints do dashboard e logs ao relatorio final.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B3E9AE6-CA2A-4291-8705-4B99E381B02A}"/>
              </a:ext>
            </a:extLst>
          </p:cNvPr>
          <p:cNvSpPr>
            <a:spLocks noGrp="1"/>
          </p:cNvSpPr>
          <p:nvPr/>
        </p:nvSpPr>
        <p:spPr>
          <a:xfrm>
            <a:off x="8534400" y="4000500"/>
            <a:ext cx="24765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  <p:txBody>
          <a:bodyPr/>
          <a:lstStyle/>
          <a:p>
            <a:endParaRPr lang="en-B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34C9EE6-E913-4A49-A4AA-925058D27878}"/>
              </a:ext>
            </a:extLst>
          </p:cNvPr>
          <p:cNvSpPr>
            <a:spLocks noGrp="1"/>
          </p:cNvSpPr>
          <p:nvPr/>
        </p:nvSpPr>
        <p:spPr>
          <a:xfrm>
            <a:off x="8782050" y="4248150"/>
            <a:ext cx="2000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3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033"/>
                </a:solidFill>
                <a:latin typeface="Aptos"/>
                <a:ea typeface="Aptos"/>
                <a:cs typeface="Aptos"/>
              </a:rPr>
              <a:t>Mensagem-chave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7C06980-0121-4655-8099-C571E376FB5D}"/>
              </a:ext>
            </a:extLst>
          </p:cNvPr>
          <p:cNvSpPr>
            <a:spLocks noGrp="1"/>
          </p:cNvSpPr>
          <p:nvPr/>
        </p:nvSpPr>
        <p:spPr>
          <a:xfrm>
            <a:off x="8782050" y="46482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Sistema distribuido local pronto; integracao externa observavel e resiliente.</a:t>
            </a:r>
          </a:p>
        </p:txBody>
      </p:sp>
    </p:spTree>
    <p:extLst>
      <p:ext uri="{BB962C8B-B14F-4D97-AF65-F5344CB8AC3E}">
        <p14:creationId xmlns:p14="http://schemas.microsoft.com/office/powerpoint/2010/main" val="3494519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9AF79D-E821-9C32-D596-9E6DC769A0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1512" y="-62725"/>
            <a:ext cx="12303512" cy="692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7936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C757A0-2D17-BA5F-8F5F-B3D26CC04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51239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1130</Words>
  <Application>Microsoft Macintosh PowerPoint</Application>
  <DocSecurity>0</DocSecurity>
  <PresentationFormat>Widescreen</PresentationFormat>
  <Paragraphs>260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Nilton Mangueira</cp:lastModifiedBy>
  <cp:revision>1</cp:revision>
  <dcterms:created xsi:type="dcterms:W3CDTF">2026-06-15T20:23:00Z</dcterms:created>
  <dcterms:modified xsi:type="dcterms:W3CDTF">2026-06-16T01:04:06Z</dcterms:modified>
</cp:coreProperties>
</file>