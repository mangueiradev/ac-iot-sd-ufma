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>
      <p:cViewPr varScale="1">
        <p:scale>
          <a:sx n="115" d="100"/>
          <a:sy n="115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7166A4-6981-451F-8C1E-C795D51BDCD9}"/>
              </a:ext>
            </a:extLst>
          </p:cNvPr>
          <p:cNvSpPr>
            <a:spLocks noGrp="1"/>
          </p:cNvSpPr>
          <p:nvPr/>
        </p:nvSpPr>
        <p:spPr>
          <a:xfrm>
            <a:off x="0" y="11151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090C33-3EE2-40EF-894E-D5448BA0DE3D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F91821-4B1F-404F-9D44-0AAAC506683C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OBJETIVO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1F4C69-E18F-4BB7-8435-E9016006928D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8382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AC-IoT UFMA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AC86CD-A5BD-4BB9-9E2A-527C69E33D1C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9334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Monitoramento e controle inteligente de ar-condicionado em salas de aula com IoT, MQTT, automação e painel web.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DC2452-6706-46E9-AB9D-A59869B16EDE}"/>
              </a:ext>
            </a:extLst>
          </p:cNvPr>
          <p:cNvSpPr>
            <a:spLocks noGrp="1"/>
          </p:cNvSpPr>
          <p:nvPr/>
        </p:nvSpPr>
        <p:spPr>
          <a:xfrm>
            <a:off x="647700" y="3524250"/>
            <a:ext cx="7239000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03E96B-1352-4153-A101-6EECEAC6459B}"/>
              </a:ext>
            </a:extLst>
          </p:cNvPr>
          <p:cNvSpPr>
            <a:spLocks noGrp="1"/>
          </p:cNvSpPr>
          <p:nvPr/>
        </p:nvSpPr>
        <p:spPr>
          <a:xfrm>
            <a:off x="647700" y="384810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Equipe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B31256-BFF5-47AC-86DD-185FB0BBAFC0}"/>
              </a:ext>
            </a:extLst>
          </p:cNvPr>
          <p:cNvSpPr>
            <a:spLocks noGrp="1"/>
          </p:cNvSpPr>
          <p:nvPr/>
        </p:nvSpPr>
        <p:spPr>
          <a:xfrm>
            <a:off x="647700" y="4305300"/>
            <a:ext cx="857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dirty="0" err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Cleila</a:t>
            </a:r>
            <a:r>
              <a:rPr lang="pt-BR" sz="225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 Monteiro</a:t>
            </a:r>
            <a:r>
              <a:rPr sz="225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; Guilherme</a:t>
            </a:r>
            <a:r>
              <a:rPr lang="pt-BR" sz="225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 de Aquino</a:t>
            </a:r>
            <a:r>
              <a:rPr sz="225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; Nilton</a:t>
            </a:r>
            <a:r>
              <a:rPr lang="pt-BR" sz="225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 Mangueira</a:t>
            </a:r>
            <a:r>
              <a:rPr sz="225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; R</a:t>
            </a:r>
            <a:r>
              <a:rPr lang="pt-BR" sz="225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</a:t>
            </a:r>
            <a:r>
              <a:rPr sz="2250" b="1" dirty="0" err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niere</a:t>
            </a:r>
            <a:r>
              <a:rPr lang="pt-BR" sz="225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 Mendes</a:t>
            </a:r>
            <a:r>
              <a:rPr sz="225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; Tereza</a:t>
            </a:r>
            <a:r>
              <a:rPr lang="pt-BR" sz="2250" b="1" dirty="0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 Clarice</a:t>
            </a:r>
            <a:endParaRPr sz="2250" b="1" dirty="0">
              <a:solidFill>
                <a:srgbClr val="17202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4DF61A-D1EA-40E9-AAE2-8DE7B19E4E7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498FCF-0135-44B5-9778-09FDA481B49D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1635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6825FEF3-E989-4DAD-BD9F-9A2141DFA2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83B0B3-C551-4336-AE41-50BA01A1925B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894B37-D991-4C29-9E9D-E1709244B7AE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ARQUITETURA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281139-C46D-4AC4-8790-053075652DE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 fluxo atual conecta simulação, automação, painel e InterSCity.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5B1BF1-B65D-411F-B973-600E498FA8C2}"/>
              </a:ext>
            </a:extLst>
          </p:cNvPr>
          <p:cNvSpPr>
            <a:spLocks noGrp="1"/>
          </p:cNvSpPr>
          <p:nvPr/>
        </p:nvSpPr>
        <p:spPr>
          <a:xfrm>
            <a:off x="609600" y="2619375"/>
            <a:ext cx="1809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A8D5EE-735E-4C4B-BFF3-FA6F6AD42483}"/>
              </a:ext>
            </a:extLst>
          </p:cNvPr>
          <p:cNvSpPr>
            <a:spLocks noGrp="1"/>
          </p:cNvSpPr>
          <p:nvPr/>
        </p:nvSpPr>
        <p:spPr>
          <a:xfrm>
            <a:off x="609600" y="2619375"/>
            <a:ext cx="18097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06409D-1410-451F-B135-927218E6C119}"/>
              </a:ext>
            </a:extLst>
          </p:cNvPr>
          <p:cNvSpPr>
            <a:spLocks noGrp="1"/>
          </p:cNvSpPr>
          <p:nvPr/>
        </p:nvSpPr>
        <p:spPr>
          <a:xfrm>
            <a:off x="762000" y="2790825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Simulador C++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0D151B-B448-43C8-B2D4-390211BF35D2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15049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gera sensores e recebe comandos para sala01, sala02 e sala03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C0C398-6996-4397-8252-44BEEFE96430}"/>
              </a:ext>
            </a:extLst>
          </p:cNvPr>
          <p:cNvSpPr>
            <a:spLocks noGrp="1"/>
          </p:cNvSpPr>
          <p:nvPr/>
        </p:nvSpPr>
        <p:spPr>
          <a:xfrm>
            <a:off x="2971800" y="2619375"/>
            <a:ext cx="1714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EB9C74-7E7A-4C1F-B048-6AD559D9DB57}"/>
              </a:ext>
            </a:extLst>
          </p:cNvPr>
          <p:cNvSpPr>
            <a:spLocks noGrp="1"/>
          </p:cNvSpPr>
          <p:nvPr/>
        </p:nvSpPr>
        <p:spPr>
          <a:xfrm>
            <a:off x="2971800" y="2619375"/>
            <a:ext cx="1714500" cy="4762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D563F3-6768-4FDF-BFE2-66A3D5954601}"/>
              </a:ext>
            </a:extLst>
          </p:cNvPr>
          <p:cNvSpPr>
            <a:spLocks noGrp="1"/>
          </p:cNvSpPr>
          <p:nvPr/>
        </p:nvSpPr>
        <p:spPr>
          <a:xfrm>
            <a:off x="3124200" y="2790825"/>
            <a:ext cx="1409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Mosquitto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28B10F-C2B4-4303-954E-8267590B01F1}"/>
              </a:ext>
            </a:extLst>
          </p:cNvPr>
          <p:cNvSpPr>
            <a:spLocks noGrp="1"/>
          </p:cNvSpPr>
          <p:nvPr/>
        </p:nvSpPr>
        <p:spPr>
          <a:xfrm>
            <a:off x="3124200" y="3095625"/>
            <a:ext cx="14097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broker MQTT TCP 1883 e WebSocket 9001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6EE03B-9CDC-4CC3-9D09-AE4195569D66}"/>
              </a:ext>
            </a:extLst>
          </p:cNvPr>
          <p:cNvSpPr>
            <a:spLocks noGrp="1"/>
          </p:cNvSpPr>
          <p:nvPr/>
        </p:nvSpPr>
        <p:spPr>
          <a:xfrm>
            <a:off x="5257800" y="2000250"/>
            <a:ext cx="1809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4A8CF6-2CB8-408A-AF9D-FB98EDB90E83}"/>
              </a:ext>
            </a:extLst>
          </p:cNvPr>
          <p:cNvSpPr>
            <a:spLocks noGrp="1"/>
          </p:cNvSpPr>
          <p:nvPr/>
        </p:nvSpPr>
        <p:spPr>
          <a:xfrm>
            <a:off x="5257800" y="2000250"/>
            <a:ext cx="180975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0B9206-4C54-440F-8CB3-D7A400E55BAF}"/>
              </a:ext>
            </a:extLst>
          </p:cNvPr>
          <p:cNvSpPr>
            <a:spLocks noGrp="1"/>
          </p:cNvSpPr>
          <p:nvPr/>
        </p:nvSpPr>
        <p:spPr>
          <a:xfrm>
            <a:off x="5410200" y="217170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Node-RED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78A810-7D6B-4BF0-BAF6-4E4D48639074}"/>
              </a:ext>
            </a:extLst>
          </p:cNvPr>
          <p:cNvSpPr>
            <a:spLocks noGrp="1"/>
          </p:cNvSpPr>
          <p:nvPr/>
        </p:nvSpPr>
        <p:spPr>
          <a:xfrm>
            <a:off x="5410200" y="2476500"/>
            <a:ext cx="15049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regras de presença, setpoints e temporizadores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AF9145-4246-4290-AFD7-D3704BB14FB8}"/>
              </a:ext>
            </a:extLst>
          </p:cNvPr>
          <p:cNvSpPr>
            <a:spLocks noGrp="1"/>
          </p:cNvSpPr>
          <p:nvPr/>
        </p:nvSpPr>
        <p:spPr>
          <a:xfrm>
            <a:off x="5257800" y="3762375"/>
            <a:ext cx="1809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876AC7-2D07-4BCB-A6E3-D3F932206469}"/>
              </a:ext>
            </a:extLst>
          </p:cNvPr>
          <p:cNvSpPr>
            <a:spLocks noGrp="1"/>
          </p:cNvSpPr>
          <p:nvPr/>
        </p:nvSpPr>
        <p:spPr>
          <a:xfrm>
            <a:off x="5257800" y="3762375"/>
            <a:ext cx="18097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B96CC5-FA23-4A34-A01E-82ED20B5D3BF}"/>
              </a:ext>
            </a:extLst>
          </p:cNvPr>
          <p:cNvSpPr>
            <a:spLocks noGrp="1"/>
          </p:cNvSpPr>
          <p:nvPr/>
        </p:nvSpPr>
        <p:spPr>
          <a:xfrm>
            <a:off x="5410200" y="3933825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Painel Web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E2F2B2-D317-4A42-BF35-12ED4F1C2A9C}"/>
              </a:ext>
            </a:extLst>
          </p:cNvPr>
          <p:cNvSpPr>
            <a:spLocks noGrp="1"/>
          </p:cNvSpPr>
          <p:nvPr/>
        </p:nvSpPr>
        <p:spPr>
          <a:xfrm>
            <a:off x="5410200" y="4238625"/>
            <a:ext cx="15049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monitoramento, controle direto e eventos MQTT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4DD1BC-34AA-491B-9D7D-EAABDE7C8ECA}"/>
              </a:ext>
            </a:extLst>
          </p:cNvPr>
          <p:cNvSpPr>
            <a:spLocks noGrp="1"/>
          </p:cNvSpPr>
          <p:nvPr/>
        </p:nvSpPr>
        <p:spPr>
          <a:xfrm>
            <a:off x="7639050" y="2619375"/>
            <a:ext cx="1619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2FACEF-BD7E-4224-B6C0-B6A4BB54BD7D}"/>
              </a:ext>
            </a:extLst>
          </p:cNvPr>
          <p:cNvSpPr>
            <a:spLocks noGrp="1"/>
          </p:cNvSpPr>
          <p:nvPr/>
        </p:nvSpPr>
        <p:spPr>
          <a:xfrm>
            <a:off x="7639050" y="2619375"/>
            <a:ext cx="1619250" cy="476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79AB44-9625-4334-BD66-1B913A9A1E75}"/>
              </a:ext>
            </a:extLst>
          </p:cNvPr>
          <p:cNvSpPr>
            <a:spLocks noGrp="1"/>
          </p:cNvSpPr>
          <p:nvPr/>
        </p:nvSpPr>
        <p:spPr>
          <a:xfrm>
            <a:off x="7791450" y="2790825"/>
            <a:ext cx="1314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Bridge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BB7B59-8A79-4897-88B3-BF0F378BC851}"/>
              </a:ext>
            </a:extLst>
          </p:cNvPr>
          <p:cNvSpPr>
            <a:spLocks noGrp="1"/>
          </p:cNvSpPr>
          <p:nvPr/>
        </p:nvSpPr>
        <p:spPr>
          <a:xfrm>
            <a:off x="7791450" y="3095625"/>
            <a:ext cx="13144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encaminha telemetria MQTT para REST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2E2987-9989-48C7-BA94-BE813AEA136E}"/>
              </a:ext>
            </a:extLst>
          </p:cNvPr>
          <p:cNvSpPr>
            <a:spLocks noGrp="1"/>
          </p:cNvSpPr>
          <p:nvPr/>
        </p:nvSpPr>
        <p:spPr>
          <a:xfrm>
            <a:off x="9829800" y="2619375"/>
            <a:ext cx="1752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63C248-3A3C-4656-9A06-CF3668D15F5C}"/>
              </a:ext>
            </a:extLst>
          </p:cNvPr>
          <p:cNvSpPr>
            <a:spLocks noGrp="1"/>
          </p:cNvSpPr>
          <p:nvPr/>
        </p:nvSpPr>
        <p:spPr>
          <a:xfrm>
            <a:off x="9829800" y="2619375"/>
            <a:ext cx="1752600" cy="4762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B6CF71-64BE-4851-900B-E4980A17A6FE}"/>
              </a:ext>
            </a:extLst>
          </p:cNvPr>
          <p:cNvSpPr>
            <a:spLocks noGrp="1"/>
          </p:cNvSpPr>
          <p:nvPr/>
        </p:nvSpPr>
        <p:spPr>
          <a:xfrm>
            <a:off x="9982200" y="2790825"/>
            <a:ext cx="1447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InterSCity UFMA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5AD415-EDDE-413E-B596-65DCA9937212}"/>
              </a:ext>
            </a:extLst>
          </p:cNvPr>
          <p:cNvSpPr>
            <a:spLocks noGrp="1"/>
          </p:cNvSpPr>
          <p:nvPr/>
        </p:nvSpPr>
        <p:spPr>
          <a:xfrm>
            <a:off x="9982200" y="3095625"/>
            <a:ext cx="1447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catálogo de recursos e última leitura por UUID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0136C0-3B5E-421E-8256-DD8444E7AE92}"/>
              </a:ext>
            </a:extLst>
          </p:cNvPr>
          <p:cNvSpPr>
            <a:spLocks noGrp="1"/>
          </p:cNvSpPr>
          <p:nvPr/>
        </p:nvSpPr>
        <p:spPr>
          <a:xfrm>
            <a:off x="2419350" y="3190875"/>
            <a:ext cx="552450" cy="2857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0CF930-09D1-462D-BA4D-91942A735200}"/>
              </a:ext>
            </a:extLst>
          </p:cNvPr>
          <p:cNvSpPr>
            <a:spLocks noGrp="1"/>
          </p:cNvSpPr>
          <p:nvPr/>
        </p:nvSpPr>
        <p:spPr>
          <a:xfrm>
            <a:off x="4686300" y="3190875"/>
            <a:ext cx="266700" cy="2857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A0A9B8-79C2-4B0C-9D5D-F7EFD33DE79F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28575" cy="17621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5FF2EA-FFB6-4D55-A33F-F37E223011ED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304800" cy="2857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400CC6-61AC-4DAB-A974-91F357561C6F}"/>
              </a:ext>
            </a:extLst>
          </p:cNvPr>
          <p:cNvSpPr>
            <a:spLocks noGrp="1"/>
          </p:cNvSpPr>
          <p:nvPr/>
        </p:nvSpPr>
        <p:spPr>
          <a:xfrm>
            <a:off x="4953000" y="4333875"/>
            <a:ext cx="304800" cy="2857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D44BE05-DAFA-48FB-B58A-6E1C768F43D7}"/>
              </a:ext>
            </a:extLst>
          </p:cNvPr>
          <p:cNvSpPr>
            <a:spLocks noGrp="1"/>
          </p:cNvSpPr>
          <p:nvPr/>
        </p:nvSpPr>
        <p:spPr>
          <a:xfrm>
            <a:off x="7067550" y="2571750"/>
            <a:ext cx="285750" cy="2857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3EC9224-87B8-4175-90B4-8051C59FAFA7}"/>
              </a:ext>
            </a:extLst>
          </p:cNvPr>
          <p:cNvSpPr>
            <a:spLocks noGrp="1"/>
          </p:cNvSpPr>
          <p:nvPr/>
        </p:nvSpPr>
        <p:spPr>
          <a:xfrm>
            <a:off x="7353300" y="2571750"/>
            <a:ext cx="28575" cy="6191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529557E-A66B-4A66-8D15-0EDE9D7CA18A}"/>
              </a:ext>
            </a:extLst>
          </p:cNvPr>
          <p:cNvSpPr>
            <a:spLocks noGrp="1"/>
          </p:cNvSpPr>
          <p:nvPr/>
        </p:nvSpPr>
        <p:spPr>
          <a:xfrm>
            <a:off x="7353300" y="3190875"/>
            <a:ext cx="285750" cy="2857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FD89FD-9661-47B2-884D-27B86D132133}"/>
              </a:ext>
            </a:extLst>
          </p:cNvPr>
          <p:cNvSpPr>
            <a:spLocks noGrp="1"/>
          </p:cNvSpPr>
          <p:nvPr/>
        </p:nvSpPr>
        <p:spPr>
          <a:xfrm>
            <a:off x="9258300" y="3190875"/>
            <a:ext cx="571500" cy="2857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3C3311E-FFBC-41D5-89AD-A260EB6BF330}"/>
              </a:ext>
            </a:extLst>
          </p:cNvPr>
          <p:cNvSpPr>
            <a:spLocks noGrp="1"/>
          </p:cNvSpPr>
          <p:nvPr/>
        </p:nvSpPr>
        <p:spPr>
          <a:xfrm>
            <a:off x="914400" y="5572125"/>
            <a:ext cx="990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67085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67085"/>
                </a:solidFill>
                <a:latin typeface="Aptos Mono"/>
                <a:ea typeface="Aptos Mono"/>
                <a:cs typeface="Aptos Mono"/>
              </a:rPr>
              <a:t>Tópicos principais: ac-iot/+/sensores | ac-iot/{sala}/comando | ac-iot/all/comando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6B92066-723A-4DF5-BDDC-E289AE30257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0863A51-3B7C-4F28-B189-B85744F4F146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8929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4338137-11CE-4378-A6CD-55F75F2CF0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E69E1C-5F88-4C3A-BD61-87B8CA68095A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36B452-D061-44A5-9C7D-1E3D8AB1766C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ATUALIZACOES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F3622D-7B02-43C5-8518-E8190B91DB58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As atualizações consolidam a base funcional do protótipo.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4FDD7C-D41C-4D6A-BF5F-CF94198384B9}"/>
              </a:ext>
            </a:extLst>
          </p:cNvPr>
          <p:cNvSpPr>
            <a:spLocks noGrp="1"/>
          </p:cNvSpPr>
          <p:nvPr/>
        </p:nvSpPr>
        <p:spPr>
          <a:xfrm>
            <a:off x="781050" y="2228850"/>
            <a:ext cx="2381250" cy="323850"/>
          </a:xfrm>
          <a:prstGeom prst="rect">
            <a:avLst/>
          </a:prstGeom>
          <a:solidFill>
            <a:srgbClr val="EAF7EF"/>
          </a:solidFill>
          <a:ln w="0">
            <a:solidFill>
              <a:srgbClr val="EAF7E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6E119B-E612-4160-A307-FC582D6C5869}"/>
              </a:ext>
            </a:extLst>
          </p:cNvPr>
          <p:cNvSpPr>
            <a:spLocks noGrp="1"/>
          </p:cNvSpPr>
          <p:nvPr/>
        </p:nvSpPr>
        <p:spPr>
          <a:xfrm>
            <a:off x="895350" y="22764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Concluído para protótipo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F81668-3E3B-4C54-B339-7E5AB6298D6D}"/>
              </a:ext>
            </a:extLst>
          </p:cNvPr>
          <p:cNvSpPr>
            <a:spLocks noGrp="1"/>
          </p:cNvSpPr>
          <p:nvPr/>
        </p:nvSpPr>
        <p:spPr>
          <a:xfrm>
            <a:off x="838200" y="289560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BAC6D-E1A6-41B9-AFE7-32E3814EB8BA}"/>
              </a:ext>
            </a:extLst>
          </p:cNvPr>
          <p:cNvSpPr>
            <a:spLocks noGrp="1"/>
          </p:cNvSpPr>
          <p:nvPr/>
        </p:nvSpPr>
        <p:spPr>
          <a:xfrm>
            <a:off x="1009650" y="2819400"/>
            <a:ext cx="447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Docker Compose integrando Mosquitto, Node-RED, simulador e bridge.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7B18E8-D45C-496D-A72A-D45AC7230507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E7F270-B9AF-4410-8507-FF2D5BE9DA90}"/>
              </a:ext>
            </a:extLst>
          </p:cNvPr>
          <p:cNvSpPr>
            <a:spLocks noGrp="1"/>
          </p:cNvSpPr>
          <p:nvPr/>
        </p:nvSpPr>
        <p:spPr>
          <a:xfrm>
            <a:off x="1009650" y="3409950"/>
            <a:ext cx="447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Simulador C++ com tres salas e estados independentes.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697333-AC96-4E3A-960C-0E94B3D4F967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E81E59-66EE-433F-A288-C9F7D18317BA}"/>
              </a:ext>
            </a:extLst>
          </p:cNvPr>
          <p:cNvSpPr>
            <a:spLocks noGrp="1"/>
          </p:cNvSpPr>
          <p:nvPr/>
        </p:nvSpPr>
        <p:spPr>
          <a:xfrm>
            <a:off x="1009650" y="4000500"/>
            <a:ext cx="447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MQTT separado entre sensores, comandos por sala e comando global.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7EAB58-4545-4447-9074-398E5C53DEAF}"/>
              </a:ext>
            </a:extLst>
          </p:cNvPr>
          <p:cNvSpPr>
            <a:spLocks noGrp="1"/>
          </p:cNvSpPr>
          <p:nvPr/>
        </p:nvSpPr>
        <p:spPr>
          <a:xfrm>
            <a:off x="838200" y="46672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B390CA-0C22-41E9-9A8F-EBF2486F093B}"/>
              </a:ext>
            </a:extLst>
          </p:cNvPr>
          <p:cNvSpPr>
            <a:spLocks noGrp="1"/>
          </p:cNvSpPr>
          <p:nvPr/>
        </p:nvSpPr>
        <p:spPr>
          <a:xfrm>
            <a:off x="1009650" y="4591050"/>
            <a:ext cx="447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Painel web reorganizado para operação e testes.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B64C90-11FC-494C-AF34-873B33EA5DA2}"/>
              </a:ext>
            </a:extLst>
          </p:cNvPr>
          <p:cNvSpPr>
            <a:spLocks noGrp="1"/>
          </p:cNvSpPr>
          <p:nvPr/>
        </p:nvSpPr>
        <p:spPr>
          <a:xfrm>
            <a:off x="6743700" y="2228850"/>
            <a:ext cx="2381250" cy="323850"/>
          </a:xfrm>
          <a:prstGeom prst="rect">
            <a:avLst/>
          </a:prstGeom>
          <a:solidFill>
            <a:srgbClr val="EAF7EF"/>
          </a:solidFill>
          <a:ln w="0">
            <a:solidFill>
              <a:srgbClr val="EAF7E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11CD64-4EAE-4F31-A0D7-21E2623CEACB}"/>
              </a:ext>
            </a:extLst>
          </p:cNvPr>
          <p:cNvSpPr>
            <a:spLocks noGrp="1"/>
          </p:cNvSpPr>
          <p:nvPr/>
        </p:nvSpPr>
        <p:spPr>
          <a:xfrm>
            <a:off x="6858000" y="2276475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Concluído para protótipo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A8A308-6543-497D-B2B4-CC8CDB1C53E7}"/>
              </a:ext>
            </a:extLst>
          </p:cNvPr>
          <p:cNvSpPr>
            <a:spLocks noGrp="1"/>
          </p:cNvSpPr>
          <p:nvPr/>
        </p:nvSpPr>
        <p:spPr>
          <a:xfrm>
            <a:off x="6800850" y="289560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62BE19-681E-4D7F-811E-ADFBBCAAF7F9}"/>
              </a:ext>
            </a:extLst>
          </p:cNvPr>
          <p:cNvSpPr>
            <a:spLocks noGrp="1"/>
          </p:cNvSpPr>
          <p:nvPr/>
        </p:nvSpPr>
        <p:spPr>
          <a:xfrm>
            <a:off x="6972300" y="281940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Node-RED com temporizadores estáveis para presença e ausência.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F2ACD2-80EF-43C6-A55D-EB8CD9B06B02}"/>
              </a:ext>
            </a:extLst>
          </p:cNvPr>
          <p:cNvSpPr>
            <a:spLocks noGrp="1"/>
          </p:cNvSpPr>
          <p:nvPr/>
        </p:nvSpPr>
        <p:spPr>
          <a:xfrm>
            <a:off x="6800850" y="34861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05D96A-715E-4BEC-BD39-B35BB54365B2}"/>
              </a:ext>
            </a:extLst>
          </p:cNvPr>
          <p:cNvSpPr>
            <a:spLocks noGrp="1"/>
          </p:cNvSpPr>
          <p:nvPr/>
        </p:nvSpPr>
        <p:spPr>
          <a:xfrm>
            <a:off x="6972300" y="340995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Bridge InterSCity implementada para envio de telemetria.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468309-FFDA-48D0-9BF3-9BA2FC38C85D}"/>
              </a:ext>
            </a:extLst>
          </p:cNvPr>
          <p:cNvSpPr>
            <a:spLocks noGrp="1"/>
          </p:cNvSpPr>
          <p:nvPr/>
        </p:nvSpPr>
        <p:spPr>
          <a:xfrm>
            <a:off x="6800850" y="407670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36EB7B-83C4-44F0-B71E-D65F10A07249}"/>
              </a:ext>
            </a:extLst>
          </p:cNvPr>
          <p:cNvSpPr>
            <a:spLocks noGrp="1"/>
          </p:cNvSpPr>
          <p:nvPr/>
        </p:nvSpPr>
        <p:spPr>
          <a:xfrm>
            <a:off x="6972300" y="400050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Painel consulta catálogo, UUID e última leitura InterSCity.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995A70-933C-43E7-A2E5-88AEAD84D97F}"/>
              </a:ext>
            </a:extLst>
          </p:cNvPr>
          <p:cNvSpPr>
            <a:spLocks noGrp="1"/>
          </p:cNvSpPr>
          <p:nvPr/>
        </p:nvSpPr>
        <p:spPr>
          <a:xfrm>
            <a:off x="6800850" y="466725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605E5D-E8A2-43A5-B398-9A336EF31DA3}"/>
              </a:ext>
            </a:extLst>
          </p:cNvPr>
          <p:cNvSpPr>
            <a:spLocks noGrp="1"/>
          </p:cNvSpPr>
          <p:nvPr/>
        </p:nvSpPr>
        <p:spPr>
          <a:xfrm>
            <a:off x="6972300" y="459105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Geração automática de dados mantém o fluxo ativo sem hardware físico.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ECB104-8DC3-405F-87D7-FF73A004A8B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1D5A23-AF59-4629-990D-5D34A05D1456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759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F09CFF5-C7DA-4E5D-81B7-0176719F99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B1522B-9CFB-4D0B-878E-E3CC9D7F9C50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A70F42-4FD5-4377-A992-2A36FCEC8489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FUNCIONAMENTO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1FF5E5-45B8-4DB1-B2E4-AB734627F93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 automação já aplica regras de conforto e economia.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325A63-1865-40FF-AEDF-FACC646EF3F7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2095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748031-C8AE-49D7-8028-879FF81C551A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2095500" cy="4762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E4AD85-CD28-46CA-95DF-60FF79A39FD0}"/>
              </a:ext>
            </a:extLst>
          </p:cNvPr>
          <p:cNvSpPr>
            <a:spLocks noGrp="1"/>
          </p:cNvSpPr>
          <p:nvPr/>
        </p:nvSpPr>
        <p:spPr>
          <a:xfrm>
            <a:off x="1009650" y="2886075"/>
            <a:ext cx="1790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1. Presença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3F0FD5-8830-4DA0-B570-138476471428}"/>
              </a:ext>
            </a:extLst>
          </p:cNvPr>
          <p:cNvSpPr>
            <a:spLocks noGrp="1"/>
          </p:cNvSpPr>
          <p:nvPr/>
        </p:nvSpPr>
        <p:spPr>
          <a:xfrm>
            <a:off x="1009650" y="3190875"/>
            <a:ext cx="1790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presença detectada liga a luz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08372E-3981-4A62-B019-407D4E6484B7}"/>
              </a:ext>
            </a:extLst>
          </p:cNvPr>
          <p:cNvSpPr>
            <a:spLocks noGrp="1"/>
          </p:cNvSpPr>
          <p:nvPr/>
        </p:nvSpPr>
        <p:spPr>
          <a:xfrm>
            <a:off x="3476625" y="2714625"/>
            <a:ext cx="2095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C6A671-ADC4-47AC-A697-C155A3D2E909}"/>
              </a:ext>
            </a:extLst>
          </p:cNvPr>
          <p:cNvSpPr>
            <a:spLocks noGrp="1"/>
          </p:cNvSpPr>
          <p:nvPr/>
        </p:nvSpPr>
        <p:spPr>
          <a:xfrm>
            <a:off x="3476625" y="2714625"/>
            <a:ext cx="20955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190E52-4A50-4BAA-9F7E-75872BA73092}"/>
              </a:ext>
            </a:extLst>
          </p:cNvPr>
          <p:cNvSpPr>
            <a:spLocks noGrp="1"/>
          </p:cNvSpPr>
          <p:nvPr/>
        </p:nvSpPr>
        <p:spPr>
          <a:xfrm>
            <a:off x="3629025" y="2886075"/>
            <a:ext cx="1790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2. Espera 20s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06B455-3160-41C3-95DF-3947131E7778}"/>
              </a:ext>
            </a:extLst>
          </p:cNvPr>
          <p:cNvSpPr>
            <a:spLocks noGrp="1"/>
          </p:cNvSpPr>
          <p:nvPr/>
        </p:nvSpPr>
        <p:spPr>
          <a:xfrm>
            <a:off x="3629025" y="3190875"/>
            <a:ext cx="1790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presença contínua libera avaliação do AC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727BCC-B7E7-4345-B9A7-B251EE95F2C4}"/>
              </a:ext>
            </a:extLst>
          </p:cNvPr>
          <p:cNvSpPr>
            <a:spLocks noGrp="1"/>
          </p:cNvSpPr>
          <p:nvPr/>
        </p:nvSpPr>
        <p:spPr>
          <a:xfrm>
            <a:off x="6096000" y="2714625"/>
            <a:ext cx="2095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5ED5DB-5979-41D1-9319-7D36EB5DF442}"/>
              </a:ext>
            </a:extLst>
          </p:cNvPr>
          <p:cNvSpPr>
            <a:spLocks noGrp="1"/>
          </p:cNvSpPr>
          <p:nvPr/>
        </p:nvSpPr>
        <p:spPr>
          <a:xfrm>
            <a:off x="6096000" y="2714625"/>
            <a:ext cx="2095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52BB17-A180-4943-B0EB-25CBD1D5B947}"/>
              </a:ext>
            </a:extLst>
          </p:cNvPr>
          <p:cNvSpPr>
            <a:spLocks noGrp="1"/>
          </p:cNvSpPr>
          <p:nvPr/>
        </p:nvSpPr>
        <p:spPr>
          <a:xfrm>
            <a:off x="6248400" y="2886075"/>
            <a:ext cx="1790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3. Setpoints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3FEEC4-EB3E-470F-AF69-FE4F2DA20E8B}"/>
              </a:ext>
            </a:extLst>
          </p:cNvPr>
          <p:cNvSpPr>
            <a:spLocks noGrp="1"/>
          </p:cNvSpPr>
          <p:nvPr/>
        </p:nvSpPr>
        <p:spPr>
          <a:xfrm>
            <a:off x="6248400" y="3190875"/>
            <a:ext cx="1790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temperatura/umidade acima do limite acionam AC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44BD95-BA86-4253-9346-1F8C88EEF809}"/>
              </a:ext>
            </a:extLst>
          </p:cNvPr>
          <p:cNvSpPr>
            <a:spLocks noGrp="1"/>
          </p:cNvSpPr>
          <p:nvPr/>
        </p:nvSpPr>
        <p:spPr>
          <a:xfrm>
            <a:off x="8715375" y="2714625"/>
            <a:ext cx="2095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9304C9-C0CD-49F6-965A-4944AFD3EC97}"/>
              </a:ext>
            </a:extLst>
          </p:cNvPr>
          <p:cNvSpPr>
            <a:spLocks noGrp="1"/>
          </p:cNvSpPr>
          <p:nvPr/>
        </p:nvSpPr>
        <p:spPr>
          <a:xfrm>
            <a:off x="8715375" y="2714625"/>
            <a:ext cx="2095500" cy="47625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446A1F-B8F8-4173-BA63-F6EFA43F90E1}"/>
              </a:ext>
            </a:extLst>
          </p:cNvPr>
          <p:cNvSpPr>
            <a:spLocks noGrp="1"/>
          </p:cNvSpPr>
          <p:nvPr/>
        </p:nvSpPr>
        <p:spPr>
          <a:xfrm>
            <a:off x="8867775" y="2886075"/>
            <a:ext cx="1790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4. Ausência 10s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79E366-A16E-4040-BC65-5A0FC27D40AE}"/>
              </a:ext>
            </a:extLst>
          </p:cNvPr>
          <p:cNvSpPr>
            <a:spLocks noGrp="1"/>
          </p:cNvSpPr>
          <p:nvPr/>
        </p:nvSpPr>
        <p:spPr>
          <a:xfrm>
            <a:off x="8867775" y="3190875"/>
            <a:ext cx="1790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desliga AC e luz automaticamente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62190E-EEE6-43EE-AA5D-EB697455764B}"/>
              </a:ext>
            </a:extLst>
          </p:cNvPr>
          <p:cNvSpPr>
            <a:spLocks noGrp="1"/>
          </p:cNvSpPr>
          <p:nvPr/>
        </p:nvSpPr>
        <p:spPr>
          <a:xfrm>
            <a:off x="2952750" y="3238500"/>
            <a:ext cx="523875" cy="2857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D2CBF2-9951-4B21-8693-B6C9647812D2}"/>
              </a:ext>
            </a:extLst>
          </p:cNvPr>
          <p:cNvSpPr>
            <a:spLocks noGrp="1"/>
          </p:cNvSpPr>
          <p:nvPr/>
        </p:nvSpPr>
        <p:spPr>
          <a:xfrm>
            <a:off x="5572125" y="3238500"/>
            <a:ext cx="523875" cy="2857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C8668F-2BA8-4046-8A95-A18AF092BAC1}"/>
              </a:ext>
            </a:extLst>
          </p:cNvPr>
          <p:cNvSpPr>
            <a:spLocks noGrp="1"/>
          </p:cNvSpPr>
          <p:nvPr/>
        </p:nvSpPr>
        <p:spPr>
          <a:xfrm>
            <a:off x="8191500" y="3238500"/>
            <a:ext cx="523875" cy="2857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379302-55DF-45F6-AB97-01EFBE4280BD}"/>
              </a:ext>
            </a:extLst>
          </p:cNvPr>
          <p:cNvSpPr>
            <a:spLocks noGrp="1"/>
          </p:cNvSpPr>
          <p:nvPr/>
        </p:nvSpPr>
        <p:spPr>
          <a:xfrm>
            <a:off x="1066800" y="4667250"/>
            <a:ext cx="96393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E37D70-C1C9-43D1-9500-944F4F377735}"/>
              </a:ext>
            </a:extLst>
          </p:cNvPr>
          <p:cNvSpPr>
            <a:spLocks noGrp="1"/>
          </p:cNvSpPr>
          <p:nvPr/>
        </p:nvSpPr>
        <p:spPr>
          <a:xfrm>
            <a:off x="1352550" y="4876800"/>
            <a:ext cx="8953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Modo manual preserva os comandos do usuário quando modo_ac = desativado.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A8499A-610E-430E-B844-07F972FB00C2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1E669A-BC7C-41F4-88F8-89033662B270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37558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BCFC1F3-CE9F-4881-A0C0-BFFCD733C2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2E879F-E458-41F3-80BB-A963CDC753EF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E686C6-B9A0-42D9-916F-CC952CA888C2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EVIDÊNCIA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66E79A-B1C7-4734-9E6D-55424412EAB6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Painel web mostra o sistema operando em tempo real.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2F5C91-C7FD-4DF7-BD0C-5691BBD1BCE7}"/>
              </a:ext>
            </a:extLst>
          </p:cNvPr>
          <p:cNvSpPr>
            <a:spLocks noGrp="1"/>
          </p:cNvSpPr>
          <p:nvPr/>
        </p:nvSpPr>
        <p:spPr>
          <a:xfrm>
            <a:off x="8441937" y="2109441"/>
            <a:ext cx="295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 que comprova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44A8CC-46EC-4C17-852A-8ED8BC2284EB}"/>
              </a:ext>
            </a:extLst>
          </p:cNvPr>
          <p:cNvSpPr>
            <a:spLocks noGrp="1"/>
          </p:cNvSpPr>
          <p:nvPr/>
        </p:nvSpPr>
        <p:spPr>
          <a:xfrm>
            <a:off x="8115300" y="2847975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BF65EC-D175-4AE1-872D-B838FEB40A63}"/>
              </a:ext>
            </a:extLst>
          </p:cNvPr>
          <p:cNvSpPr>
            <a:spLocks noGrp="1"/>
          </p:cNvSpPr>
          <p:nvPr/>
        </p:nvSpPr>
        <p:spPr>
          <a:xfrm>
            <a:off x="8632437" y="2680941"/>
            <a:ext cx="2762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MQTT conectado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4B8483-1DDE-4E6B-804D-DD0FD3F4094D}"/>
              </a:ext>
            </a:extLst>
          </p:cNvPr>
          <p:cNvSpPr>
            <a:spLocks noGrp="1"/>
          </p:cNvSpPr>
          <p:nvPr/>
        </p:nvSpPr>
        <p:spPr>
          <a:xfrm>
            <a:off x="8632437" y="2909541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painel recebe eventos em ac-iot/+/sensores via WebSocket 9001.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7AD9FA-15D8-4BC5-A5E3-E50E45D87EE4}"/>
              </a:ext>
            </a:extLst>
          </p:cNvPr>
          <p:cNvSpPr>
            <a:spLocks noGrp="1"/>
          </p:cNvSpPr>
          <p:nvPr/>
        </p:nvSpPr>
        <p:spPr>
          <a:xfrm>
            <a:off x="8115300" y="3590925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02935F-5173-4FC5-869B-3B845DD631AE}"/>
              </a:ext>
            </a:extLst>
          </p:cNvPr>
          <p:cNvSpPr>
            <a:spLocks noGrp="1"/>
          </p:cNvSpPr>
          <p:nvPr/>
        </p:nvSpPr>
        <p:spPr>
          <a:xfrm>
            <a:off x="8632437" y="3423891"/>
            <a:ext cx="2762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Três salas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439D51-4387-46E6-AE37-70D84490CC8C}"/>
              </a:ext>
            </a:extLst>
          </p:cNvPr>
          <p:cNvSpPr>
            <a:spLocks noGrp="1"/>
          </p:cNvSpPr>
          <p:nvPr/>
        </p:nvSpPr>
        <p:spPr>
          <a:xfrm>
            <a:off x="8632437" y="3652491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sala01, sala02 e sala03 aparecem com temperatura, umidade, luz, presença e estado.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14389E-AD42-4485-BC76-4847EE74DB71}"/>
              </a:ext>
            </a:extLst>
          </p:cNvPr>
          <p:cNvSpPr>
            <a:spLocks noGrp="1"/>
          </p:cNvSpPr>
          <p:nvPr/>
        </p:nvSpPr>
        <p:spPr>
          <a:xfrm>
            <a:off x="8115300" y="4333875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176B2E-3650-48B4-921B-B92764DE3E8E}"/>
              </a:ext>
            </a:extLst>
          </p:cNvPr>
          <p:cNvSpPr>
            <a:spLocks noGrp="1"/>
          </p:cNvSpPr>
          <p:nvPr/>
        </p:nvSpPr>
        <p:spPr>
          <a:xfrm>
            <a:off x="8632437" y="4166841"/>
            <a:ext cx="2762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Controle operacional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022F0C-387A-42C7-B608-D5EBB80DA93A}"/>
              </a:ext>
            </a:extLst>
          </p:cNvPr>
          <p:cNvSpPr>
            <a:spLocks noGrp="1"/>
          </p:cNvSpPr>
          <p:nvPr/>
        </p:nvSpPr>
        <p:spPr>
          <a:xfrm>
            <a:off x="8632437" y="4395441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permite aplicar sensores, controle direto e modo de automação.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74A79C-6776-431D-9D79-58388120AB0D}"/>
              </a:ext>
            </a:extLst>
          </p:cNvPr>
          <p:cNvSpPr>
            <a:spLocks noGrp="1"/>
          </p:cNvSpPr>
          <p:nvPr/>
        </p:nvSpPr>
        <p:spPr>
          <a:xfrm>
            <a:off x="8115300" y="5076825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47FF76-9B49-4B8B-92B6-51F7E62EE450}"/>
              </a:ext>
            </a:extLst>
          </p:cNvPr>
          <p:cNvSpPr>
            <a:spLocks noGrp="1"/>
          </p:cNvSpPr>
          <p:nvPr/>
        </p:nvSpPr>
        <p:spPr>
          <a:xfrm>
            <a:off x="8632437" y="4909791"/>
            <a:ext cx="2762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InterSCity visível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30B96-6DD7-432C-AAB9-EA7B6D09B112}"/>
              </a:ext>
            </a:extLst>
          </p:cNvPr>
          <p:cNvSpPr>
            <a:spLocks noGrp="1"/>
          </p:cNvSpPr>
          <p:nvPr/>
        </p:nvSpPr>
        <p:spPr>
          <a:xfrm>
            <a:off x="8632437" y="5138391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área lateral exibe status, UUID e última leitura consultada.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D43823-DD8E-4FAF-9B45-B0A1A946890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1A1163-6394-492C-8C32-439B3FA767C9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0096815-B2DC-DFBE-933E-FAFD725CA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62" y="1434328"/>
            <a:ext cx="77724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4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4FD0AD6-CD61-4490-BE6F-224E9DA99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B20C26-6D9A-4648-B551-6650BF999C53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D935C3-8F9E-4922-ACB5-232F41017F10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EVIDÊNCIA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D9EAF1-7310-498C-8C5A-10F69B4F2D28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Node-RED executa a automação a partir dos sensores MQTT.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t="2585" b="2585"/>
          <a:stretch>
            <a:fillRect/>
          </a:stretch>
        </p:blipFill>
        <p:spPr>
          <a:xfrm>
            <a:off x="548921" y="1838325"/>
            <a:ext cx="5713236" cy="3762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DE8C0C-1800-4419-975A-0EE2EC8C2E25}"/>
              </a:ext>
            </a:extLst>
          </p:cNvPr>
          <p:cNvSpPr>
            <a:spLocks noGrp="1"/>
          </p:cNvSpPr>
          <p:nvPr/>
        </p:nvSpPr>
        <p:spPr>
          <a:xfrm>
            <a:off x="1448497" y="5686425"/>
            <a:ext cx="390525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0162CF-C33C-4A46-AACB-B8A3BE25F3C5}"/>
              </a:ext>
            </a:extLst>
          </p:cNvPr>
          <p:cNvSpPr>
            <a:spLocks noGrp="1"/>
          </p:cNvSpPr>
          <p:nvPr/>
        </p:nvSpPr>
        <p:spPr>
          <a:xfrm>
            <a:off x="1677097" y="5838825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Fluxo configurado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37A4A0-1659-4394-B639-9287AA0C3A9C}"/>
              </a:ext>
            </a:extLst>
          </p:cNvPr>
          <p:cNvSpPr>
            <a:spLocks noGrp="1"/>
          </p:cNvSpPr>
          <p:nvPr/>
        </p:nvSpPr>
        <p:spPr>
          <a:xfrm>
            <a:off x="1677097" y="6086475"/>
            <a:ext cx="3219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tela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mostra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Sensores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-&gt;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Automação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AC/Luz -&gt;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Enviar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Comando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, com debug </a:t>
            </a:r>
            <a:r>
              <a:rPr sz="93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ativo</a:t>
            </a:r>
            <a:r>
              <a:rPr sz="93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CCCA78-1ACD-4DA8-92C5-EFE6EC04790B}"/>
              </a:ext>
            </a:extLst>
          </p:cNvPr>
          <p:cNvSpPr>
            <a:spLocks noGrp="1"/>
          </p:cNvSpPr>
          <p:nvPr/>
        </p:nvSpPr>
        <p:spPr>
          <a:xfrm>
            <a:off x="6802244" y="2152650"/>
            <a:ext cx="4532506" cy="3714750"/>
          </a:xfrm>
          <a:prstGeom prst="rect">
            <a:avLst/>
          </a:prstGeom>
          <a:solidFill>
            <a:srgbClr val="101828"/>
          </a:solidFill>
          <a:ln w="0">
            <a:solidFill>
              <a:srgbClr val="10182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0EDD17-ADD8-4D0D-90D3-69554ED7AB6D}"/>
              </a:ext>
            </a:extLst>
          </p:cNvPr>
          <p:cNvSpPr>
            <a:spLocks noGrp="1"/>
          </p:cNvSpPr>
          <p:nvPr/>
        </p:nvSpPr>
        <p:spPr>
          <a:xfrm>
            <a:off x="7159082" y="2362200"/>
            <a:ext cx="3375567" cy="21373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1E9FF"/>
                </a:solidFill>
                <a:latin typeface="Aptos"/>
                <a:ea typeface="Aptos"/>
                <a:cs typeface="Aptos"/>
              </a:defRPr>
            </a:pPr>
            <a:r>
              <a:rPr sz="1125" b="1" dirty="0" err="1">
                <a:solidFill>
                  <a:srgbClr val="D1E9FF"/>
                </a:solidFill>
                <a:latin typeface="Aptos"/>
                <a:ea typeface="Aptos"/>
                <a:cs typeface="Aptos"/>
              </a:rPr>
              <a:t>Trechos</a:t>
            </a:r>
            <a:r>
              <a:rPr sz="1125" b="1" dirty="0">
                <a:solidFill>
                  <a:srgbClr val="D1E9FF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1" dirty="0" err="1">
                <a:solidFill>
                  <a:srgbClr val="D1E9FF"/>
                </a:solidFill>
                <a:latin typeface="Aptos"/>
                <a:ea typeface="Aptos"/>
                <a:cs typeface="Aptos"/>
              </a:rPr>
              <a:t>essenciais</a:t>
            </a:r>
            <a:r>
              <a:rPr sz="1125" b="1" dirty="0">
                <a:solidFill>
                  <a:srgbClr val="D1E9FF"/>
                </a:solidFill>
                <a:latin typeface="Aptos"/>
                <a:ea typeface="Aptos"/>
                <a:cs typeface="Aptos"/>
              </a:rPr>
              <a:t> do </a:t>
            </a:r>
            <a:r>
              <a:rPr sz="1125" b="1" dirty="0" err="1">
                <a:solidFill>
                  <a:srgbClr val="D1E9FF"/>
                </a:solidFill>
                <a:latin typeface="Aptos"/>
                <a:ea typeface="Aptos"/>
                <a:cs typeface="Aptos"/>
              </a:rPr>
              <a:t>fluxo</a:t>
            </a:r>
            <a:r>
              <a:rPr sz="1125" b="1" dirty="0">
                <a:solidFill>
                  <a:srgbClr val="D1E9FF"/>
                </a:solidFill>
                <a:latin typeface="Aptos"/>
                <a:ea typeface="Aptos"/>
                <a:cs typeface="Aptos"/>
              </a:rPr>
              <a:t> Node-RED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C94C9-0518-4BCB-89A0-342C94579A9A}"/>
              </a:ext>
            </a:extLst>
          </p:cNvPr>
          <p:cNvSpPr>
            <a:spLocks noGrp="1"/>
          </p:cNvSpPr>
          <p:nvPr/>
        </p:nvSpPr>
        <p:spPr>
          <a:xfrm>
            <a:off x="7159083" y="2724150"/>
            <a:ext cx="3851816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// node-red/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flows.json</a:t>
            </a:r>
            <a:endParaRPr sz="975" b="0" dirty="0">
              <a:solidFill>
                <a:srgbClr val="F9FA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"type": "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mqtt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in",</a:t>
            </a:r>
          </a:p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"name": "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Sensores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ac-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iot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/+/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sensores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",</a:t>
            </a:r>
          </a:p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"topic": "ac-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iot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/+/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sensores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",</a:t>
            </a:r>
          </a:p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"datatype": "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json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"</a:t>
            </a:r>
          </a:p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endParaRPr sz="975" b="0" dirty="0">
              <a:solidFill>
                <a:srgbClr val="F9FA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// 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função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Automação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AC/Luz</a:t>
            </a:r>
          </a:p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if (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payload.modo_ac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=== '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desativado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') return null;</a:t>
            </a:r>
          </a:p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var 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pres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payload.presenca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=== true;</a:t>
            </a:r>
          </a:p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var 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setTemp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= Number(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payload.setpoint_ac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) || 22;</a:t>
            </a:r>
          </a:p>
          <a:p>
            <a:endParaRPr sz="975" b="0" dirty="0">
              <a:solidFill>
                <a:srgbClr val="F9FA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if (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pres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&amp;&amp; temp &gt; (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setTemp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+ 1)) {</a:t>
            </a:r>
          </a:p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setAc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('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ligar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', '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condicao_acima_setpoint_liga_ac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');</a:t>
            </a:r>
          </a:p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}</a:t>
            </a:r>
          </a:p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return { topic: 'ac-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iot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/' + 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id_sala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+ '/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comando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',</a:t>
            </a:r>
          </a:p>
          <a:p>
            <a:pPr algn="l">
              <a:defRPr sz="975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       payload: </a:t>
            </a:r>
            <a:r>
              <a:rPr sz="975" b="0" dirty="0" err="1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cmd</a:t>
            </a:r>
            <a:r>
              <a:rPr sz="975" b="0" dirty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};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187197-0A09-4C5B-B8A1-97A6C619DF6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6C426-71DC-490B-BE7F-BAA861FF6AE6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9771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5DB077F-A789-4F78-A3A8-524E988C6F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51C746-8845-4B57-93EF-947A06A7FC24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DF86D-057B-4C9E-A367-021C1BAE661F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EVIDÊNCIA 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CE4D96-4401-4BAE-B5CA-DB9C49857124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InterSCity UFMA recebe a telemetria enviada pela bridge.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915E8A-5433-4F05-A0BD-F4A8A19C0043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390525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FE4DD5-BF80-41DD-9CA5-5116F78249CB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Comprovação operacional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9E4DA2-6D24-4461-9C7E-E06F792FBB8C}"/>
              </a:ext>
            </a:extLst>
          </p:cNvPr>
          <p:cNvSpPr>
            <a:spLocks noGrp="1"/>
          </p:cNvSpPr>
          <p:nvPr/>
        </p:nvSpPr>
        <p:spPr>
          <a:xfrm>
            <a:off x="914400" y="3019425"/>
            <a:ext cx="66675" cy="6667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511CAE-89F0-48BA-8DCA-0DA847B9AE7A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Resource Cataloguer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D8C05F-C864-4848-BA3C-AE7849A9D98C}"/>
              </a:ext>
            </a:extLst>
          </p:cNvPr>
          <p:cNvSpPr>
            <a:spLocks noGrp="1"/>
          </p:cNvSpPr>
          <p:nvPr/>
        </p:nvSpPr>
        <p:spPr>
          <a:xfrm>
            <a:off x="1085850" y="3171825"/>
            <a:ext cx="295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salas cadastradas com UUID fixo e capabilities.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04F397-105B-4CC4-910B-6A7D6D784B1D}"/>
              </a:ext>
            </a:extLst>
          </p:cNvPr>
          <p:cNvSpPr>
            <a:spLocks noGrp="1"/>
          </p:cNvSpPr>
          <p:nvPr/>
        </p:nvSpPr>
        <p:spPr>
          <a:xfrm>
            <a:off x="914400" y="3609975"/>
            <a:ext cx="66675" cy="6667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B37519-76D0-457A-BC4A-8469CAD3FE18}"/>
              </a:ext>
            </a:extLst>
          </p:cNvPr>
          <p:cNvSpPr>
            <a:spLocks noGrp="1"/>
          </p:cNvSpPr>
          <p:nvPr/>
        </p:nvSpPr>
        <p:spPr>
          <a:xfrm>
            <a:off x="1085850" y="354330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Resource Adaptor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B43AE2-3C78-4C55-865A-90489C4303AF}"/>
              </a:ext>
            </a:extLst>
          </p:cNvPr>
          <p:cNvSpPr>
            <a:spLocks noGrp="1"/>
          </p:cNvSpPr>
          <p:nvPr/>
        </p:nvSpPr>
        <p:spPr>
          <a:xfrm>
            <a:off x="1085850" y="3762375"/>
            <a:ext cx="295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bridge publica /resources/{uuid}/data.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9DE608-6F90-49CB-AC14-1A5BC68C9492}"/>
              </a:ext>
            </a:extLst>
          </p:cNvPr>
          <p:cNvSpPr>
            <a:spLocks noGrp="1"/>
          </p:cNvSpPr>
          <p:nvPr/>
        </p:nvSpPr>
        <p:spPr>
          <a:xfrm>
            <a:off x="914400" y="4200525"/>
            <a:ext cx="66675" cy="6667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5C9763-CFBC-498D-A41B-05949CFDB107}"/>
              </a:ext>
            </a:extLst>
          </p:cNvPr>
          <p:cNvSpPr>
            <a:spLocks noGrp="1"/>
          </p:cNvSpPr>
          <p:nvPr/>
        </p:nvSpPr>
        <p:spPr>
          <a:xfrm>
            <a:off x="1085850" y="413385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Data Collector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0593C4-8EA1-47BB-BCF5-DB7FFA071BB5}"/>
              </a:ext>
            </a:extLst>
          </p:cNvPr>
          <p:cNvSpPr>
            <a:spLocks noGrp="1"/>
          </p:cNvSpPr>
          <p:nvPr/>
        </p:nvSpPr>
        <p:spPr>
          <a:xfrm>
            <a:off x="1085850" y="4352925"/>
            <a:ext cx="295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última leitura pode ser consultada por UUID.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3768B7-90CF-4929-BB49-E07E2129CF05}"/>
              </a:ext>
            </a:extLst>
          </p:cNvPr>
          <p:cNvSpPr>
            <a:spLocks noGrp="1"/>
          </p:cNvSpPr>
          <p:nvPr/>
        </p:nvSpPr>
        <p:spPr>
          <a:xfrm>
            <a:off x="914400" y="4791075"/>
            <a:ext cx="66675" cy="6667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166927-B564-4192-BFB4-6BE61FAE2527}"/>
              </a:ext>
            </a:extLst>
          </p:cNvPr>
          <p:cNvSpPr>
            <a:spLocks noGrp="1"/>
          </p:cNvSpPr>
          <p:nvPr/>
        </p:nvSpPr>
        <p:spPr>
          <a:xfrm>
            <a:off x="1085850" y="472440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Painel web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37D647-74FB-47B7-A597-5F001F1E35B5}"/>
              </a:ext>
            </a:extLst>
          </p:cNvPr>
          <p:cNvSpPr>
            <a:spLocks noGrp="1"/>
          </p:cNvSpPr>
          <p:nvPr/>
        </p:nvSpPr>
        <p:spPr>
          <a:xfrm>
            <a:off x="1085850" y="4943475"/>
            <a:ext cx="295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consulta /catalog/resources e /collector/resources/{uuid}/data/last.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7C29DA-3E90-434C-BDFC-25B892A8EE00}"/>
              </a:ext>
            </a:extLst>
          </p:cNvPr>
          <p:cNvSpPr>
            <a:spLocks noGrp="1"/>
          </p:cNvSpPr>
          <p:nvPr/>
        </p:nvSpPr>
        <p:spPr>
          <a:xfrm>
            <a:off x="4953000" y="2152650"/>
            <a:ext cx="6381750" cy="3714750"/>
          </a:xfrm>
          <a:prstGeom prst="rect">
            <a:avLst/>
          </a:prstGeom>
          <a:solidFill>
            <a:srgbClr val="101828"/>
          </a:solidFill>
          <a:ln w="0">
            <a:solidFill>
              <a:srgbClr val="10182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137989-1A92-4421-98EA-3C0BA1FD163F}"/>
              </a:ext>
            </a:extLst>
          </p:cNvPr>
          <p:cNvSpPr>
            <a:spLocks noGrp="1"/>
          </p:cNvSpPr>
          <p:nvPr/>
        </p:nvSpPr>
        <p:spPr>
          <a:xfrm>
            <a:off x="5200650" y="236220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1E9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1E9FF"/>
                </a:solidFill>
                <a:latin typeface="Aptos"/>
                <a:ea typeface="Aptos"/>
                <a:cs typeface="Aptos"/>
              </a:rPr>
              <a:t>Trechos essenciais da bridge InterSCity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CB54B6-C06B-4533-82F5-9FE0BCF264EA}"/>
              </a:ext>
            </a:extLst>
          </p:cNvPr>
          <p:cNvSpPr>
            <a:spLocks noGrp="1"/>
          </p:cNvSpPr>
          <p:nvPr/>
        </p:nvSpPr>
        <p:spPr>
          <a:xfrm>
            <a:off x="5200650" y="2724150"/>
            <a:ext cx="581025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// interscity/main.cpp</a:t>
            </a: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mqtt_topic = get_env("MQTT_TOPIC", "ac-iot/+/sensores");</a:t>
            </a: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mosquitto_subscribe(mosq, nullptr, mqtt_topic.c_str(), 0);</a:t>
            </a:r>
          </a:p>
          <a:p>
            <a:endParaRPr sz="938" b="0">
              <a:solidFill>
                <a:srgbClr val="F9FA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static bool post_room_telemetry(const RoomConfig&amp; room,</a:t>
            </a: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                              const json&amp; payload) {</a:t>
            </a: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json intercity_payload = {{"data", json::object()}};</a:t>
            </a: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for (const auto&amp; field : field_names) {</a:t>
            </a: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  if (payload.contains(field)) {</a:t>
            </a: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    add_capability_value(intercity_payload,</a:t>
            </a: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        field, payload[field], date);</a:t>
            </a: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}</a:t>
            </a: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auto path = "/resources/" + room.uuid + "/data";</a:t>
            </a: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auto response = send_http(adaptor_url, HttpMethod::Post,</a:t>
            </a: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    path, &amp;intercity_payload);</a:t>
            </a: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  return is_success(response.status);</a:t>
            </a:r>
          </a:p>
          <a:p>
            <a:pPr algn="l">
              <a:def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9FAFB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78C7E4-F6B8-4D96-9669-F9717738100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6EE0FC-36FE-4742-A2D7-2EE998C6F73E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5611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A85BE300-FF17-4120-9A71-2AAB595C16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94FAC5-32BD-4CC8-8F33-0EFA7269449D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607FCB-B7F1-4DA4-9FC7-B5256023824E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GANTT RESUMO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F9DD1D-3902-4D7D-B52C-9D672935211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Base operacional concluída; dados automáticos substituem a etapa física.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0A4EBD-5272-4ECC-BCE4-C4A942477BD2}"/>
              </a:ext>
            </a:extLst>
          </p:cNvPr>
          <p:cNvSpPr>
            <a:spLocks noGrp="1"/>
          </p:cNvSpPr>
          <p:nvPr/>
        </p:nvSpPr>
        <p:spPr>
          <a:xfrm>
            <a:off x="2647950" y="215265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28/05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9A4C15-6E95-43BC-B271-85C0234556E1}"/>
              </a:ext>
            </a:extLst>
          </p:cNvPr>
          <p:cNvSpPr>
            <a:spLocks noGrp="1"/>
          </p:cNvSpPr>
          <p:nvPr/>
        </p:nvSpPr>
        <p:spPr>
          <a:xfrm>
            <a:off x="2857500" y="2400300"/>
            <a:ext cx="9525" cy="2743200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8D21A0-560A-4385-960D-A63004CB1290}"/>
              </a:ext>
            </a:extLst>
          </p:cNvPr>
          <p:cNvSpPr>
            <a:spLocks noGrp="1"/>
          </p:cNvSpPr>
          <p:nvPr/>
        </p:nvSpPr>
        <p:spPr>
          <a:xfrm>
            <a:off x="3390900" y="215265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01/06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947983-F286-4CF5-B325-2219BB46D32F}"/>
              </a:ext>
            </a:extLst>
          </p:cNvPr>
          <p:cNvSpPr>
            <a:spLocks noGrp="1"/>
          </p:cNvSpPr>
          <p:nvPr/>
        </p:nvSpPr>
        <p:spPr>
          <a:xfrm>
            <a:off x="3600450" y="2400300"/>
            <a:ext cx="9525" cy="2743200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A7245D-2DF3-4E87-998B-C18FBBB4A905}"/>
              </a:ext>
            </a:extLst>
          </p:cNvPr>
          <p:cNvSpPr>
            <a:spLocks noGrp="1"/>
          </p:cNvSpPr>
          <p:nvPr/>
        </p:nvSpPr>
        <p:spPr>
          <a:xfrm>
            <a:off x="4133850" y="215265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05/06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ED9B01-6A8F-4A27-A070-44526EEFE15F}"/>
              </a:ext>
            </a:extLst>
          </p:cNvPr>
          <p:cNvSpPr>
            <a:spLocks noGrp="1"/>
          </p:cNvSpPr>
          <p:nvPr/>
        </p:nvSpPr>
        <p:spPr>
          <a:xfrm>
            <a:off x="4343400" y="2400300"/>
            <a:ext cx="9525" cy="2743200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64A412-1A65-47CE-B082-960A4AA6208D}"/>
              </a:ext>
            </a:extLst>
          </p:cNvPr>
          <p:cNvSpPr>
            <a:spLocks noGrp="1"/>
          </p:cNvSpPr>
          <p:nvPr/>
        </p:nvSpPr>
        <p:spPr>
          <a:xfrm>
            <a:off x="4876800" y="215265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09/06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E3C697-ACEE-41CF-B6BF-E18653636875}"/>
              </a:ext>
            </a:extLst>
          </p:cNvPr>
          <p:cNvSpPr>
            <a:spLocks noGrp="1"/>
          </p:cNvSpPr>
          <p:nvPr/>
        </p:nvSpPr>
        <p:spPr>
          <a:xfrm>
            <a:off x="5086350" y="2400300"/>
            <a:ext cx="9525" cy="2743200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0141AC-CFB4-42F6-BF92-5E9569054EDE}"/>
              </a:ext>
            </a:extLst>
          </p:cNvPr>
          <p:cNvSpPr>
            <a:spLocks noGrp="1"/>
          </p:cNvSpPr>
          <p:nvPr/>
        </p:nvSpPr>
        <p:spPr>
          <a:xfrm>
            <a:off x="5619750" y="215265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13/06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F0AF7D-8036-4601-85E5-4D63C599C9B9}"/>
              </a:ext>
            </a:extLst>
          </p:cNvPr>
          <p:cNvSpPr>
            <a:spLocks noGrp="1"/>
          </p:cNvSpPr>
          <p:nvPr/>
        </p:nvSpPr>
        <p:spPr>
          <a:xfrm>
            <a:off x="5829300" y="2400300"/>
            <a:ext cx="9525" cy="2743200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BABA92-6CA8-47FB-BF1E-B1CE11CA6707}"/>
              </a:ext>
            </a:extLst>
          </p:cNvPr>
          <p:cNvSpPr>
            <a:spLocks noGrp="1"/>
          </p:cNvSpPr>
          <p:nvPr/>
        </p:nvSpPr>
        <p:spPr>
          <a:xfrm>
            <a:off x="6362700" y="215265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17/06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1EED0D-E6BB-456C-BCDC-210A7A938C27}"/>
              </a:ext>
            </a:extLst>
          </p:cNvPr>
          <p:cNvSpPr>
            <a:spLocks noGrp="1"/>
          </p:cNvSpPr>
          <p:nvPr/>
        </p:nvSpPr>
        <p:spPr>
          <a:xfrm>
            <a:off x="6572250" y="2400300"/>
            <a:ext cx="9525" cy="2743200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6DBC3F-CDDF-4497-A799-A2E075439F96}"/>
              </a:ext>
            </a:extLst>
          </p:cNvPr>
          <p:cNvSpPr>
            <a:spLocks noGrp="1"/>
          </p:cNvSpPr>
          <p:nvPr/>
        </p:nvSpPr>
        <p:spPr>
          <a:xfrm>
            <a:off x="7105650" y="215265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21/06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C23CE6-9A49-4D18-B1D0-B5B0A9292E41}"/>
              </a:ext>
            </a:extLst>
          </p:cNvPr>
          <p:cNvSpPr>
            <a:spLocks noGrp="1"/>
          </p:cNvSpPr>
          <p:nvPr/>
        </p:nvSpPr>
        <p:spPr>
          <a:xfrm>
            <a:off x="7315200" y="2400300"/>
            <a:ext cx="9525" cy="2743200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D0A60E-53C2-4DD4-9752-7F4175D56958}"/>
              </a:ext>
            </a:extLst>
          </p:cNvPr>
          <p:cNvSpPr>
            <a:spLocks noGrp="1"/>
          </p:cNvSpPr>
          <p:nvPr/>
        </p:nvSpPr>
        <p:spPr>
          <a:xfrm>
            <a:off x="7848600" y="2152650"/>
            <a:ext cx="590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25/06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95A1FF-302C-4EAD-B526-36C3C31E9225}"/>
              </a:ext>
            </a:extLst>
          </p:cNvPr>
          <p:cNvSpPr>
            <a:spLocks noGrp="1"/>
          </p:cNvSpPr>
          <p:nvPr/>
        </p:nvSpPr>
        <p:spPr>
          <a:xfrm>
            <a:off x="8058150" y="2400300"/>
            <a:ext cx="9525" cy="2743200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BDA772-42AC-4336-A41C-1F8C4E2BDBF1}"/>
              </a:ext>
            </a:extLst>
          </p:cNvPr>
          <p:cNvSpPr>
            <a:spLocks noGrp="1"/>
          </p:cNvSpPr>
          <p:nvPr/>
        </p:nvSpPr>
        <p:spPr>
          <a:xfrm>
            <a:off x="2857500" y="2400300"/>
            <a:ext cx="5953125" cy="9525"/>
          </a:xfrm>
          <a:prstGeom prst="rect">
            <a:avLst/>
          </a:prstGeom>
          <a:solidFill>
            <a:srgbClr val="D7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9124B9-992E-4A65-B780-0311F7289149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18573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Docker + Mosquitto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D9F200-88D3-4FB3-9884-B7F60D3863EF}"/>
              </a:ext>
            </a:extLst>
          </p:cNvPr>
          <p:cNvSpPr>
            <a:spLocks noGrp="1"/>
          </p:cNvSpPr>
          <p:nvPr/>
        </p:nvSpPr>
        <p:spPr>
          <a:xfrm>
            <a:off x="2857500" y="2609850"/>
            <a:ext cx="668655" cy="1905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FB3F2C-3154-4A12-BCD7-6529D2E995D8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concluído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535582-2260-45E4-B5EF-382061B31A92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18573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Simulador C++ MQTT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C1B0D7-AB9C-4F7A-B4A4-5C63A383C3EC}"/>
              </a:ext>
            </a:extLst>
          </p:cNvPr>
          <p:cNvSpPr>
            <a:spLocks noGrp="1"/>
          </p:cNvSpPr>
          <p:nvPr/>
        </p:nvSpPr>
        <p:spPr>
          <a:xfrm>
            <a:off x="2857500" y="2990850"/>
            <a:ext cx="222885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743E91-EEE9-4380-8EF0-9B62DC3D449E}"/>
              </a:ext>
            </a:extLst>
          </p:cNvPr>
          <p:cNvSpPr>
            <a:spLocks noGrp="1"/>
          </p:cNvSpPr>
          <p:nvPr/>
        </p:nvSpPr>
        <p:spPr>
          <a:xfrm>
            <a:off x="9525000" y="2952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concluído em 07/06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AA909C0-A7F2-4597-B0B5-773B4D3E81A8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18573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Node-RED automação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F6F9A2-17A8-4001-95ED-04F6E09B07F6}"/>
              </a:ext>
            </a:extLst>
          </p:cNvPr>
          <p:cNvSpPr>
            <a:spLocks noGrp="1"/>
          </p:cNvSpPr>
          <p:nvPr/>
        </p:nvSpPr>
        <p:spPr>
          <a:xfrm>
            <a:off x="2857500" y="3371850"/>
            <a:ext cx="222885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F69ACF-B1A5-4BA4-964A-A5B9FE1F1D51}"/>
              </a:ext>
            </a:extLst>
          </p:cNvPr>
          <p:cNvSpPr>
            <a:spLocks noGrp="1"/>
          </p:cNvSpPr>
          <p:nvPr/>
        </p:nvSpPr>
        <p:spPr>
          <a:xfrm>
            <a:off x="9525000" y="3333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concluído em 07/06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C12B8C-9572-4D35-98A7-09A36631E92D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18573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Painel web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327123-09C2-4B93-9248-11529632D4E4}"/>
              </a:ext>
            </a:extLst>
          </p:cNvPr>
          <p:cNvSpPr>
            <a:spLocks noGrp="1"/>
          </p:cNvSpPr>
          <p:nvPr/>
        </p:nvSpPr>
        <p:spPr>
          <a:xfrm>
            <a:off x="2857500" y="3752850"/>
            <a:ext cx="2228850" cy="190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557220B-DF7D-43F2-95A0-3D0FD6CA67C8}"/>
              </a:ext>
            </a:extLst>
          </p:cNvPr>
          <p:cNvSpPr>
            <a:spLocks noGrp="1"/>
          </p:cNvSpPr>
          <p:nvPr/>
        </p:nvSpPr>
        <p:spPr>
          <a:xfrm>
            <a:off x="9525000" y="3714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concluído em 07/06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9602DE-311F-4389-98AF-82EA3C37DA93}"/>
              </a:ext>
            </a:extLst>
          </p:cNvPr>
          <p:cNvSpPr>
            <a:spLocks noGrp="1"/>
          </p:cNvSpPr>
          <p:nvPr/>
        </p:nvSpPr>
        <p:spPr>
          <a:xfrm>
            <a:off x="704850" y="4095750"/>
            <a:ext cx="18573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Bridge InterSCity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83C50F5-7B12-42C4-B9C3-72DD03BE96E2}"/>
              </a:ext>
            </a:extLst>
          </p:cNvPr>
          <p:cNvSpPr>
            <a:spLocks noGrp="1"/>
          </p:cNvSpPr>
          <p:nvPr/>
        </p:nvSpPr>
        <p:spPr>
          <a:xfrm>
            <a:off x="2857500" y="4133850"/>
            <a:ext cx="2971800" cy="1905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F5B86C-8CAB-46F2-8DFD-0307448F295E}"/>
              </a:ext>
            </a:extLst>
          </p:cNvPr>
          <p:cNvSpPr>
            <a:spLocks noGrp="1"/>
          </p:cNvSpPr>
          <p:nvPr/>
        </p:nvSpPr>
        <p:spPr>
          <a:xfrm>
            <a:off x="9525000" y="4095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implementado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A9845A5-15B2-426A-AFCB-26FD21F81652}"/>
              </a:ext>
            </a:extLst>
          </p:cNvPr>
          <p:cNvSpPr>
            <a:spLocks noGrp="1"/>
          </p:cNvSpPr>
          <p:nvPr/>
        </p:nvSpPr>
        <p:spPr>
          <a:xfrm>
            <a:off x="704850" y="4476750"/>
            <a:ext cx="18573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Geração automática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83E44E4-816E-4BED-AB9E-99918D0FCFE3}"/>
              </a:ext>
            </a:extLst>
          </p:cNvPr>
          <p:cNvSpPr>
            <a:spLocks noGrp="1"/>
          </p:cNvSpPr>
          <p:nvPr/>
        </p:nvSpPr>
        <p:spPr>
          <a:xfrm>
            <a:off x="5086350" y="4514850"/>
            <a:ext cx="1634490" cy="190500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FFC0B1-8A69-43F8-BB66-7EF1F08FE541}"/>
              </a:ext>
            </a:extLst>
          </p:cNvPr>
          <p:cNvSpPr>
            <a:spLocks noGrp="1"/>
          </p:cNvSpPr>
          <p:nvPr/>
        </p:nvSpPr>
        <p:spPr>
          <a:xfrm>
            <a:off x="9525000" y="4476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escopo definido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D16554-B3C0-4733-9DA4-7ADCF8DB3948}"/>
              </a:ext>
            </a:extLst>
          </p:cNvPr>
          <p:cNvSpPr>
            <a:spLocks noGrp="1"/>
          </p:cNvSpPr>
          <p:nvPr/>
        </p:nvSpPr>
        <p:spPr>
          <a:xfrm>
            <a:off x="704850" y="4857750"/>
            <a:ext cx="18573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Escalabilidade dos dados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ABF07C0-D931-4D05-868A-49006389F7A8}"/>
              </a:ext>
            </a:extLst>
          </p:cNvPr>
          <p:cNvSpPr>
            <a:spLocks noGrp="1"/>
          </p:cNvSpPr>
          <p:nvPr/>
        </p:nvSpPr>
        <p:spPr>
          <a:xfrm>
            <a:off x="5829300" y="4895850"/>
            <a:ext cx="1634490" cy="1905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1242CB-6D72-4A5F-9A86-48E1C3270CAD}"/>
              </a:ext>
            </a:extLst>
          </p:cNvPr>
          <p:cNvSpPr>
            <a:spLocks noGrp="1"/>
          </p:cNvSpPr>
          <p:nvPr/>
        </p:nvSpPr>
        <p:spPr>
          <a:xfrm>
            <a:off x="9525000" y="4857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validar carga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22DACA4-6327-4945-9B1A-4CAB24394747}"/>
              </a:ext>
            </a:extLst>
          </p:cNvPr>
          <p:cNvSpPr>
            <a:spLocks noGrp="1"/>
          </p:cNvSpPr>
          <p:nvPr/>
        </p:nvSpPr>
        <p:spPr>
          <a:xfrm>
            <a:off x="704850" y="5238750"/>
            <a:ext cx="18573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Testes finais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B786D49-81F7-436E-A50D-07E021AC3568}"/>
              </a:ext>
            </a:extLst>
          </p:cNvPr>
          <p:cNvSpPr>
            <a:spLocks noGrp="1"/>
          </p:cNvSpPr>
          <p:nvPr/>
        </p:nvSpPr>
        <p:spPr>
          <a:xfrm>
            <a:off x="7315200" y="5276850"/>
            <a:ext cx="1114425" cy="1905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6D5F6ED-0660-4F7F-A2B2-9EC61BE7D464}"/>
              </a:ext>
            </a:extLst>
          </p:cNvPr>
          <p:cNvSpPr>
            <a:spLocks noGrp="1"/>
          </p:cNvSpPr>
          <p:nvPr/>
        </p:nvSpPr>
        <p:spPr>
          <a:xfrm>
            <a:off x="9525000" y="5238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previsto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61DBE83-0681-41FE-8CC3-1195FAD63A46}"/>
              </a:ext>
            </a:extLst>
          </p:cNvPr>
          <p:cNvSpPr>
            <a:spLocks noGrp="1"/>
          </p:cNvSpPr>
          <p:nvPr/>
        </p:nvSpPr>
        <p:spPr>
          <a:xfrm>
            <a:off x="704850" y="5810250"/>
            <a:ext cx="1504950" cy="323850"/>
          </a:xfrm>
          <a:prstGeom prst="rect">
            <a:avLst/>
          </a:prstGeom>
          <a:solidFill>
            <a:srgbClr val="EAF7EF"/>
          </a:solidFill>
          <a:ln w="0">
            <a:solidFill>
              <a:srgbClr val="EAF7EF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70C9F6-3B1D-4CD4-B568-226EB5D6ED38}"/>
              </a:ext>
            </a:extLst>
          </p:cNvPr>
          <p:cNvSpPr>
            <a:spLocks noGrp="1"/>
          </p:cNvSpPr>
          <p:nvPr/>
        </p:nvSpPr>
        <p:spPr>
          <a:xfrm>
            <a:off x="819150" y="5857875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verde: concluído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FEAAF17-1AFB-4D5E-9CE1-585FAC9B318E}"/>
              </a:ext>
            </a:extLst>
          </p:cNvPr>
          <p:cNvSpPr>
            <a:spLocks noGrp="1"/>
          </p:cNvSpPr>
          <p:nvPr/>
        </p:nvSpPr>
        <p:spPr>
          <a:xfrm>
            <a:off x="2381250" y="5810250"/>
            <a:ext cx="2286000" cy="323850"/>
          </a:xfrm>
          <a:prstGeom prst="rect">
            <a:avLst/>
          </a:prstGeom>
          <a:solidFill>
            <a:srgbClr val="E8F0FE"/>
          </a:solidFill>
          <a:ln w="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E0BB6C3-6792-458F-B885-2E93F89B430F}"/>
              </a:ext>
            </a:extLst>
          </p:cNvPr>
          <p:cNvSpPr>
            <a:spLocks noGrp="1"/>
          </p:cNvSpPr>
          <p:nvPr/>
        </p:nvSpPr>
        <p:spPr>
          <a:xfrm>
            <a:off x="2495550" y="5857875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azul: concluído fora do prazo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4610F32-66C0-4EA6-A428-A1A178DD6C08}"/>
              </a:ext>
            </a:extLst>
          </p:cNvPr>
          <p:cNvSpPr>
            <a:spLocks noGrp="1"/>
          </p:cNvSpPr>
          <p:nvPr/>
        </p:nvSpPr>
        <p:spPr>
          <a:xfrm>
            <a:off x="4838700" y="5810250"/>
            <a:ext cx="2000250" cy="323850"/>
          </a:xfrm>
          <a:prstGeom prst="rect">
            <a:avLst/>
          </a:prstGeom>
          <a:solidFill>
            <a:srgbClr val="FFF3DA"/>
          </a:solidFill>
          <a:ln w="0">
            <a:solidFill>
              <a:srgbClr val="FFF3DA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7E6081-706F-41D1-8DBD-EA94442AC52F}"/>
              </a:ext>
            </a:extLst>
          </p:cNvPr>
          <p:cNvSpPr>
            <a:spLocks noGrp="1"/>
          </p:cNvSpPr>
          <p:nvPr/>
        </p:nvSpPr>
        <p:spPr>
          <a:xfrm>
            <a:off x="4953000" y="5857875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amarelo: validação final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BB407E0-2A48-4F10-8ED2-3DB6C54372C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1E18202-27A1-4846-B05A-9C4897A75C0C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867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1A39647-02BF-4A6D-812F-2EF0A0D0F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D2C44-2884-487B-875C-9023BD753AF9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8AACD3-2100-471B-8DF1-9133877BC8B4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GERAÇÃO DE DADOS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96372D-1588-4BF4-9F34-A295BCB34C3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Os dados são gerados automaticamente para manter o sistema ativo e escalável.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B41D8-0322-4F8C-8960-A9B71B26CC32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4013D9-A7E0-4D45-A66D-D2360A45559A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31432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DBC381-127E-4432-8CBA-5919E8EFC750}"/>
              </a:ext>
            </a:extLst>
          </p:cNvPr>
          <p:cNvSpPr>
            <a:spLocks noGrp="1"/>
          </p:cNvSpPr>
          <p:nvPr/>
        </p:nvSpPr>
        <p:spPr>
          <a:xfrm>
            <a:off x="933450" y="2552700"/>
            <a:ext cx="2838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Origem dos dados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EA2022-47C1-4DC1-932F-54C3318013F0}"/>
              </a:ext>
            </a:extLst>
          </p:cNvPr>
          <p:cNvSpPr>
            <a:spLocks noGrp="1"/>
          </p:cNvSpPr>
          <p:nvPr/>
        </p:nvSpPr>
        <p:spPr>
          <a:xfrm>
            <a:off x="933450" y="2857500"/>
            <a:ext cx="28384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 simulador C++ publica leituras periódicas de três salas em ac-iot/+/sensores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15964E-D779-4F70-8260-FDC33DC258F4}"/>
              </a:ext>
            </a:extLst>
          </p:cNvPr>
          <p:cNvSpPr>
            <a:spLocks noGrp="1"/>
          </p:cNvSpPr>
          <p:nvPr/>
        </p:nvSpPr>
        <p:spPr>
          <a:xfrm>
            <a:off x="4524375" y="2381250"/>
            <a:ext cx="3143250" cy="1219200"/>
          </a:xfrm>
          <a:prstGeom prst="rect">
            <a:avLst/>
          </a:prstGeom>
          <a:solidFill>
            <a:srgbClr val="FFF3DA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B1B53C-4C23-4E6A-865D-43167C00C7F8}"/>
              </a:ext>
            </a:extLst>
          </p:cNvPr>
          <p:cNvSpPr>
            <a:spLocks noGrp="1"/>
          </p:cNvSpPr>
          <p:nvPr/>
        </p:nvSpPr>
        <p:spPr>
          <a:xfrm>
            <a:off x="4524375" y="2381250"/>
            <a:ext cx="314325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EC8B9C-0A6D-4F2B-833A-95A2BFE92683}"/>
              </a:ext>
            </a:extLst>
          </p:cNvPr>
          <p:cNvSpPr>
            <a:spLocks noGrp="1"/>
          </p:cNvSpPr>
          <p:nvPr/>
        </p:nvSpPr>
        <p:spPr>
          <a:xfrm>
            <a:off x="4676775" y="2552700"/>
            <a:ext cx="2838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Sem etapa física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1A9C9C-23E2-4834-96E7-369E2C16FDDF}"/>
              </a:ext>
            </a:extLst>
          </p:cNvPr>
          <p:cNvSpPr>
            <a:spLocks noGrp="1"/>
          </p:cNvSpPr>
          <p:nvPr/>
        </p:nvSpPr>
        <p:spPr>
          <a:xfrm>
            <a:off x="4676775" y="2857500"/>
            <a:ext cx="28384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ESP32, Wokwi, SCT-013, IR e relé deixam de ser implementados neste escopo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C6C16F-659E-4E71-A221-9D63D3DEB21A}"/>
              </a:ext>
            </a:extLst>
          </p:cNvPr>
          <p:cNvSpPr>
            <a:spLocks noGrp="1"/>
          </p:cNvSpPr>
          <p:nvPr/>
        </p:nvSpPr>
        <p:spPr>
          <a:xfrm>
            <a:off x="8267700" y="238125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CA84F9-BB78-4981-ADCA-78130770DF80}"/>
              </a:ext>
            </a:extLst>
          </p:cNvPr>
          <p:cNvSpPr>
            <a:spLocks noGrp="1"/>
          </p:cNvSpPr>
          <p:nvPr/>
        </p:nvSpPr>
        <p:spPr>
          <a:xfrm>
            <a:off x="8267700" y="2381250"/>
            <a:ext cx="3143250" cy="4762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E455C3-E00B-47ED-A70A-88D401E13825}"/>
              </a:ext>
            </a:extLst>
          </p:cNvPr>
          <p:cNvSpPr>
            <a:spLocks noGrp="1"/>
          </p:cNvSpPr>
          <p:nvPr/>
        </p:nvSpPr>
        <p:spPr>
          <a:xfrm>
            <a:off x="8420100" y="2552700"/>
            <a:ext cx="2838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Fluxo preservado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6F6DCC-90CE-434E-8D6B-72FCBD6B5C36}"/>
              </a:ext>
            </a:extLst>
          </p:cNvPr>
          <p:cNvSpPr>
            <a:spLocks noGrp="1"/>
          </p:cNvSpPr>
          <p:nvPr/>
        </p:nvSpPr>
        <p:spPr>
          <a:xfrm>
            <a:off x="8420100" y="2857500"/>
            <a:ext cx="28384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MQTT, Node-RED, painel web e InterSCity continuam recebendo o mesmo padrão de telemetria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EC2EC4-2363-4B9B-B296-014F881658BE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32C27C-B9AC-4FA9-8696-7DB49A89D926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3143250" cy="476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6202AB-44D1-44B7-9A4D-188A6FA8889C}"/>
              </a:ext>
            </a:extLst>
          </p:cNvPr>
          <p:cNvSpPr>
            <a:spLocks noGrp="1"/>
          </p:cNvSpPr>
          <p:nvPr/>
        </p:nvSpPr>
        <p:spPr>
          <a:xfrm>
            <a:off x="933450" y="4343400"/>
            <a:ext cx="2838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Escala horizontal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E583BA-4145-4841-BAC6-AB1D289F8B75}"/>
              </a:ext>
            </a:extLst>
          </p:cNvPr>
          <p:cNvSpPr>
            <a:spLocks noGrp="1"/>
          </p:cNvSpPr>
          <p:nvPr/>
        </p:nvSpPr>
        <p:spPr>
          <a:xfrm>
            <a:off x="933450" y="4648200"/>
            <a:ext cx="28384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novas salas podem ser adicionadas mantendo o padrão ac-iot/{sala}/sensores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10052D-6216-40C7-8761-8511D541D0D5}"/>
              </a:ext>
            </a:extLst>
          </p:cNvPr>
          <p:cNvSpPr>
            <a:spLocks noGrp="1"/>
          </p:cNvSpPr>
          <p:nvPr/>
        </p:nvSpPr>
        <p:spPr>
          <a:xfrm>
            <a:off x="4524375" y="417195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DF6EC2-D375-4A2B-9665-B5DFB9BFB888}"/>
              </a:ext>
            </a:extLst>
          </p:cNvPr>
          <p:cNvSpPr>
            <a:spLocks noGrp="1"/>
          </p:cNvSpPr>
          <p:nvPr/>
        </p:nvSpPr>
        <p:spPr>
          <a:xfrm>
            <a:off x="4524375" y="4171950"/>
            <a:ext cx="3143250" cy="4762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6EAC2C-BAB3-490A-AEC5-A9E93CC75D47}"/>
              </a:ext>
            </a:extLst>
          </p:cNvPr>
          <p:cNvSpPr>
            <a:spLocks noGrp="1"/>
          </p:cNvSpPr>
          <p:nvPr/>
        </p:nvSpPr>
        <p:spPr>
          <a:xfrm>
            <a:off x="4676775" y="4343400"/>
            <a:ext cx="2838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Baixo acoplamento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37D470-01B1-4A8B-A319-6AED01985516}"/>
              </a:ext>
            </a:extLst>
          </p:cNvPr>
          <p:cNvSpPr>
            <a:spLocks noGrp="1"/>
          </p:cNvSpPr>
          <p:nvPr/>
        </p:nvSpPr>
        <p:spPr>
          <a:xfrm>
            <a:off x="4676775" y="4648200"/>
            <a:ext cx="28384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publicação assíncrona por MQTT evita travar painel, regras e bridge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F53D08-2F7C-42E3-816D-859128ACCB7E}"/>
              </a:ext>
            </a:extLst>
          </p:cNvPr>
          <p:cNvSpPr>
            <a:spLocks noGrp="1"/>
          </p:cNvSpPr>
          <p:nvPr/>
        </p:nvSpPr>
        <p:spPr>
          <a:xfrm>
            <a:off x="8267700" y="4171950"/>
            <a:ext cx="3143250" cy="1219200"/>
          </a:xfrm>
          <a:prstGeom prst="rect">
            <a:avLst/>
          </a:prstGeom>
          <a:solidFill>
            <a:srgbClr val="FFF3DA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C90502-37D0-4456-BDC0-8172DA286EC0}"/>
              </a:ext>
            </a:extLst>
          </p:cNvPr>
          <p:cNvSpPr>
            <a:spLocks noGrp="1"/>
          </p:cNvSpPr>
          <p:nvPr/>
        </p:nvSpPr>
        <p:spPr>
          <a:xfrm>
            <a:off x="8267700" y="4171950"/>
            <a:ext cx="314325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29F4C2-6535-44AF-8C19-DFC11DAEBDA4}"/>
              </a:ext>
            </a:extLst>
          </p:cNvPr>
          <p:cNvSpPr>
            <a:spLocks noGrp="1"/>
          </p:cNvSpPr>
          <p:nvPr/>
        </p:nvSpPr>
        <p:spPr>
          <a:xfrm>
            <a:off x="8420100" y="4343400"/>
            <a:ext cx="2838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Validação restante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97F617-E215-48CB-A902-48FDAEEF325D}"/>
              </a:ext>
            </a:extLst>
          </p:cNvPr>
          <p:cNvSpPr>
            <a:spLocks noGrp="1"/>
          </p:cNvSpPr>
          <p:nvPr/>
        </p:nvSpPr>
        <p:spPr>
          <a:xfrm>
            <a:off x="8420100" y="4648200"/>
            <a:ext cx="28384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medir estabilidade com mais salas, maior frequência e roteiro de testes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E5835C-E632-4143-B719-1F86611E1BA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22756EA-EDFD-4003-BD6D-0022AF378D00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65665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633BBA3-6A39-495E-96A4-4A8A205DF9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0A1E4C-EF14-4C0B-B7B2-5085220E7D98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32385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6B4444-672D-4753-AF39-1E9084CF0663}"/>
              </a:ext>
            </a:extLst>
          </p:cNvPr>
          <p:cNvSpPr>
            <a:spLocks noGrp="1"/>
          </p:cNvSpPr>
          <p:nvPr/>
        </p:nvSpPr>
        <p:spPr>
          <a:xfrm>
            <a:off x="1066800" y="4381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PROXIMOS PASSOS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8F380D-12F0-4412-9883-1FF60198CD7E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 prioridade é transformar o protótipo integrado em demonstração validada.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C5F337-6650-4140-A906-1FE33A92B9FA}"/>
              </a:ext>
            </a:extLst>
          </p:cNvPr>
          <p:cNvSpPr>
            <a:spLocks noGrp="1"/>
          </p:cNvSpPr>
          <p:nvPr/>
        </p:nvSpPr>
        <p:spPr>
          <a:xfrm>
            <a:off x="1000125" y="2724150"/>
            <a:ext cx="2190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46D611-45E7-4F9B-8E51-A958ACE71882}"/>
              </a:ext>
            </a:extLst>
          </p:cNvPr>
          <p:cNvSpPr>
            <a:spLocks noGrp="1"/>
          </p:cNvSpPr>
          <p:nvPr/>
        </p:nvSpPr>
        <p:spPr>
          <a:xfrm>
            <a:off x="1000125" y="2724150"/>
            <a:ext cx="2190750" cy="47625"/>
          </a:xfrm>
          <a:prstGeom prst="rect">
            <a:avLst/>
          </a:prstGeom>
          <a:solidFill>
            <a:srgbClr val="16A3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F98814-B326-4985-A57F-50FCA75FCD81}"/>
              </a:ext>
            </a:extLst>
          </p:cNvPr>
          <p:cNvSpPr>
            <a:spLocks noGrp="1"/>
          </p:cNvSpPr>
          <p:nvPr/>
        </p:nvSpPr>
        <p:spPr>
          <a:xfrm>
            <a:off x="1152525" y="289560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1. Validar integração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8D1D-7B5F-4F04-9015-75F5ED63D633}"/>
              </a:ext>
            </a:extLst>
          </p:cNvPr>
          <p:cNvSpPr>
            <a:spLocks noGrp="1"/>
          </p:cNvSpPr>
          <p:nvPr/>
        </p:nvSpPr>
        <p:spPr>
          <a:xfrm>
            <a:off x="1152525" y="3200400"/>
            <a:ext cx="18859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InterSCity, recursos cadastrados e última leitura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73D158-7D20-45AB-8D77-DE115E79589D}"/>
              </a:ext>
            </a:extLst>
          </p:cNvPr>
          <p:cNvSpPr>
            <a:spLocks noGrp="1"/>
          </p:cNvSpPr>
          <p:nvPr/>
        </p:nvSpPr>
        <p:spPr>
          <a:xfrm>
            <a:off x="3667125" y="2724150"/>
            <a:ext cx="2190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176D4D-F248-4498-837F-5DA37E29B5F8}"/>
              </a:ext>
            </a:extLst>
          </p:cNvPr>
          <p:cNvSpPr>
            <a:spLocks noGrp="1"/>
          </p:cNvSpPr>
          <p:nvPr/>
        </p:nvSpPr>
        <p:spPr>
          <a:xfrm>
            <a:off x="3667125" y="2724150"/>
            <a:ext cx="219075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2CECDF-34ED-465E-A85F-DFB3214008B4}"/>
              </a:ext>
            </a:extLst>
          </p:cNvPr>
          <p:cNvSpPr>
            <a:spLocks noGrp="1"/>
          </p:cNvSpPr>
          <p:nvPr/>
        </p:nvSpPr>
        <p:spPr>
          <a:xfrm>
            <a:off x="3819525" y="289560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2. Testar escala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5D06B2-575B-4870-B6F5-2C3250CC402B}"/>
              </a:ext>
            </a:extLst>
          </p:cNvPr>
          <p:cNvSpPr>
            <a:spLocks noGrp="1"/>
          </p:cNvSpPr>
          <p:nvPr/>
        </p:nvSpPr>
        <p:spPr>
          <a:xfrm>
            <a:off x="3819525" y="3200400"/>
            <a:ext cx="18859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mais salas, maior frequência e consumo de mensagens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904685-42AF-4111-A287-C66C1BB49B85}"/>
              </a:ext>
            </a:extLst>
          </p:cNvPr>
          <p:cNvSpPr>
            <a:spLocks noGrp="1"/>
          </p:cNvSpPr>
          <p:nvPr/>
        </p:nvSpPr>
        <p:spPr>
          <a:xfrm>
            <a:off x="6334125" y="2724150"/>
            <a:ext cx="2190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FDBB-6E98-40F3-BF45-BAE36D15C10C}"/>
              </a:ext>
            </a:extLst>
          </p:cNvPr>
          <p:cNvSpPr>
            <a:spLocks noGrp="1"/>
          </p:cNvSpPr>
          <p:nvPr/>
        </p:nvSpPr>
        <p:spPr>
          <a:xfrm>
            <a:off x="6334125" y="2724150"/>
            <a:ext cx="21907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65764C-9CEF-4145-B24D-103D42CD3090}"/>
              </a:ext>
            </a:extLst>
          </p:cNvPr>
          <p:cNvSpPr>
            <a:spLocks noGrp="1"/>
          </p:cNvSpPr>
          <p:nvPr/>
        </p:nvSpPr>
        <p:spPr>
          <a:xfrm>
            <a:off x="6486525" y="289560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3. Evidenciar regras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7B27D7-B962-4672-98C9-C6831823347D}"/>
              </a:ext>
            </a:extLst>
          </p:cNvPr>
          <p:cNvSpPr>
            <a:spLocks noGrp="1"/>
          </p:cNvSpPr>
          <p:nvPr/>
        </p:nvSpPr>
        <p:spPr>
          <a:xfrm>
            <a:off x="6486525" y="3200400"/>
            <a:ext cx="18859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presença, setpoints, ausência e comandos manuais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04D353-A222-4D3F-B5B0-6D81C34295C1}"/>
              </a:ext>
            </a:extLst>
          </p:cNvPr>
          <p:cNvSpPr>
            <a:spLocks noGrp="1"/>
          </p:cNvSpPr>
          <p:nvPr/>
        </p:nvSpPr>
        <p:spPr>
          <a:xfrm>
            <a:off x="9001125" y="2724150"/>
            <a:ext cx="2190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249D92-E373-4146-B9CF-DE202D29AAA4}"/>
              </a:ext>
            </a:extLst>
          </p:cNvPr>
          <p:cNvSpPr>
            <a:spLocks noGrp="1"/>
          </p:cNvSpPr>
          <p:nvPr/>
        </p:nvSpPr>
        <p:spPr>
          <a:xfrm>
            <a:off x="9001125" y="2724150"/>
            <a:ext cx="2190750" cy="4762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D4FBDD-B843-4A0A-AD37-A056F2FA68C7}"/>
              </a:ext>
            </a:extLst>
          </p:cNvPr>
          <p:cNvSpPr>
            <a:spLocks noGrp="1"/>
          </p:cNvSpPr>
          <p:nvPr/>
        </p:nvSpPr>
        <p:spPr>
          <a:xfrm>
            <a:off x="9153525" y="289560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4. Fechar entrega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A98B01-8A8D-484A-9313-BFB3939714F5}"/>
              </a:ext>
            </a:extLst>
          </p:cNvPr>
          <p:cNvSpPr>
            <a:spLocks noGrp="1"/>
          </p:cNvSpPr>
          <p:nvPr/>
        </p:nvSpPr>
        <p:spPr>
          <a:xfrm>
            <a:off x="9153525" y="3200400"/>
            <a:ext cx="18859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roteiro, prints, logs e documentação final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53F8A4-733E-450D-9C75-0869F5D858AB}"/>
              </a:ext>
            </a:extLst>
          </p:cNvPr>
          <p:cNvSpPr>
            <a:spLocks noGrp="1"/>
          </p:cNvSpPr>
          <p:nvPr/>
        </p:nvSpPr>
        <p:spPr>
          <a:xfrm>
            <a:off x="3190875" y="3295650"/>
            <a:ext cx="476250" cy="2857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77E1A2-5D0F-4DF1-A613-2C28D9C642DF}"/>
              </a:ext>
            </a:extLst>
          </p:cNvPr>
          <p:cNvSpPr>
            <a:spLocks noGrp="1"/>
          </p:cNvSpPr>
          <p:nvPr/>
        </p:nvSpPr>
        <p:spPr>
          <a:xfrm>
            <a:off x="5857875" y="3295650"/>
            <a:ext cx="476250" cy="2857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9C80BA-5A85-4852-912C-06576C8F57E7}"/>
              </a:ext>
            </a:extLst>
          </p:cNvPr>
          <p:cNvSpPr>
            <a:spLocks noGrp="1"/>
          </p:cNvSpPr>
          <p:nvPr/>
        </p:nvSpPr>
        <p:spPr>
          <a:xfrm>
            <a:off x="8524875" y="3295650"/>
            <a:ext cx="476250" cy="28575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A11AED-9167-4119-B86C-7FFC6FE1DDBB}"/>
              </a:ext>
            </a:extLst>
          </p:cNvPr>
          <p:cNvSpPr>
            <a:spLocks noGrp="1"/>
          </p:cNvSpPr>
          <p:nvPr/>
        </p:nvSpPr>
        <p:spPr>
          <a:xfrm>
            <a:off x="1428750" y="4857750"/>
            <a:ext cx="9334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Mensagem final: o sistema já demonstra o fluxo completo com dados automáticos; o fechamento agora depende de testes, escala e evidências.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3886F9-C468-4B26-AF35-200CD91D990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AC-IoT UFMA | Status do prototipo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0F008F-49BA-49FA-9D91-776A0BED7F6F}"/>
              </a:ext>
            </a:extLst>
          </p:cNvPr>
          <p:cNvSpPr>
            <a:spLocks noGrp="1"/>
          </p:cNvSpPr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01532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1101</Words>
  <Application>Microsoft Macintosh PowerPoint</Application>
  <DocSecurity>0</DocSecurity>
  <PresentationFormat>Widescreen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Nilton Mangueira</cp:lastModifiedBy>
  <cp:revision>1</cp:revision>
  <dcterms:created xsi:type="dcterms:W3CDTF">2026-06-08T12:56:45Z</dcterms:created>
  <dcterms:modified xsi:type="dcterms:W3CDTF">2026-06-08T13:11:59Z</dcterms:modified>
</cp:coreProperties>
</file>