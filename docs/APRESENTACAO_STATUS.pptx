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714" autoAdjust="0"/>
  </p:normalViewPr>
  <p:slideViewPr>
    <p:cSldViewPr snapToGrid="0" snapToObjects="1">
      <p:cViewPr varScale="1">
        <p:scale>
          <a:sx n="153" d="100"/>
          <a:sy n="153" d="100"/>
        </p:scale>
        <p:origin x="336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b="1" dirty="0" err="1"/>
              <a:t>Gestão</a:t>
            </a:r>
            <a:r>
              <a:rPr b="1" dirty="0"/>
              <a:t> Energética dos </a:t>
            </a:r>
            <a:r>
              <a:rPr b="1" dirty="0" err="1"/>
              <a:t>Ar-Condicionados</a:t>
            </a:r>
            <a:r>
              <a:rPr b="1" dirty="0"/>
              <a:t> das Salas de Aula do </a:t>
            </a:r>
            <a:r>
              <a:rPr b="1" dirty="0" err="1"/>
              <a:t>Prédio</a:t>
            </a:r>
            <a:r>
              <a:rPr b="1" dirty="0"/>
              <a:t> Paulo Freire via IoT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12915"/>
            <a:ext cx="8229600" cy="2923765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1800" b="1" dirty="0" err="1"/>
              <a:t>Acompanhamento</a:t>
            </a:r>
            <a:r>
              <a:rPr sz="1800" b="1" dirty="0"/>
              <a:t> da </a:t>
            </a:r>
            <a:r>
              <a:rPr sz="1800" b="1" dirty="0" err="1"/>
              <a:t>implementação</a:t>
            </a:r>
            <a:endParaRPr sz="1800" b="1" dirty="0"/>
          </a:p>
          <a:p>
            <a:pPr marL="0" lvl="0" indent="0">
              <a:buNone/>
            </a:pPr>
            <a:r>
              <a:rPr sz="1800" b="1" dirty="0"/>
              <a:t>Código:</a:t>
            </a:r>
            <a:r>
              <a:rPr sz="1800" dirty="0"/>
              <a:t> UFMA-EC-SD-2026-001</a:t>
            </a:r>
          </a:p>
          <a:p>
            <a:pPr marL="0" lvl="0" indent="0">
              <a:buNone/>
            </a:pPr>
            <a:r>
              <a:rPr sz="1800" b="1" dirty="0" err="1"/>
              <a:t>Natureza</a:t>
            </a:r>
            <a:r>
              <a:rPr sz="1800" b="1" dirty="0"/>
              <a:t>:</a:t>
            </a:r>
            <a:r>
              <a:rPr sz="1800" dirty="0"/>
              <a:t> </a:t>
            </a:r>
            <a:r>
              <a:rPr sz="1800" dirty="0" err="1"/>
              <a:t>Projeto</a:t>
            </a:r>
            <a:r>
              <a:rPr sz="1800" dirty="0"/>
              <a:t> </a:t>
            </a:r>
            <a:r>
              <a:rPr sz="1800" dirty="0" err="1"/>
              <a:t>Acadêmico</a:t>
            </a:r>
            <a:r>
              <a:rPr sz="1800" dirty="0"/>
              <a:t> </a:t>
            </a:r>
            <a:r>
              <a:rPr lang="pt-BR" sz="1800" dirty="0"/>
              <a:t>(</a:t>
            </a:r>
            <a:r>
              <a:rPr sz="1800" dirty="0"/>
              <a:t>Sistemas </a:t>
            </a:r>
            <a:r>
              <a:rPr sz="1800" dirty="0" err="1"/>
              <a:t>Distribuídos</a:t>
            </a:r>
            <a:r>
              <a:rPr lang="pt-BR" sz="1800" dirty="0"/>
              <a:t>)</a:t>
            </a:r>
            <a:endParaRPr sz="1800" dirty="0"/>
          </a:p>
          <a:p>
            <a:pPr marL="0" lvl="0" indent="0">
              <a:buNone/>
            </a:pPr>
            <a:r>
              <a:rPr sz="1800" b="1" dirty="0" err="1"/>
              <a:t>Curso</a:t>
            </a:r>
            <a:r>
              <a:rPr sz="1800" b="1" dirty="0"/>
              <a:t> / </a:t>
            </a:r>
            <a:r>
              <a:rPr sz="1800" b="1" dirty="0" err="1"/>
              <a:t>Instituição</a:t>
            </a:r>
            <a:r>
              <a:rPr sz="1800" b="1" dirty="0"/>
              <a:t>:</a:t>
            </a:r>
            <a:r>
              <a:rPr sz="1800" dirty="0"/>
              <a:t> </a:t>
            </a:r>
            <a:r>
              <a:rPr sz="1800" dirty="0" err="1"/>
              <a:t>Engenharia</a:t>
            </a:r>
            <a:r>
              <a:rPr sz="1800" dirty="0"/>
              <a:t> da </a:t>
            </a:r>
            <a:r>
              <a:rPr sz="1800" dirty="0" err="1"/>
              <a:t>Computação</a:t>
            </a:r>
            <a:r>
              <a:rPr sz="1800" dirty="0"/>
              <a:t> </a:t>
            </a:r>
            <a:r>
              <a:rPr lang="pt-BR" sz="1800" dirty="0"/>
              <a:t>–</a:t>
            </a:r>
            <a:r>
              <a:rPr sz="1800" dirty="0"/>
              <a:t> UFMA</a:t>
            </a:r>
            <a:endParaRPr lang="pt-BR" sz="1800" dirty="0"/>
          </a:p>
          <a:p>
            <a:pPr marL="0" lvl="0" indent="0">
              <a:buNone/>
            </a:pPr>
            <a:endParaRPr sz="1800" dirty="0"/>
          </a:p>
          <a:p>
            <a:pPr marL="0" lvl="0" indent="0">
              <a:buNone/>
            </a:pPr>
            <a:r>
              <a:rPr sz="1800" b="1" dirty="0"/>
              <a:t>Equipe:</a:t>
            </a:r>
            <a:r>
              <a:rPr sz="1800" dirty="0"/>
              <a:t> Nilton Maciel Mangueira | Cleila Monteiro Dutra Galiza | Guilherme de Aquino Pacheco | Raniere Mendes dos Santos | Tereza Clarice da Silva Rocha</a:t>
            </a:r>
          </a:p>
          <a:p>
            <a:pPr marL="0" lvl="0" indent="0">
              <a:buNone/>
            </a:pPr>
            <a:r>
              <a:rPr sz="1800" b="1" dirty="0"/>
              <a:t>Professor:</a:t>
            </a:r>
            <a:r>
              <a:rPr sz="1800" dirty="0"/>
              <a:t> Prof. Luiz Henrique Neves Rodrigues</a:t>
            </a:r>
            <a:endParaRPr lang="pt-BR" sz="1800" dirty="0"/>
          </a:p>
          <a:p>
            <a:pPr marL="0" lvl="0" indent="0">
              <a:buNone/>
            </a:pPr>
            <a:endParaRPr sz="1800" dirty="0"/>
          </a:p>
          <a:p>
            <a:pPr marL="0" lvl="0" indent="0">
              <a:buNone/>
            </a:pPr>
            <a:r>
              <a:rPr sz="1800" b="1" dirty="0"/>
              <a:t>Local:</a:t>
            </a:r>
            <a:r>
              <a:rPr sz="1800" dirty="0"/>
              <a:t> </a:t>
            </a:r>
            <a:r>
              <a:rPr sz="1800" dirty="0" err="1"/>
              <a:t>Prédio</a:t>
            </a:r>
            <a:r>
              <a:rPr sz="1800" dirty="0"/>
              <a:t> Paulo Freire — Campus Dom Delgado, UFMA, São Luís — 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 err="1"/>
              <a:t>Objetivo</a:t>
            </a:r>
            <a:endParaRPr b="1" dirty="0"/>
          </a:p>
          <a:p>
            <a:pPr lvl="0"/>
            <a:r>
              <a:rPr dirty="0" err="1"/>
              <a:t>Monitorar</a:t>
            </a:r>
            <a:r>
              <a:rPr dirty="0"/>
              <a:t> </a:t>
            </a:r>
            <a:r>
              <a:rPr dirty="0" err="1"/>
              <a:t>temperatura</a:t>
            </a:r>
            <a:r>
              <a:rPr dirty="0"/>
              <a:t>, </a:t>
            </a:r>
            <a:r>
              <a:rPr dirty="0" err="1"/>
              <a:t>umidade</a:t>
            </a:r>
            <a:r>
              <a:rPr dirty="0"/>
              <a:t>, </a:t>
            </a:r>
            <a:r>
              <a:rPr dirty="0" err="1"/>
              <a:t>luminosidade</a:t>
            </a:r>
            <a:r>
              <a:rPr dirty="0"/>
              <a:t> e </a:t>
            </a:r>
            <a:r>
              <a:rPr dirty="0" err="1"/>
              <a:t>presença</a:t>
            </a:r>
            <a:r>
              <a:rPr dirty="0"/>
              <a:t>.</a:t>
            </a:r>
          </a:p>
          <a:p>
            <a:pPr lvl="0"/>
            <a:r>
              <a:rPr dirty="0" err="1"/>
              <a:t>Controlar</a:t>
            </a:r>
            <a:r>
              <a:rPr dirty="0"/>
              <a:t> </a:t>
            </a:r>
            <a:r>
              <a:rPr dirty="0" err="1"/>
              <a:t>ar-condicionado</a:t>
            </a:r>
            <a:r>
              <a:rPr dirty="0"/>
              <a:t> e </a:t>
            </a:r>
            <a:r>
              <a:rPr dirty="0" err="1"/>
              <a:t>iluminação</a:t>
            </a:r>
            <a:r>
              <a:rPr dirty="0"/>
              <a:t> </a:t>
            </a:r>
            <a:r>
              <a:rPr dirty="0" err="1"/>
              <a:t>automaticamente</a:t>
            </a:r>
            <a:r>
              <a:rPr dirty="0"/>
              <a:t>.</a:t>
            </a:r>
          </a:p>
          <a:p>
            <a:pPr lvl="0"/>
            <a:r>
              <a:rPr dirty="0" err="1"/>
              <a:t>Reduzir</a:t>
            </a:r>
            <a:r>
              <a:rPr dirty="0"/>
              <a:t> </a:t>
            </a:r>
            <a:r>
              <a:rPr dirty="0" err="1"/>
              <a:t>desperdício</a:t>
            </a:r>
            <a:r>
              <a:rPr dirty="0"/>
              <a:t> </a:t>
            </a:r>
            <a:r>
              <a:rPr dirty="0" err="1"/>
              <a:t>energético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salas de aula.</a:t>
            </a:r>
          </a:p>
          <a:p>
            <a:pPr lvl="0"/>
            <a:r>
              <a:rPr dirty="0" err="1"/>
              <a:t>Integrar</a:t>
            </a:r>
            <a:r>
              <a:rPr dirty="0"/>
              <a:t> MQTT, Node-RED, ESP32/</a:t>
            </a:r>
            <a:r>
              <a:rPr dirty="0" err="1"/>
              <a:t>Wokwi</a:t>
            </a:r>
            <a:r>
              <a:rPr dirty="0"/>
              <a:t> e </a:t>
            </a:r>
            <a:r>
              <a:rPr dirty="0" err="1"/>
              <a:t>InterSCity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O que já está funcionando</a:t>
            </a:r>
          </a:p>
          <a:p>
            <a:pPr lvl="0"/>
            <a:r>
              <a:t>Infraestrutura Docker com Mosquitto, Node-RED e simulador.</a:t>
            </a:r>
          </a:p>
          <a:p>
            <a:pPr lvl="0"/>
            <a:r>
              <a:t>Simulador C++ com três salas.</a:t>
            </a:r>
          </a:p>
          <a:p>
            <a:pPr lvl="0"/>
            <a:r>
              <a:t>Painel web para monitoramento e controle.</a:t>
            </a:r>
          </a:p>
          <a:p>
            <a:pPr lvl="0"/>
            <a:r>
              <a:t>Comunicação MQTT via tópicos de sensores e comandos.</a:t>
            </a:r>
          </a:p>
          <a:p>
            <a:pPr lvl="0"/>
            <a:r>
              <a:t>Automação por presença, setpoints e temporização.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Automação implementada</a:t>
            </a:r>
          </a:p>
          <a:p>
            <a:pPr lvl="0"/>
            <a:r>
              <a:t>Com presença: luz liga imediatamente.</a:t>
            </a:r>
          </a:p>
          <a:p>
            <a:pPr lvl="0"/>
            <a:r>
              <a:t>Com presença contínua por 30s: AC liga.</a:t>
            </a:r>
          </a:p>
          <a:p>
            <a:pPr lvl="0"/>
            <a:r>
              <a:t>Sem presença por 30s: luz e AC desligam.</a:t>
            </a:r>
          </a:p>
          <a:p>
            <a:pPr lvl="0"/>
            <a:r>
              <a:t>Setpoints controlam:</a:t>
            </a:r>
          </a:p>
          <a:p>
            <a:pPr lvl="1"/>
            <a:r>
              <a:t>temperatura do AC;</a:t>
            </a:r>
          </a:p>
          <a:p>
            <a:pPr lvl="1"/>
            <a:r>
              <a:t>umidade;</a:t>
            </a:r>
          </a:p>
          <a:p>
            <a:pPr lvl="1"/>
            <a:r>
              <a:t>luminosidade.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2263" y="556609"/>
            <a:ext cx="3008313" cy="519718"/>
          </a:xfrm>
        </p:spPr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400" b="1" dirty="0"/>
              <a:t>Status </a:t>
            </a:r>
            <a:r>
              <a:rPr sz="2400" b="1" dirty="0" err="1"/>
              <a:t>atual</a:t>
            </a:r>
            <a:endParaRPr sz="2400" b="1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6507959"/>
              </p:ext>
            </p:extLst>
          </p:nvPr>
        </p:nvGraphicFramePr>
        <p:xfrm>
          <a:off x="1105592" y="1284146"/>
          <a:ext cx="6334300" cy="3412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7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6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917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17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Docker + </a:t>
                      </a:r>
                      <a:r>
                        <a:rPr sz="1800" dirty="0" err="1"/>
                        <a:t>Mosquitto</a:t>
                      </a:r>
                      <a:endParaRPr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Concluído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17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Simulador C++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Concluído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17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Painel 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Funcional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17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Node-RED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Parcial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17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Documentação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Parcial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17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Testes formais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Parcial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17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InterSCity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Parcial / prioridade alta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17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ESP32 + PlatformIO + Wokwi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Pendente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509"/>
            <a:ext cx="8229600" cy="4262114"/>
          </a:xfrm>
        </p:spPr>
        <p:txBody>
          <a:bodyPr>
            <a:normAutofit fontScale="92500" lnSpcReduction="2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 err="1"/>
              <a:t>Pendência</a:t>
            </a:r>
            <a:endParaRPr b="1" dirty="0"/>
          </a:p>
          <a:p>
            <a:pPr marL="0" lvl="0" indent="0">
              <a:buNone/>
            </a:pPr>
            <a:r>
              <a:rPr b="1" dirty="0" err="1"/>
              <a:t>Simulação</a:t>
            </a:r>
            <a:r>
              <a:rPr b="1" dirty="0"/>
              <a:t> ESP32 com </a:t>
            </a:r>
            <a:r>
              <a:rPr b="1" dirty="0" err="1"/>
              <a:t>PlatformIO</a:t>
            </a:r>
            <a:r>
              <a:rPr b="1" dirty="0"/>
              <a:t> e </a:t>
            </a:r>
            <a:r>
              <a:rPr b="1" dirty="0" err="1"/>
              <a:t>Wokwi</a:t>
            </a:r>
            <a:endParaRPr lang="pt-BR" b="1" dirty="0"/>
          </a:p>
          <a:p>
            <a:pPr marL="0" lvl="0" indent="0">
              <a:buNone/>
            </a:pPr>
            <a:endParaRPr b="1" dirty="0"/>
          </a:p>
          <a:p>
            <a:pPr marL="0" lvl="0" indent="0">
              <a:buNone/>
            </a:pPr>
            <a:r>
              <a:rPr dirty="0" err="1"/>
              <a:t>Ainda</a:t>
            </a:r>
            <a:r>
              <a:rPr dirty="0"/>
              <a:t> </a:t>
            </a:r>
            <a:r>
              <a:rPr dirty="0" err="1"/>
              <a:t>falta</a:t>
            </a:r>
            <a:r>
              <a:rPr dirty="0"/>
              <a:t> </a:t>
            </a:r>
            <a:r>
              <a:rPr dirty="0" err="1"/>
              <a:t>implementar</a:t>
            </a:r>
            <a:r>
              <a:rPr dirty="0"/>
              <a:t>:</a:t>
            </a:r>
          </a:p>
          <a:p>
            <a:pPr lvl="0"/>
            <a:r>
              <a:rPr dirty="0" err="1"/>
              <a:t>projeto</a:t>
            </a:r>
            <a:r>
              <a:rPr dirty="0"/>
              <a:t> </a:t>
            </a:r>
            <a:r>
              <a:rPr dirty="0" err="1"/>
              <a:t>PlatformIO</a:t>
            </a:r>
            <a:r>
              <a:rPr dirty="0"/>
              <a:t>;</a:t>
            </a:r>
          </a:p>
          <a:p>
            <a:pPr lvl="0"/>
            <a:r>
              <a:rPr dirty="0" err="1"/>
              <a:t>circuito</a:t>
            </a:r>
            <a:r>
              <a:rPr dirty="0"/>
              <a:t> </a:t>
            </a:r>
            <a:r>
              <a:rPr dirty="0" err="1"/>
              <a:t>Wokwi</a:t>
            </a:r>
            <a:r>
              <a:rPr dirty="0"/>
              <a:t>;</a:t>
            </a:r>
          </a:p>
          <a:p>
            <a:pPr lvl="0"/>
            <a:r>
              <a:rPr dirty="0"/>
              <a:t>DHT22 para </a:t>
            </a:r>
            <a:r>
              <a:rPr dirty="0" err="1"/>
              <a:t>temperatura</a:t>
            </a:r>
            <a:r>
              <a:rPr dirty="0"/>
              <a:t> e </a:t>
            </a:r>
            <a:r>
              <a:rPr dirty="0" err="1"/>
              <a:t>umidade</a:t>
            </a:r>
            <a:r>
              <a:rPr dirty="0"/>
              <a:t>;</a:t>
            </a:r>
          </a:p>
          <a:p>
            <a:pPr lvl="0"/>
            <a:r>
              <a:rPr dirty="0"/>
              <a:t>PIR para </a:t>
            </a:r>
            <a:r>
              <a:rPr dirty="0" err="1"/>
              <a:t>presença</a:t>
            </a:r>
            <a:r>
              <a:rPr dirty="0"/>
              <a:t>;</a:t>
            </a:r>
          </a:p>
          <a:p>
            <a:pPr lvl="0"/>
            <a:r>
              <a:rPr dirty="0"/>
              <a:t>SCT-013 para </a:t>
            </a:r>
            <a:r>
              <a:rPr dirty="0" err="1"/>
              <a:t>corrente</a:t>
            </a:r>
            <a:r>
              <a:rPr dirty="0"/>
              <a:t> </a:t>
            </a:r>
            <a:r>
              <a:rPr dirty="0" err="1"/>
              <a:t>elétrica</a:t>
            </a:r>
            <a:r>
              <a:rPr dirty="0"/>
              <a:t>;</a:t>
            </a:r>
          </a:p>
          <a:p>
            <a:pPr lvl="0"/>
            <a:r>
              <a:rPr dirty="0" err="1"/>
              <a:t>relé</a:t>
            </a:r>
            <a:r>
              <a:rPr dirty="0"/>
              <a:t> virtual;</a:t>
            </a:r>
          </a:p>
          <a:p>
            <a:pPr lvl="0"/>
            <a:r>
              <a:rPr dirty="0" err="1"/>
              <a:t>transmissor</a:t>
            </a:r>
            <a:r>
              <a:rPr dirty="0"/>
              <a:t> IR;</a:t>
            </a:r>
          </a:p>
          <a:p>
            <a:pPr lvl="0"/>
            <a:r>
              <a:rPr dirty="0"/>
              <a:t>firmware MQTT no ESP32.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Prioridades</a:t>
            </a:r>
          </a:p>
          <a:p>
            <a:pPr marL="342900" lvl="0" indent="-342900">
              <a:buAutoNum type="arabicPeriod"/>
            </a:pPr>
            <a:r>
              <a:t>Ativar comunicação com InterSCity.</a:t>
            </a:r>
          </a:p>
          <a:p>
            <a:pPr marL="342900" lvl="0" indent="-342900">
              <a:buAutoNum type="arabicPeriod"/>
            </a:pPr>
            <a:r>
              <a:t>Cadastrar salas e UUIDs.</a:t>
            </a:r>
          </a:p>
          <a:p>
            <a:pPr marL="342900" lvl="0" indent="-342900">
              <a:buAutoNum type="arabicPeriod"/>
            </a:pPr>
            <a:r>
              <a:t>Enviar telemetria e eventos de controle.</a:t>
            </a:r>
          </a:p>
          <a:p>
            <a:pPr marL="342900" lvl="0" indent="-342900">
              <a:buAutoNum type="arabicPeriod"/>
            </a:pPr>
            <a:r>
              <a:t>Criar simulação ESP32 com PlatformIO/Wokwi.</a:t>
            </a:r>
          </a:p>
          <a:p>
            <a:pPr marL="342900" lvl="0" indent="-342900">
              <a:buAutoNum type="arabicPeriod"/>
            </a:pPr>
            <a:r>
              <a:t>Consolidar payload MQTT/HTTP.</a:t>
            </a:r>
          </a:p>
          <a:p>
            <a:pPr marL="342900" lvl="0" indent="-342900">
              <a:buAutoNum type="arabicPeriod"/>
            </a:pPr>
            <a:r>
              <a:t>Documentar e executar testes C1 a C5.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7"/>
            <a:ext cx="3008313" cy="544656"/>
          </a:xfrm>
        </p:spPr>
        <p:txBody>
          <a:bodyPr>
            <a:normAutofit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sz="2400" b="1" dirty="0" err="1"/>
              <a:t>Cronograma</a:t>
            </a:r>
            <a:r>
              <a:rPr sz="2400" b="1" dirty="0"/>
              <a:t> </a:t>
            </a:r>
            <a:r>
              <a:rPr sz="2400" b="1" dirty="0" err="1"/>
              <a:t>resumido</a:t>
            </a:r>
            <a:endParaRPr sz="2400" b="1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0241155"/>
              </p:ext>
            </p:extLst>
          </p:nvPr>
        </p:nvGraphicFramePr>
        <p:xfrm>
          <a:off x="1180407" y="1620983"/>
          <a:ext cx="6500554" cy="2685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02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0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700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 err="1"/>
                        <a:t>Período</a:t>
                      </a:r>
                      <a:endParaRPr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Entrega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00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28/05 a 03/06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InterSCity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00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01/06 a 12/06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ESP32, Wokwi e MQTT final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00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05/06 a 12/06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Node-RED e dashboard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700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16/06 a 21/06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Testes </a:t>
                      </a:r>
                      <a:r>
                        <a:rPr sz="1800" dirty="0" err="1"/>
                        <a:t>finais</a:t>
                      </a:r>
                      <a:r>
                        <a:rPr sz="1800" dirty="0"/>
                        <a:t> e </a:t>
                      </a:r>
                      <a:r>
                        <a:rPr sz="1800" dirty="0" err="1"/>
                        <a:t>ajustes</a:t>
                      </a:r>
                      <a:endParaRPr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>
            <a:normAutofit lnSpcReduction="10000"/>
          </a:bodyPr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 err="1"/>
              <a:t>Próximos</a:t>
            </a:r>
            <a:r>
              <a:rPr b="1" dirty="0"/>
              <a:t> </a:t>
            </a:r>
            <a:r>
              <a:rPr b="1" dirty="0" err="1"/>
              <a:t>passos</a:t>
            </a:r>
            <a:endParaRPr lang="pt-BR" b="1" dirty="0"/>
          </a:p>
          <a:p>
            <a:pPr marL="0" lvl="0" indent="0">
              <a:spcBef>
                <a:spcPts val="3000"/>
              </a:spcBef>
              <a:buNone/>
            </a:pPr>
            <a:endParaRPr b="1" dirty="0"/>
          </a:p>
          <a:p>
            <a:pPr lvl="0"/>
            <a:r>
              <a:rPr lang="pt-BR" dirty="0"/>
              <a:t>Implementar e </a:t>
            </a:r>
            <a:r>
              <a:rPr lang="pt-BR" dirty="0" err="1"/>
              <a:t>v</a:t>
            </a:r>
            <a:r>
              <a:rPr dirty="0" err="1"/>
              <a:t>alidar</a:t>
            </a:r>
            <a:r>
              <a:rPr dirty="0"/>
              <a:t> </a:t>
            </a:r>
            <a:r>
              <a:rPr dirty="0" err="1"/>
              <a:t>InterSCity</a:t>
            </a:r>
            <a:r>
              <a:rPr dirty="0"/>
              <a:t> com </a:t>
            </a:r>
            <a:r>
              <a:rPr dirty="0" err="1"/>
              <a:t>envio</a:t>
            </a:r>
            <a:r>
              <a:rPr dirty="0"/>
              <a:t> real de </a:t>
            </a:r>
            <a:r>
              <a:rPr dirty="0" err="1"/>
              <a:t>telemetria</a:t>
            </a:r>
            <a:r>
              <a:rPr dirty="0"/>
              <a:t>.</a:t>
            </a:r>
          </a:p>
          <a:p>
            <a:pPr lvl="0"/>
            <a:r>
              <a:rPr dirty="0" err="1"/>
              <a:t>Implementar</a:t>
            </a:r>
            <a:r>
              <a:rPr dirty="0"/>
              <a:t> ESP32/</a:t>
            </a:r>
            <a:r>
              <a:rPr dirty="0" err="1"/>
              <a:t>Wokwi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simulação</a:t>
            </a:r>
            <a:r>
              <a:rPr dirty="0"/>
              <a:t> </a:t>
            </a:r>
            <a:r>
              <a:rPr dirty="0" err="1"/>
              <a:t>oficial</a:t>
            </a:r>
            <a:r>
              <a:rPr dirty="0"/>
              <a:t> do </a:t>
            </a:r>
            <a:r>
              <a:rPr dirty="0" err="1"/>
              <a:t>projeto</a:t>
            </a:r>
            <a:r>
              <a:rPr dirty="0"/>
              <a:t>.</a:t>
            </a:r>
          </a:p>
          <a:p>
            <a:pPr lvl="0"/>
            <a:r>
              <a:rPr dirty="0" err="1"/>
              <a:t>Alinhar</a:t>
            </a:r>
            <a:r>
              <a:rPr dirty="0"/>
              <a:t> payloads </a:t>
            </a:r>
            <a:r>
              <a:rPr dirty="0" err="1"/>
              <a:t>finais</a:t>
            </a:r>
            <a:r>
              <a:rPr dirty="0"/>
              <a:t> entre MQTT, Node-RED e </a:t>
            </a:r>
            <a:r>
              <a:rPr dirty="0" err="1"/>
              <a:t>InterSCity</a:t>
            </a:r>
            <a:r>
              <a:rPr dirty="0"/>
              <a:t>.</a:t>
            </a:r>
          </a:p>
          <a:p>
            <a:pPr lvl="0"/>
            <a:r>
              <a:rPr dirty="0"/>
              <a:t>Formalizar testes com </a:t>
            </a:r>
            <a:r>
              <a:rPr dirty="0" err="1"/>
              <a:t>evidências</a:t>
            </a:r>
            <a:r>
              <a:rPr dirty="0"/>
              <a:t>.</a:t>
            </a:r>
          </a:p>
          <a:p>
            <a:pPr lvl="0"/>
            <a:r>
              <a:rPr dirty="0" err="1"/>
              <a:t>Preparar</a:t>
            </a:r>
            <a:r>
              <a:rPr dirty="0"/>
              <a:t> </a:t>
            </a:r>
            <a:r>
              <a:rPr dirty="0" err="1"/>
              <a:t>demonstração</a:t>
            </a:r>
            <a:r>
              <a:rPr dirty="0"/>
              <a:t> final.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</Words>
  <Application>Microsoft Macintosh PowerPoint</Application>
  <PresentationFormat>On-screen Show (16:9)</PresentationFormat>
  <Paragraphs>85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Gestão Energética dos Ar-Condicionados das Salas de Aula do Prédio Paulo Freire via IoT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Nilton Mangueira</cp:lastModifiedBy>
  <cp:revision>1</cp:revision>
  <dcterms:created xsi:type="dcterms:W3CDTF">2026-05-27T21:50:18Z</dcterms:created>
  <dcterms:modified xsi:type="dcterms:W3CDTF">2026-05-27T21:59:12Z</dcterms:modified>
</cp:coreProperties>
</file>